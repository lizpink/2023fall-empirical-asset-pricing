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781" r:id="rId2"/>
  </p:sldMasterIdLst>
  <p:notesMasterIdLst>
    <p:notesMasterId r:id="rId29"/>
  </p:notesMasterIdLst>
  <p:handoutMasterIdLst>
    <p:handoutMasterId r:id="rId30"/>
  </p:handoutMasterIdLst>
  <p:sldIdLst>
    <p:sldId id="495" r:id="rId3"/>
    <p:sldId id="807" r:id="rId4"/>
    <p:sldId id="740" r:id="rId5"/>
    <p:sldId id="798" r:id="rId6"/>
    <p:sldId id="814" r:id="rId7"/>
    <p:sldId id="815" r:id="rId8"/>
    <p:sldId id="816" r:id="rId9"/>
    <p:sldId id="806" r:id="rId10"/>
    <p:sldId id="810" r:id="rId11"/>
    <p:sldId id="811" r:id="rId12"/>
    <p:sldId id="812" r:id="rId13"/>
    <p:sldId id="813" r:id="rId14"/>
    <p:sldId id="817" r:id="rId15"/>
    <p:sldId id="818" r:id="rId16"/>
    <p:sldId id="819" r:id="rId17"/>
    <p:sldId id="820" r:id="rId18"/>
    <p:sldId id="821" r:id="rId19"/>
    <p:sldId id="822" r:id="rId20"/>
    <p:sldId id="823" r:id="rId21"/>
    <p:sldId id="824" r:id="rId22"/>
    <p:sldId id="825" r:id="rId23"/>
    <p:sldId id="826" r:id="rId24"/>
    <p:sldId id="827" r:id="rId25"/>
    <p:sldId id="828" r:id="rId26"/>
    <p:sldId id="829" r:id="rId27"/>
    <p:sldId id="830" r:id="rId28"/>
  </p:sldIdLst>
  <p:sldSz cx="9144000" cy="6858000" type="screen4x3"/>
  <p:notesSz cx="7315200" cy="9601200"/>
  <p:custDataLst>
    <p:tags r:id="rId31"/>
  </p:custDataLst>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5"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44" autoAdjust="0"/>
    <p:restoredTop sz="76598" autoAdjust="0"/>
  </p:normalViewPr>
  <p:slideViewPr>
    <p:cSldViewPr>
      <p:cViewPr varScale="1">
        <p:scale>
          <a:sx n="84" d="100"/>
          <a:sy n="84" d="100"/>
        </p:scale>
        <p:origin x="1432" y="7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81" d="100"/>
          <a:sy n="81" d="100"/>
        </p:scale>
        <p:origin x="-3168" y="-102"/>
      </p:cViewPr>
      <p:guideLst>
        <p:guide orient="horz" pos="3025"/>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6.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1" y="2"/>
            <a:ext cx="3170238" cy="47942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l" defTabSz="931780">
              <a:defRPr sz="1300">
                <a:latin typeface="Times New Roman" pitchFamily="18" charset="0"/>
              </a:defRPr>
            </a:lvl1pPr>
          </a:lstStyle>
          <a:p>
            <a:pPr>
              <a:defRPr/>
            </a:pPr>
            <a:endParaRPr lang="en-US"/>
          </a:p>
        </p:txBody>
      </p:sp>
      <p:sp>
        <p:nvSpPr>
          <p:cNvPr id="76803" name="Rectangle 3"/>
          <p:cNvSpPr>
            <a:spLocks noGrp="1" noChangeArrowheads="1"/>
          </p:cNvSpPr>
          <p:nvPr>
            <p:ph type="dt" sz="quarter" idx="1"/>
          </p:nvPr>
        </p:nvSpPr>
        <p:spPr bwMode="auto">
          <a:xfrm>
            <a:off x="4144965" y="2"/>
            <a:ext cx="3170237" cy="47942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r" defTabSz="931780">
              <a:defRPr sz="1300">
                <a:latin typeface="Times New Roman" pitchFamily="18" charset="0"/>
              </a:defRPr>
            </a:lvl1pPr>
          </a:lstStyle>
          <a:p>
            <a:pPr>
              <a:defRPr/>
            </a:pPr>
            <a:endParaRPr lang="en-US"/>
          </a:p>
        </p:txBody>
      </p:sp>
      <p:sp>
        <p:nvSpPr>
          <p:cNvPr id="76804" name="Rectangle 4"/>
          <p:cNvSpPr>
            <a:spLocks noGrp="1" noChangeArrowheads="1"/>
          </p:cNvSpPr>
          <p:nvPr>
            <p:ph type="ftr" sz="quarter" idx="2"/>
          </p:nvPr>
        </p:nvSpPr>
        <p:spPr bwMode="auto">
          <a:xfrm>
            <a:off x="1" y="9121777"/>
            <a:ext cx="3170238" cy="47942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l" defTabSz="931780">
              <a:defRPr sz="1300">
                <a:latin typeface="Times New Roman" pitchFamily="18" charset="0"/>
              </a:defRPr>
            </a:lvl1pPr>
          </a:lstStyle>
          <a:p>
            <a:pPr>
              <a:defRPr/>
            </a:pPr>
            <a:endParaRPr lang="en-US"/>
          </a:p>
        </p:txBody>
      </p:sp>
      <p:sp>
        <p:nvSpPr>
          <p:cNvPr id="76805" name="Rectangle 5"/>
          <p:cNvSpPr>
            <a:spLocks noGrp="1" noChangeArrowheads="1"/>
          </p:cNvSpPr>
          <p:nvPr>
            <p:ph type="sldNum" sz="quarter" idx="3"/>
          </p:nvPr>
        </p:nvSpPr>
        <p:spPr bwMode="auto">
          <a:xfrm>
            <a:off x="4144965" y="9121777"/>
            <a:ext cx="3170237" cy="47942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r" defTabSz="931780">
              <a:defRPr sz="1300">
                <a:latin typeface="Times New Roman" pitchFamily="18" charset="0"/>
              </a:defRPr>
            </a:lvl1pPr>
          </a:lstStyle>
          <a:p>
            <a:pPr>
              <a:defRPr/>
            </a:pPr>
            <a:fld id="{2782A948-6866-45A0-A775-15670DAC7CF0}" type="slidenum">
              <a:rPr lang="en-US"/>
              <a:pPr>
                <a:defRPr/>
              </a:pPr>
              <a:t>‹#›</a:t>
            </a:fld>
            <a:endParaRPr lang="en-US"/>
          </a:p>
        </p:txBody>
      </p:sp>
    </p:spTree>
    <p:extLst>
      <p:ext uri="{BB962C8B-B14F-4D97-AF65-F5344CB8AC3E}">
        <p14:creationId xmlns:p14="http://schemas.microsoft.com/office/powerpoint/2010/main" val="41683063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1" y="2"/>
            <a:ext cx="3170238" cy="47942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l" defTabSz="931780">
              <a:defRPr sz="1300">
                <a:latin typeface="Arial" pitchFamily="34" charset="0"/>
              </a:defRPr>
            </a:lvl1pPr>
          </a:lstStyle>
          <a:p>
            <a:pPr>
              <a:defRPr/>
            </a:pPr>
            <a:endParaRPr lang="en-US"/>
          </a:p>
        </p:txBody>
      </p:sp>
      <p:sp>
        <p:nvSpPr>
          <p:cNvPr id="215043" name="Rectangle 3"/>
          <p:cNvSpPr>
            <a:spLocks noGrp="1" noChangeArrowheads="1"/>
          </p:cNvSpPr>
          <p:nvPr>
            <p:ph type="dt" idx="1"/>
          </p:nvPr>
        </p:nvSpPr>
        <p:spPr bwMode="auto">
          <a:xfrm>
            <a:off x="4143376" y="2"/>
            <a:ext cx="3170238" cy="479424"/>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lvl1pPr algn="r" defTabSz="931780">
              <a:defRPr sz="1300">
                <a:latin typeface="Arial" pitchFamily="34" charset="0"/>
              </a:defRPr>
            </a:lvl1pPr>
          </a:lstStyle>
          <a:p>
            <a:pPr>
              <a:defRPr/>
            </a:pPr>
            <a:endParaRPr lang="en-US"/>
          </a:p>
        </p:txBody>
      </p:sp>
      <p:sp>
        <p:nvSpPr>
          <p:cNvPr id="16388" name="Rectangle 4"/>
          <p:cNvSpPr>
            <a:spLocks noGrp="1" noRot="1" noChangeAspect="1" noChangeArrowheads="1" noTextEdit="1"/>
          </p:cNvSpPr>
          <p:nvPr>
            <p:ph type="sldImg" idx="2"/>
          </p:nvPr>
        </p:nvSpPr>
        <p:spPr bwMode="auto">
          <a:xfrm>
            <a:off x="1258888" y="722313"/>
            <a:ext cx="4799012" cy="3598862"/>
          </a:xfrm>
          <a:prstGeom prst="rect">
            <a:avLst/>
          </a:prstGeom>
          <a:noFill/>
          <a:ln w="9525">
            <a:solidFill>
              <a:srgbClr val="000000"/>
            </a:solidFill>
            <a:miter lim="800000"/>
            <a:headEnd/>
            <a:tailEnd/>
          </a:ln>
        </p:spPr>
      </p:sp>
      <p:sp>
        <p:nvSpPr>
          <p:cNvPr id="215045" name="Rectangle 5"/>
          <p:cNvSpPr>
            <a:spLocks noGrp="1" noChangeArrowheads="1"/>
          </p:cNvSpPr>
          <p:nvPr>
            <p:ph type="body" sz="quarter" idx="3"/>
          </p:nvPr>
        </p:nvSpPr>
        <p:spPr bwMode="auto">
          <a:xfrm>
            <a:off x="731841" y="4560889"/>
            <a:ext cx="5851524" cy="4319587"/>
          </a:xfrm>
          <a:prstGeom prst="rect">
            <a:avLst/>
          </a:prstGeom>
          <a:noFill/>
          <a:ln w="9525">
            <a:noFill/>
            <a:miter lim="800000"/>
            <a:headEnd/>
            <a:tailEnd/>
          </a:ln>
          <a:effectLst/>
        </p:spPr>
        <p:txBody>
          <a:bodyPr vert="horz" wrap="square" lIns="93161" tIns="46580" rIns="93161" bIns="4658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5046" name="Rectangle 6"/>
          <p:cNvSpPr>
            <a:spLocks noGrp="1" noChangeArrowheads="1"/>
          </p:cNvSpPr>
          <p:nvPr>
            <p:ph type="ftr" sz="quarter" idx="4"/>
          </p:nvPr>
        </p:nvSpPr>
        <p:spPr bwMode="auto">
          <a:xfrm>
            <a:off x="1" y="9120190"/>
            <a:ext cx="3170238" cy="47942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l" defTabSz="931780">
              <a:defRPr sz="1300">
                <a:latin typeface="Arial" pitchFamily="34" charset="0"/>
              </a:defRPr>
            </a:lvl1pPr>
          </a:lstStyle>
          <a:p>
            <a:pPr>
              <a:defRPr/>
            </a:pPr>
            <a:endParaRPr lang="en-US"/>
          </a:p>
        </p:txBody>
      </p:sp>
      <p:sp>
        <p:nvSpPr>
          <p:cNvPr id="215047" name="Rectangle 7"/>
          <p:cNvSpPr>
            <a:spLocks noGrp="1" noChangeArrowheads="1"/>
          </p:cNvSpPr>
          <p:nvPr>
            <p:ph type="sldNum" sz="quarter" idx="5"/>
          </p:nvPr>
        </p:nvSpPr>
        <p:spPr bwMode="auto">
          <a:xfrm>
            <a:off x="4143376" y="9120190"/>
            <a:ext cx="3170238" cy="479424"/>
          </a:xfrm>
          <a:prstGeom prst="rect">
            <a:avLst/>
          </a:prstGeom>
          <a:noFill/>
          <a:ln w="9525">
            <a:noFill/>
            <a:miter lim="800000"/>
            <a:headEnd/>
            <a:tailEnd/>
          </a:ln>
          <a:effectLst/>
        </p:spPr>
        <p:txBody>
          <a:bodyPr vert="horz" wrap="square" lIns="93161" tIns="46580" rIns="93161" bIns="46580" numCol="1" anchor="b" anchorCtr="0" compatLnSpc="1">
            <a:prstTxWarp prst="textNoShape">
              <a:avLst/>
            </a:prstTxWarp>
          </a:bodyPr>
          <a:lstStyle>
            <a:lvl1pPr algn="r" defTabSz="931780">
              <a:defRPr sz="1300">
                <a:latin typeface="Arial" pitchFamily="34" charset="0"/>
              </a:defRPr>
            </a:lvl1pPr>
          </a:lstStyle>
          <a:p>
            <a:pPr>
              <a:defRPr/>
            </a:pPr>
            <a:fld id="{B305DB55-DB0C-48E8-866F-9600CE0850E0}" type="slidenum">
              <a:rPr lang="en-US"/>
              <a:pPr>
                <a:defRPr/>
              </a:pPr>
              <a:t>‹#›</a:t>
            </a:fld>
            <a:endParaRPr lang="en-US"/>
          </a:p>
        </p:txBody>
      </p:sp>
    </p:spTree>
    <p:extLst>
      <p:ext uri="{BB962C8B-B14F-4D97-AF65-F5344CB8AC3E}">
        <p14:creationId xmlns:p14="http://schemas.microsoft.com/office/powerpoint/2010/main" val="2633985024"/>
      </p:ext>
    </p:extLst>
  </p:cSld>
  <p:clrMap bg1="lt1" tx1="dk1" bg2="lt2" tx2="dk2" accent1="accent1" accent2="accent2" accent3="accent3" accent4="accent4" accent5="accent5" accent6="accent6" hlink="hlink" folHlink="folHlink"/>
  <p:notesStyle>
    <a:lvl1pPr marL="2286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1pPr>
    <a:lvl2pPr marL="6858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2pPr>
    <a:lvl3pPr marL="11430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3pPr>
    <a:lvl4pPr marL="16002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4pPr>
    <a:lvl5pPr marL="2057400" indent="-228600" algn="l" rtl="0" eaLnBrk="0" fontAlgn="base" hangingPunct="0">
      <a:spcBef>
        <a:spcPct val="30000"/>
      </a:spcBef>
      <a:spcAft>
        <a:spcPct val="0"/>
      </a:spcAft>
      <a:buAutoNum type="arabicPeriod"/>
      <a:defRPr kumimoji="1"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19A6C3-4A14-4299-9C82-0A95570A106A}" type="slidenum">
              <a:rPr lang="en-US" altLang="en-US"/>
              <a:pPr/>
              <a:t>2</a:t>
            </a:fld>
            <a:endParaRPr lang="en-US" alt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r>
              <a:rPr lang="en-US" altLang="en-US"/>
              <a:t>Thanks. So the next one hour, I am going to talk about volatility and cross-section of returns. This is a joint work with Andrew Ang, Bob Hodrick and Yuhang Xing. </a:t>
            </a:r>
          </a:p>
          <a:p>
            <a:r>
              <a:rPr lang="en-US" altLang="en-US"/>
              <a:t>Recently, we have seen quite few paper discussing volatilities. For me and my coauthors, we always look at things from the asset pricing perspective. And we start to think, what is the implication for an investor who can allocate his money among firms with different volatilities? That’s when we start to write this paper. </a:t>
            </a:r>
          </a:p>
          <a:p>
            <a:r>
              <a:rPr lang="en-US" altLang="en-US"/>
              <a:t>Stochastic volatility</a:t>
            </a:r>
          </a:p>
        </p:txBody>
      </p:sp>
    </p:spTree>
    <p:extLst>
      <p:ext uri="{BB962C8B-B14F-4D97-AF65-F5344CB8AC3E}">
        <p14:creationId xmlns:p14="http://schemas.microsoft.com/office/powerpoint/2010/main" val="569411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en-US" altLang="zh-CN" sz="1800" b="0" i="0" dirty="0">
                <a:solidFill>
                  <a:srgbClr val="000000"/>
                </a:solidFill>
                <a:effectLst/>
                <a:latin typeface="TimesNewRomanPSMT" panose="02020603050405020304"/>
              </a:rPr>
              <a:t>http://www.kentdaniel.net/research.php </a:t>
            </a:r>
          </a:p>
        </p:txBody>
      </p:sp>
      <p:sp>
        <p:nvSpPr>
          <p:cNvPr id="4" name="灯片编号占位符 3"/>
          <p:cNvSpPr>
            <a:spLocks noGrp="1"/>
          </p:cNvSpPr>
          <p:nvPr>
            <p:ph type="sldNum" sz="quarter" idx="10"/>
          </p:nvPr>
        </p:nvSpPr>
        <p:spPr/>
        <p:txBody>
          <a:bodyPr/>
          <a:lstStyle/>
          <a:p>
            <a:pPr>
              <a:defRPr/>
            </a:pPr>
            <a:fld id="{B305DB55-DB0C-48E8-866F-9600CE0850E0}" type="slidenum">
              <a:rPr lang="en-US" smtClean="0"/>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pPr>
              <a:defRPr/>
            </a:pPr>
            <a:fld id="{B305DB55-DB0C-48E8-866F-9600CE0850E0}" type="slidenum">
              <a:rPr lang="en-US" smtClean="0"/>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en-US"/>
          </a:p>
        </p:txBody>
      </p:sp>
      <p:sp>
        <p:nvSpPr>
          <p:cNvPr id="122882"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12288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p:txBody>
          <a:bodyPr/>
          <a:lstStyle>
            <a:lvl1pPr>
              <a:defRPr/>
            </a:lvl1pPr>
          </a:lstStyle>
          <a:p>
            <a:pPr>
              <a:defRPr/>
            </a:pPr>
            <a:fld id="{81A0D209-73B9-4BF8-BC1D-BE4AB6CE906E}"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b="1"/>
            </a:lvl1pPr>
          </a:lstStyle>
          <a:p>
            <a:r>
              <a:rPr lang="en-US" dirty="0"/>
              <a:t>Click to edit Master title style</a:t>
            </a:r>
          </a:p>
        </p:txBody>
      </p:sp>
      <p:sp>
        <p:nvSpPr>
          <p:cNvPr id="3" name="Content Placeholder 2"/>
          <p:cNvSpPr>
            <a:spLocks noGrp="1"/>
          </p:cNvSpPr>
          <p:nvPr>
            <p:ph idx="1"/>
          </p:nvPr>
        </p:nvSpPr>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63FD403-76C1-42C8-ACBB-2D07262FC14A}"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969EF43C-4D06-4F1E-AC16-88A34303270D}"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D2AACBDD-F4C5-4CD8-A728-2C20F9D9A3A1}"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09D7BBDB-4753-4FB1-98F2-7697D7A350E8}"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9F93618F-91F7-42F7-B77F-29E12DA950F8}"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245D7909-19AB-4E6A-A548-E6F67C3732A9}"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C12C31FF-E866-4B36-BF2B-61AC7A6CA92C}"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77564B63-4791-457E-BF61-A6D8153AF59E}" type="slidenum">
              <a:rPr lang="en-US" altLang="en-US"/>
              <a:pPr>
                <a:defRPr/>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FC79E24-515A-4BCF-85F2-41275908CD09}"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43389184-2B4D-4E2D-B079-E37FBBC42C9A}" type="slidenum">
              <a:rPr lang="en-US" altLang="en-US"/>
              <a:pPr>
                <a:defRPr/>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30725"/>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8E77569-4F13-44DF-A6CF-97FB7365F520}" type="slidenum">
              <a:rPr lang="en-US" altLang="en-US"/>
              <a:pPr>
                <a:defRPr/>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76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F9B2D81C-CB1C-4F2D-8733-816F0F29DE1D}" type="slidenum">
              <a:rPr lang="en-US" altLang="en-US"/>
              <a:pPr/>
              <a:t>‹#›</a:t>
            </a:fld>
            <a:endParaRPr lang="en-US" altLang="en-US"/>
          </a:p>
        </p:txBody>
      </p:sp>
    </p:spTree>
    <p:extLst>
      <p:ext uri="{BB962C8B-B14F-4D97-AF65-F5344CB8AC3E}">
        <p14:creationId xmlns:p14="http://schemas.microsoft.com/office/powerpoint/2010/main" val="9486716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Content Placeholder 2"/>
          <p:cNvSpPr>
            <a:spLocks noGrp="1"/>
          </p:cNvSpPr>
          <p:nvPr>
            <p:ph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76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62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AA376174-3CA6-462E-B643-5A7A607E20EB}" type="slidenum">
              <a:rPr lang="en-US" altLang="en-US"/>
              <a:pPr/>
              <a:t>‹#›</a:t>
            </a:fld>
            <a:endParaRPr lang="en-US" altLang="en-US"/>
          </a:p>
        </p:txBody>
      </p:sp>
    </p:spTree>
    <p:extLst>
      <p:ext uri="{BB962C8B-B14F-4D97-AF65-F5344CB8AC3E}">
        <p14:creationId xmlns:p14="http://schemas.microsoft.com/office/powerpoint/2010/main" val="127897948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85800" y="1676400"/>
            <a:ext cx="77724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3962400"/>
            <a:ext cx="77724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BB191DA7-EAC9-4F7B-AF34-4F230CB2200A}" type="slidenum">
              <a:rPr lang="en-US" altLang="en-US"/>
              <a:pPr/>
              <a:t>‹#›</a:t>
            </a:fld>
            <a:endParaRPr lang="en-US" altLang="en-US"/>
          </a:p>
        </p:txBody>
      </p:sp>
    </p:spTree>
    <p:extLst>
      <p:ext uri="{BB962C8B-B14F-4D97-AF65-F5344CB8AC3E}">
        <p14:creationId xmlns:p14="http://schemas.microsoft.com/office/powerpoint/2010/main" val="156516420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762000"/>
          </a:xfrm>
        </p:spPr>
        <p:txBody>
          <a:bodyPr/>
          <a:lstStyle/>
          <a:p>
            <a:r>
              <a:rPr lang="en-US"/>
              <a:t>Click to edit Master title style</a:t>
            </a:r>
          </a:p>
        </p:txBody>
      </p:sp>
      <p:sp>
        <p:nvSpPr>
          <p:cNvPr id="3" name="Text Placeholder 2"/>
          <p:cNvSpPr>
            <a:spLocks noGrp="1"/>
          </p:cNvSpPr>
          <p:nvPr>
            <p:ph type="body"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5791200" y="6248400"/>
            <a:ext cx="2667000" cy="457200"/>
          </a:xfrm>
        </p:spPr>
        <p:txBody>
          <a:bodyPr/>
          <a:lstStyle>
            <a:lvl1pPr>
              <a:defRPr/>
            </a:lvl1pPr>
          </a:lstStyle>
          <a:p>
            <a:r>
              <a:rPr lang="en-US" altLang="en-US"/>
              <a:t>Ang, Hodrick, Xing and Zhang / </a:t>
            </a:r>
            <a:fld id="{09535161-ACE8-4D42-8FE0-8DA3E03B2ABE}" type="slidenum">
              <a:rPr lang="en-US" altLang="en-US"/>
              <a:pPr/>
              <a:t>‹#›</a:t>
            </a:fld>
            <a:endParaRPr lang="en-US" altLang="en-US"/>
          </a:p>
        </p:txBody>
      </p:sp>
    </p:spTree>
    <p:extLst>
      <p:ext uri="{BB962C8B-B14F-4D97-AF65-F5344CB8AC3E}">
        <p14:creationId xmlns:p14="http://schemas.microsoft.com/office/powerpoint/2010/main" val="3358874322"/>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p>
        </p:txBody>
      </p:sp>
      <p:sp>
        <p:nvSpPr>
          <p:cNvPr id="4" name="日期占位符 3"/>
          <p:cNvSpPr>
            <a:spLocks noGrp="1"/>
          </p:cNvSpPr>
          <p:nvPr>
            <p:ph type="dt" sz="half" idx="10"/>
          </p:nvPr>
        </p:nvSpPr>
        <p:spPr/>
        <p:txBody>
          <a:bodyPr/>
          <a:lstStyle/>
          <a:p>
            <a:fld id="{313A39BA-FB70-4A9B-9BA8-FE4183E3BF9A}" type="datetime1">
              <a:rPr lang="zh-CN" altLang="en-US" smtClean="0"/>
              <a:pPr/>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4040598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lvl1pPr>
              <a:lnSpc>
                <a:spcPct val="110000"/>
              </a:lnSpc>
              <a:defRPr sz="3200">
                <a:latin typeface="Times New Roman" panose="02020603050405020304" pitchFamily="18" charset="0"/>
                <a:ea typeface="楷体" panose="02010609060101010101" pitchFamily="49" charset="-122"/>
                <a:cs typeface="Times New Roman" panose="02020603050405020304" pitchFamily="18" charset="0"/>
              </a:defRPr>
            </a:lvl1pPr>
            <a:lvl2pPr>
              <a:lnSpc>
                <a:spcPct val="110000"/>
              </a:lnSpc>
              <a:defRPr sz="2800">
                <a:latin typeface="Times New Roman" panose="02020603050405020304" pitchFamily="18" charset="0"/>
                <a:ea typeface="楷体" panose="02010609060101010101" pitchFamily="49" charset="-122"/>
                <a:cs typeface="Times New Roman" panose="02020603050405020304" pitchFamily="18" charset="0"/>
              </a:defRPr>
            </a:lvl2pPr>
            <a:lvl3pPr>
              <a:lnSpc>
                <a:spcPct val="110000"/>
              </a:lnSpc>
              <a:defRPr sz="2000">
                <a:latin typeface="Times New Roman" panose="02020603050405020304" pitchFamily="18" charset="0"/>
                <a:ea typeface="楷体" panose="02010609060101010101" pitchFamily="49" charset="-122"/>
                <a:cs typeface="Times New Roman" panose="02020603050405020304" pitchFamily="18" charset="0"/>
              </a:defRPr>
            </a:lvl3pPr>
            <a:lvl4pPr>
              <a:lnSpc>
                <a:spcPct val="110000"/>
              </a:lnSpc>
              <a:defRPr sz="1800">
                <a:latin typeface="Times New Roman" panose="02020603050405020304" pitchFamily="18" charset="0"/>
                <a:ea typeface="楷体" panose="02010609060101010101" pitchFamily="49" charset="-122"/>
                <a:cs typeface="Times New Roman" panose="02020603050405020304" pitchFamily="18" charset="0"/>
              </a:defRPr>
            </a:lvl4pPr>
            <a:lvl5pPr>
              <a:lnSpc>
                <a:spcPct val="110000"/>
              </a:lnSpc>
              <a:defRPr sz="18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8" name="直接连接符 7"/>
          <p:cNvCxnSpPr/>
          <p:nvPr userDrawn="1"/>
        </p:nvCxnSpPr>
        <p:spPr>
          <a:xfrm>
            <a:off x="628650" y="1391237"/>
            <a:ext cx="3002213" cy="4426"/>
          </a:xfrm>
          <a:prstGeom prst="line">
            <a:avLst/>
          </a:prstGeom>
          <a:ln w="28575"/>
        </p:spPr>
        <p:style>
          <a:lnRef idx="1">
            <a:schemeClr val="accent5"/>
          </a:lnRef>
          <a:fillRef idx="0">
            <a:schemeClr val="accent5"/>
          </a:fillRef>
          <a:effectRef idx="0">
            <a:schemeClr val="accent5"/>
          </a:effectRef>
          <a:fontRef idx="minor">
            <a:schemeClr val="tx1"/>
          </a:fontRef>
        </p:style>
      </p:cxnSp>
      <p:sp>
        <p:nvSpPr>
          <p:cNvPr id="10" name="标题 9"/>
          <p:cNvSpPr>
            <a:spLocks noGrp="1"/>
          </p:cNvSpPr>
          <p:nvPr>
            <p:ph type="title"/>
          </p:nvPr>
        </p:nvSpPr>
        <p:spPr/>
        <p:txBody>
          <a:bodyPr>
            <a:normAutofit/>
          </a:bodyPr>
          <a:lstStyle>
            <a:lvl1pPr>
              <a:defRPr sz="4400">
                <a:latin typeface="楷体" panose="02010609060101010101" pitchFamily="49" charset="-122"/>
                <a:ea typeface="楷体" panose="02010609060101010101" pitchFamily="49" charset="-122"/>
              </a:defRPr>
            </a:lvl1pPr>
          </a:lstStyle>
          <a:p>
            <a:r>
              <a:rPr lang="zh-CN" altLang="en-US" dirty="0"/>
              <a:t>单击此处编辑母版标题样式</a:t>
            </a:r>
          </a:p>
        </p:txBody>
      </p:sp>
      <p:sp>
        <p:nvSpPr>
          <p:cNvPr id="11" name="日期占位符 10"/>
          <p:cNvSpPr>
            <a:spLocks noGrp="1"/>
          </p:cNvSpPr>
          <p:nvPr>
            <p:ph type="dt" sz="half" idx="10"/>
          </p:nvPr>
        </p:nvSpPr>
        <p:spPr/>
        <p:txBody>
          <a:bodyPr/>
          <a:lstStyle/>
          <a:p>
            <a:fld id="{A05F126E-3794-4A67-9751-76DBFF34F24C}" type="datetime1">
              <a:rPr lang="zh-CN" altLang="en-US" smtClean="0"/>
              <a:pPr/>
              <a:t>2023-12-6</a:t>
            </a:fld>
            <a:endParaRPr lang="zh-CN" altLang="en-US"/>
          </a:p>
        </p:txBody>
      </p:sp>
      <p:sp>
        <p:nvSpPr>
          <p:cNvPr id="12" name="页脚占位符 11"/>
          <p:cNvSpPr>
            <a:spLocks noGrp="1"/>
          </p:cNvSpPr>
          <p:nvPr>
            <p:ph type="ftr" sz="quarter" idx="11"/>
          </p:nvPr>
        </p:nvSpPr>
        <p:spPr/>
        <p:txBody>
          <a:bodyPr/>
          <a:lstStyle/>
          <a:p>
            <a:endParaRPr lang="zh-CN" altLang="en-US"/>
          </a:p>
        </p:txBody>
      </p:sp>
      <p:sp>
        <p:nvSpPr>
          <p:cNvPr id="13" name="灯片编号占位符 12"/>
          <p:cNvSpPr>
            <a:spLocks noGrp="1"/>
          </p:cNvSpPr>
          <p:nvPr>
            <p:ph type="sldNum" sz="quarter" idx="12"/>
          </p:nvPr>
        </p:nvSpPr>
        <p:spPr/>
        <p:txBody>
          <a:bodyPr/>
          <a:lstStyle>
            <a:lvl1pPr>
              <a:defRPr sz="2000">
                <a:solidFill>
                  <a:schemeClr val="tx1"/>
                </a:solidFill>
                <a:latin typeface="楷体" panose="02010609060101010101" pitchFamily="49" charset="-122"/>
                <a:ea typeface="楷体" panose="02010609060101010101" pitchFamily="49" charset="-122"/>
              </a:defRPr>
            </a:lvl1p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4839853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50BE912C-6813-4866-9E70-7744921D3EA3}" type="datetime1">
              <a:rPr lang="zh-CN" altLang="en-US" smtClean="0"/>
              <a:pPr/>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9390848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CD633D-9783-4122-998D-F2F20E3F4FB3}" type="datetime1">
              <a:rPr lang="zh-CN" altLang="en-US" smtClean="0"/>
              <a:pPr/>
              <a:t>2023-12-6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1165198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BADEC37-8992-4087-8CFF-D9C58924DE32}" type="datetime1">
              <a:rPr lang="zh-CN" altLang="en-US" smtClean="0"/>
              <a:pPr/>
              <a:t>2023-12-6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2643862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DEF3BBB-C54B-4BB8-AAB4-1CEB1E65999F}" type="datetime1">
              <a:rPr lang="zh-CN" altLang="en-US" smtClean="0"/>
              <a:pPr/>
              <a:t>2023-12-6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8342897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4C61729-F3E2-4EF1-AFC8-48B03F74DCFE}" type="datetime1">
              <a:rPr lang="zh-CN" altLang="en-US" smtClean="0"/>
              <a:pPr/>
              <a:t>2023-12-6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2037151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AC666B65-601F-4493-AC8C-B60F1760F862}" type="datetime1">
              <a:rPr lang="zh-CN" altLang="en-US" smtClean="0"/>
              <a:pPr/>
              <a:t>2023-12-6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30436652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3B2C8F8B-19B4-408F-B12C-C76EE6A13EF7}" type="datetime1">
              <a:rPr lang="zh-CN" altLang="en-US" smtClean="0"/>
              <a:pPr/>
              <a:t>2023-12-6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34989596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5E44F09-B309-4A2A-B52B-02857A7590E7}" type="datetime1">
              <a:rPr lang="zh-CN" altLang="en-US" smtClean="0"/>
              <a:pPr/>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7700375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B7746C0-BD57-401A-8B7E-1C3E1474CD48}" type="datetime1">
              <a:rPr lang="zh-CN" altLang="en-US" smtClean="0"/>
              <a:pPr/>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3235340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21860"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Garamond" pitchFamily="18" charset="0"/>
              </a:defRPr>
            </a:lvl1pPr>
          </a:lstStyle>
          <a:p>
            <a:pPr>
              <a:defRPr/>
            </a:pPr>
            <a:endParaRPr lang="en-US" altLang="en-US"/>
          </a:p>
        </p:txBody>
      </p:sp>
      <p:sp>
        <p:nvSpPr>
          <p:cNvPr id="1218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Garamond" pitchFamily="18" charset="0"/>
              </a:defRPr>
            </a:lvl1pPr>
          </a:lstStyle>
          <a:p>
            <a:pPr>
              <a:defRPr/>
            </a:pPr>
            <a:endParaRPr lang="en-US" altLang="en-US"/>
          </a:p>
        </p:txBody>
      </p:sp>
      <p:sp>
        <p:nvSpPr>
          <p:cNvPr id="121862"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Garamond" pitchFamily="18" charset="0"/>
              </a:defRPr>
            </a:lvl1pPr>
          </a:lstStyle>
          <a:p>
            <a:pPr>
              <a:defRPr/>
            </a:pPr>
            <a:fld id="{65F27244-0A50-4C0D-A58A-F9E6A0E13F05}" type="slidenum">
              <a:rPr lang="en-US" altLang="en-US"/>
              <a:pPr>
                <a:defRPr/>
              </a:pPr>
              <a:t>‹#›</a:t>
            </a:fld>
            <a:endParaRPr lang="en-US" altLang="en-US"/>
          </a:p>
        </p:txBody>
      </p:sp>
      <p:sp>
        <p:nvSpPr>
          <p:cNvPr id="121863"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en-US"/>
          </a:p>
        </p:txBody>
      </p:sp>
      <p:sp>
        <p:nvSpPr>
          <p:cNvPr id="121864"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3776"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7" r:id="rId13"/>
    <p:sldLayoutId id="2147483778" r:id="rId14"/>
    <p:sldLayoutId id="2147483779" r:id="rId15"/>
    <p:sldLayoutId id="2147483780" r:id="rId16"/>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Palatino Linotype" pitchFamily="18" charset="0"/>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Palatino Linotype" pitchFamily="18" charset="0"/>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Palatino Linotype" pitchFamily="18" charset="0"/>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Palatino Linotype" pitchFamily="18" charset="0"/>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Palatino Linotype" pitchFamily="18" charset="0"/>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213AEA0-715D-4C26-8D29-976564D38CA2}" type="datetime1">
              <a:rPr lang="zh-CN" altLang="en-US" smtClean="0"/>
              <a:pPr/>
              <a:t>2023-12-6</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BE8FB65-3BD5-40D7-AE55-18F1AFE31740}" type="slidenum">
              <a:rPr lang="zh-CN" altLang="en-US" smtClean="0"/>
              <a:pPr/>
              <a:t>‹#›</a:t>
            </a:fld>
            <a:endParaRPr lang="zh-CN" altLang="en-US"/>
          </a:p>
        </p:txBody>
      </p:sp>
    </p:spTree>
    <p:extLst>
      <p:ext uri="{BB962C8B-B14F-4D97-AF65-F5344CB8AC3E}">
        <p14:creationId xmlns:p14="http://schemas.microsoft.com/office/powerpoint/2010/main" val="3886279735"/>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96253" y="2640932"/>
            <a:ext cx="8874531" cy="1817149"/>
          </a:xfrm>
        </p:spPr>
        <p:txBody>
          <a:bodyPr>
            <a:normAutofit/>
          </a:bodyPr>
          <a:lstStyle/>
          <a:p>
            <a:r>
              <a:rPr lang="zh-CN" altLang="en-US" sz="5400" dirty="0">
                <a:latin typeface="楷体" panose="02010609060101010101" pitchFamily="49" charset="-122"/>
                <a:ea typeface="楷体" panose="02010609060101010101" pitchFamily="49" charset="-122"/>
              </a:rPr>
              <a:t>实证资产定价</a:t>
            </a:r>
            <a:r>
              <a:rPr lang="en-US" altLang="zh-CN" sz="5400" dirty="0">
                <a:latin typeface="楷体" panose="02010609060101010101" pitchFamily="49" charset="-122"/>
                <a:ea typeface="楷体" panose="02010609060101010101" pitchFamily="49" charset="-122"/>
              </a:rPr>
              <a:t>:DGTW</a:t>
            </a:r>
            <a:endParaRPr lang="zh-CN" altLang="en-US" sz="5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副标题 2"/>
          <p:cNvSpPr>
            <a:spLocks noGrp="1"/>
          </p:cNvSpPr>
          <p:nvPr>
            <p:ph type="subTitle" idx="1"/>
          </p:nvPr>
        </p:nvSpPr>
        <p:spPr>
          <a:xfrm>
            <a:off x="1920278" y="4923492"/>
            <a:ext cx="6858000" cy="1447800"/>
          </a:xfrm>
        </p:spPr>
        <p:txBody>
          <a:bodyPr>
            <a:noAutofit/>
          </a:bodyPr>
          <a:lstStyle/>
          <a:p>
            <a:pPr algn="r"/>
            <a:r>
              <a:rPr lang="zh-CN" altLang="en-US" sz="2400" dirty="0">
                <a:latin typeface="楷体" panose="02010609060101010101" pitchFamily="49" charset="-122"/>
                <a:ea typeface="楷体" panose="02010609060101010101" pitchFamily="49" charset="-122"/>
              </a:rPr>
              <a:t>张欣然</a:t>
            </a:r>
            <a:endParaRPr lang="en-US" altLang="zh-CN" sz="2400" dirty="0">
              <a:latin typeface="楷体" panose="02010609060101010101" pitchFamily="49" charset="-122"/>
              <a:ea typeface="楷体" panose="02010609060101010101" pitchFamily="49" charset="-122"/>
            </a:endParaRPr>
          </a:p>
          <a:p>
            <a:pPr algn="r"/>
            <a:r>
              <a:rPr lang="zh-CN" altLang="en-US" sz="2400" dirty="0">
                <a:latin typeface="楷体" panose="02010609060101010101" pitchFamily="49" charset="-122"/>
                <a:ea typeface="楷体" panose="02010609060101010101" pitchFamily="49" charset="-122"/>
              </a:rPr>
              <a:t>中央财经大学金融学院</a:t>
            </a:r>
            <a:endParaRPr lang="en-US" altLang="zh-CN" sz="2400" dirty="0">
              <a:latin typeface="楷体" panose="02010609060101010101" pitchFamily="49" charset="-122"/>
              <a:ea typeface="楷体" panose="02010609060101010101" pitchFamily="49" charset="-122"/>
            </a:endParaRPr>
          </a:p>
          <a:p>
            <a:pPr algn="r"/>
            <a:r>
              <a:rPr lang="zh-CN" altLang="en-US" sz="2400" dirty="0">
                <a:latin typeface="楷体" panose="02010609060101010101" pitchFamily="49" charset="-122"/>
                <a:ea typeface="楷体" panose="02010609060101010101" pitchFamily="49" charset="-122"/>
              </a:rPr>
              <a:t>邮箱：</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zhangxinran@cufe.edu.cn</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p:nvPr/>
        </p:nvCxnSpPr>
        <p:spPr>
          <a:xfrm>
            <a:off x="3962400" y="4613218"/>
            <a:ext cx="5181600" cy="0"/>
          </a:xfrm>
          <a:prstGeom prst="line">
            <a:avLst/>
          </a:prstGeom>
          <a:ln w="57150"/>
        </p:spPr>
        <p:style>
          <a:lnRef idx="3">
            <a:schemeClr val="accent5"/>
          </a:lnRef>
          <a:fillRef idx="0">
            <a:schemeClr val="accent5"/>
          </a:fillRef>
          <a:effectRef idx="2">
            <a:schemeClr val="accent5"/>
          </a:effectRef>
          <a:fontRef idx="minor">
            <a:schemeClr val="tx1"/>
          </a:fontRef>
        </p:style>
      </p:cxnSp>
      <p:pic>
        <p:nvPicPr>
          <p:cNvPr id="4" name="图片 3"/>
          <p:cNvPicPr>
            <a:picLocks noChangeAspect="1"/>
          </p:cNvPicPr>
          <p:nvPr/>
        </p:nvPicPr>
        <p:blipFill>
          <a:blip r:embed="rId2" cstate="print"/>
          <a:stretch>
            <a:fillRect/>
          </a:stretch>
        </p:blipFill>
        <p:spPr>
          <a:xfrm>
            <a:off x="0" y="0"/>
            <a:ext cx="9144000" cy="2152055"/>
          </a:xfrm>
          <a:prstGeom prst="rect">
            <a:avLst/>
          </a:prstGeom>
        </p:spPr>
      </p:pic>
    </p:spTree>
    <p:extLst>
      <p:ext uri="{BB962C8B-B14F-4D97-AF65-F5344CB8AC3E}">
        <p14:creationId xmlns:p14="http://schemas.microsoft.com/office/powerpoint/2010/main" val="396349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914400" y="1828800"/>
            <a:ext cx="7623175" cy="1752600"/>
          </a:xfrm>
          <a:ln>
            <a:noFill/>
          </a:ln>
          <a:extLst>
            <a:ext uri="{91240B29-F687-4F45-9708-019B960494DF}">
              <a14:hiddenLine xmlns:a14="http://schemas.microsoft.com/office/drawing/2010/main" w="9525">
                <a:solidFill>
                  <a:srgbClr val="333399"/>
                </a:solidFill>
                <a:miter lim="800000"/>
                <a:headEnd/>
                <a:tailEnd/>
              </a14:hiddenLine>
            </a:ext>
          </a:extLst>
        </p:spPr>
        <p:txBody>
          <a:bodyPr anchor="ctr"/>
          <a:lstStyle/>
          <a:p>
            <a:r>
              <a:rPr lang="en-US" altLang="en-US" sz="3600" b="1" dirty="0"/>
              <a:t>Measuring Mutual Fund Performance with Characteristic-Based Benchmarks</a:t>
            </a:r>
            <a:br>
              <a:rPr lang="en-US" altLang="en-US" sz="3600" b="1" dirty="0"/>
            </a:br>
            <a:r>
              <a:rPr lang="en-US" altLang="en-US" sz="3600" b="1" dirty="0"/>
              <a:t>JF1997</a:t>
            </a:r>
          </a:p>
        </p:txBody>
      </p:sp>
      <p:sp>
        <p:nvSpPr>
          <p:cNvPr id="2051" name="Rectangle 3"/>
          <p:cNvSpPr>
            <a:spLocks noGrp="1" noChangeArrowheads="1"/>
          </p:cNvSpPr>
          <p:nvPr>
            <p:ph type="subTitle" idx="1"/>
          </p:nvPr>
        </p:nvSpPr>
        <p:spPr>
          <a:xfrm>
            <a:off x="1981200" y="3962400"/>
            <a:ext cx="7162800" cy="1752600"/>
          </a:xfrm>
        </p:spPr>
        <p:txBody>
          <a:bodyPr/>
          <a:lstStyle/>
          <a:p>
            <a:pPr>
              <a:lnSpc>
                <a:spcPct val="90000"/>
              </a:lnSpc>
            </a:pPr>
            <a:r>
              <a:rPr lang="en-US" altLang="en-US" sz="2400" dirty="0"/>
              <a:t>Kent Daniel – Northwestern University</a:t>
            </a:r>
          </a:p>
          <a:p>
            <a:pPr>
              <a:lnSpc>
                <a:spcPct val="90000"/>
              </a:lnSpc>
            </a:pPr>
            <a:r>
              <a:rPr lang="en-US" altLang="en-US" sz="2400" dirty="0"/>
              <a:t>Mark </a:t>
            </a:r>
            <a:r>
              <a:rPr lang="en-US" altLang="en-US" sz="2400" dirty="0" err="1"/>
              <a:t>Grinblatt</a:t>
            </a:r>
            <a:r>
              <a:rPr lang="en-US" altLang="en-US" sz="2400" dirty="0"/>
              <a:t> – University of California L</a:t>
            </a:r>
            <a:r>
              <a:rPr lang="en-US" altLang="zh-CN" sz="2400" dirty="0"/>
              <a:t>A</a:t>
            </a:r>
            <a:endParaRPr lang="en-US" altLang="en-US" sz="2400" dirty="0"/>
          </a:p>
          <a:p>
            <a:pPr>
              <a:lnSpc>
                <a:spcPct val="90000"/>
              </a:lnSpc>
            </a:pPr>
            <a:r>
              <a:rPr lang="en-US" altLang="en-US" sz="2400" dirty="0"/>
              <a:t>Sheridan Titman – University of Texas at Austin</a:t>
            </a:r>
          </a:p>
          <a:p>
            <a:pPr>
              <a:lnSpc>
                <a:spcPct val="90000"/>
              </a:lnSpc>
            </a:pPr>
            <a:r>
              <a:rPr lang="en-US" altLang="en-US" sz="2400" dirty="0"/>
              <a:t>Russ </a:t>
            </a:r>
            <a:r>
              <a:rPr lang="en-US" altLang="en-US" sz="2400" dirty="0" err="1"/>
              <a:t>Wermers</a:t>
            </a:r>
            <a:r>
              <a:rPr lang="en-US" altLang="en-US" sz="2400" dirty="0"/>
              <a:t> – University of Colorado at Boulder</a:t>
            </a:r>
          </a:p>
        </p:txBody>
      </p:sp>
    </p:spTree>
    <p:extLst>
      <p:ext uri="{BB962C8B-B14F-4D97-AF65-F5344CB8AC3E}">
        <p14:creationId xmlns:p14="http://schemas.microsoft.com/office/powerpoint/2010/main" val="1621820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dirty="0"/>
              <a:t>作者</a:t>
            </a:r>
            <a:endParaRPr lang="en-US" dirty="0"/>
          </a:p>
        </p:txBody>
      </p:sp>
      <p:pic>
        <p:nvPicPr>
          <p:cNvPr id="1026" name="Picture 2">
            <a:extLst>
              <a:ext uri="{FF2B5EF4-FFF2-40B4-BE49-F238E27FC236}">
                <a16:creationId xmlns:a16="http://schemas.microsoft.com/office/drawing/2014/main" id="{974F9073-3537-99C0-E36C-392DAE21C44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587" y="1676400"/>
            <a:ext cx="2288187" cy="3124200"/>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a:extLst>
              <a:ext uri="{FF2B5EF4-FFF2-40B4-BE49-F238E27FC236}">
                <a16:creationId xmlns:a16="http://schemas.microsoft.com/office/drawing/2014/main" id="{1D9AC7F3-1C8B-F3DF-AE36-63A6E31A28D5}"/>
              </a:ext>
            </a:extLst>
          </p:cNvPr>
          <p:cNvPicPr>
            <a:picLocks noChangeAspect="1"/>
          </p:cNvPicPr>
          <p:nvPr/>
        </p:nvPicPr>
        <p:blipFill rotWithShape="1">
          <a:blip r:embed="rId3"/>
          <a:srcRect l="14634" r="14634"/>
          <a:stretch/>
        </p:blipFill>
        <p:spPr>
          <a:xfrm>
            <a:off x="2442774" y="1686560"/>
            <a:ext cx="2209800" cy="3124200"/>
          </a:xfrm>
          <a:prstGeom prst="rect">
            <a:avLst/>
          </a:prstGeom>
        </p:spPr>
      </p:pic>
      <p:pic>
        <p:nvPicPr>
          <p:cNvPr id="10" name="图片 9">
            <a:extLst>
              <a:ext uri="{FF2B5EF4-FFF2-40B4-BE49-F238E27FC236}">
                <a16:creationId xmlns:a16="http://schemas.microsoft.com/office/drawing/2014/main" id="{0E7CFB7C-E77A-0A93-8F37-FB4E255D28EF}"/>
              </a:ext>
            </a:extLst>
          </p:cNvPr>
          <p:cNvPicPr>
            <a:picLocks noChangeAspect="1"/>
          </p:cNvPicPr>
          <p:nvPr/>
        </p:nvPicPr>
        <p:blipFill rotWithShape="1">
          <a:blip r:embed="rId4"/>
          <a:srcRect l="12266" r="17003"/>
          <a:stretch/>
        </p:blipFill>
        <p:spPr>
          <a:xfrm>
            <a:off x="4652574" y="1676400"/>
            <a:ext cx="2209800" cy="3124200"/>
          </a:xfrm>
          <a:prstGeom prst="rect">
            <a:avLst/>
          </a:prstGeom>
        </p:spPr>
      </p:pic>
      <p:pic>
        <p:nvPicPr>
          <p:cNvPr id="11" name="图片 10">
            <a:extLst>
              <a:ext uri="{FF2B5EF4-FFF2-40B4-BE49-F238E27FC236}">
                <a16:creationId xmlns:a16="http://schemas.microsoft.com/office/drawing/2014/main" id="{EA55A877-C10E-ACBA-80A9-64B89DAC2AF1}"/>
              </a:ext>
            </a:extLst>
          </p:cNvPr>
          <p:cNvPicPr>
            <a:picLocks noChangeAspect="1"/>
          </p:cNvPicPr>
          <p:nvPr/>
        </p:nvPicPr>
        <p:blipFill rotWithShape="1">
          <a:blip r:embed="rId5"/>
          <a:srcRect l="14425" r="14843"/>
          <a:stretch/>
        </p:blipFill>
        <p:spPr>
          <a:xfrm>
            <a:off x="6872534" y="1686560"/>
            <a:ext cx="2209801" cy="3124200"/>
          </a:xfrm>
          <a:prstGeom prst="rect">
            <a:avLst/>
          </a:prstGeom>
        </p:spPr>
      </p:pic>
    </p:spTree>
    <p:extLst>
      <p:ext uri="{BB962C8B-B14F-4D97-AF65-F5344CB8AC3E}">
        <p14:creationId xmlns:p14="http://schemas.microsoft.com/office/powerpoint/2010/main" val="60605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dirty="0"/>
              <a:t>Kent Daniel </a:t>
            </a:r>
            <a:endParaRPr lang="en-US" dirty="0"/>
          </a:p>
        </p:txBody>
      </p:sp>
      <p:sp>
        <p:nvSpPr>
          <p:cNvPr id="3" name="Content Placeholder 2"/>
          <p:cNvSpPr>
            <a:spLocks noGrp="1"/>
          </p:cNvSpPr>
          <p:nvPr>
            <p:ph idx="1"/>
          </p:nvPr>
        </p:nvSpPr>
        <p:spPr>
          <a:xfrm>
            <a:off x="3124200" y="1600200"/>
            <a:ext cx="5562600" cy="4530725"/>
          </a:xfrm>
        </p:spPr>
        <p:txBody>
          <a:bodyPr/>
          <a:lstStyle/>
          <a:p>
            <a:r>
              <a:rPr lang="en-US" dirty="0">
                <a:ea typeface="+mn-ea"/>
                <a:cs typeface="+mn-cs"/>
              </a:rPr>
              <a:t>Jean-Marie </a:t>
            </a:r>
            <a:r>
              <a:rPr lang="en-US" dirty="0" err="1">
                <a:ea typeface="+mn-ea"/>
                <a:cs typeface="+mn-cs"/>
              </a:rPr>
              <a:t>Eveillard</a:t>
            </a:r>
            <a:r>
              <a:rPr lang="en-US" dirty="0">
                <a:ea typeface="+mn-ea"/>
                <a:cs typeface="+mn-cs"/>
              </a:rPr>
              <a:t>/First Eagle Investment Management Professor of Business in the Finance Division at Columbia Business School</a:t>
            </a:r>
          </a:p>
          <a:p>
            <a:r>
              <a:rPr lang="en-US" dirty="0">
                <a:ea typeface="+mn-ea"/>
                <a:cs typeface="+mn-cs"/>
              </a:rPr>
              <a:t> 1996 to 2006, Kellogg School of Management at Northwestern University, John and Helen Kellogg Distinguished Professor of Finance</a:t>
            </a:r>
          </a:p>
          <a:p>
            <a:r>
              <a:rPr lang="en-US" dirty="0">
                <a:ea typeface="+mn-ea"/>
                <a:cs typeface="+mn-cs"/>
              </a:rPr>
              <a:t>2004 to 2010, the Quantitative Investment Strategies group at Goldman Sachs Asset Management</a:t>
            </a:r>
          </a:p>
          <a:p>
            <a:r>
              <a:rPr lang="en-US" dirty="0"/>
              <a:t>B</a:t>
            </a:r>
            <a:r>
              <a:rPr lang="en-US" dirty="0">
                <a:ea typeface="+mn-ea"/>
                <a:cs typeface="+mn-cs"/>
              </a:rPr>
              <a:t>ehavioral finance and asset pricing</a:t>
            </a:r>
          </a:p>
        </p:txBody>
      </p:sp>
      <p:pic>
        <p:nvPicPr>
          <p:cNvPr id="4" name="Picture 2">
            <a:extLst>
              <a:ext uri="{FF2B5EF4-FFF2-40B4-BE49-F238E27FC236}">
                <a16:creationId xmlns:a16="http://schemas.microsoft.com/office/drawing/2014/main" id="{D7FA919A-1882-AA14-4702-05D7D89D7C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820" y="1607820"/>
            <a:ext cx="2288187" cy="3124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FC8DF-3BF2-70E1-B511-57B5CD3258BD}"/>
              </a:ext>
            </a:extLst>
          </p:cNvPr>
          <p:cNvSpPr>
            <a:spLocks noGrp="1"/>
          </p:cNvSpPr>
          <p:nvPr>
            <p:ph type="title"/>
          </p:nvPr>
        </p:nvSpPr>
        <p:spPr/>
        <p:txBody>
          <a:bodyPr/>
          <a:lstStyle/>
          <a:p>
            <a:r>
              <a:rPr lang="en-US" altLang="en-US" sz="4000" dirty="0"/>
              <a:t>Mark </a:t>
            </a:r>
            <a:r>
              <a:rPr lang="en-US" altLang="en-US" sz="4000" dirty="0" err="1"/>
              <a:t>Grinblatt</a:t>
            </a:r>
            <a:endParaRPr lang="zh-CN" altLang="en-US" dirty="0"/>
          </a:p>
        </p:txBody>
      </p:sp>
      <p:sp>
        <p:nvSpPr>
          <p:cNvPr id="3" name="内容占位符 2">
            <a:extLst>
              <a:ext uri="{FF2B5EF4-FFF2-40B4-BE49-F238E27FC236}">
                <a16:creationId xmlns:a16="http://schemas.microsoft.com/office/drawing/2014/main" id="{77FFF760-5B06-A0F5-139D-59647D1986D0}"/>
              </a:ext>
            </a:extLst>
          </p:cNvPr>
          <p:cNvSpPr>
            <a:spLocks noGrp="1"/>
          </p:cNvSpPr>
          <p:nvPr>
            <p:ph idx="1"/>
          </p:nvPr>
        </p:nvSpPr>
        <p:spPr>
          <a:xfrm>
            <a:off x="2819400" y="1600200"/>
            <a:ext cx="5867400" cy="4530725"/>
          </a:xfrm>
        </p:spPr>
        <p:txBody>
          <a:bodyPr/>
          <a:lstStyle/>
          <a:p>
            <a:r>
              <a:rPr lang="en-US" altLang="zh-CN" dirty="0"/>
              <a:t>Ph.D. Economics, 1982, Yale University</a:t>
            </a:r>
          </a:p>
          <a:p>
            <a:endParaRPr lang="en-US" altLang="zh-CN" dirty="0"/>
          </a:p>
          <a:p>
            <a:r>
              <a:rPr lang="en-US" altLang="zh-CN" dirty="0"/>
              <a:t>UCLA Anderson School of Management in 1981,</a:t>
            </a:r>
            <a:r>
              <a:rPr lang="zh-CN" altLang="en-US" dirty="0"/>
              <a:t> </a:t>
            </a:r>
            <a:r>
              <a:rPr lang="en-US" altLang="zh-CN" dirty="0"/>
              <a:t>Distinguished Professor Emeritus, Finance</a:t>
            </a:r>
          </a:p>
          <a:p>
            <a:endParaRPr lang="en-US" altLang="zh-CN" dirty="0"/>
          </a:p>
          <a:p>
            <a:r>
              <a:rPr lang="en-US" altLang="zh-CN" dirty="0"/>
              <a:t>Asset pricing, derivatives, performance evaluation, asymmetric information, security design, event studies, behavioral finance and household finance</a:t>
            </a:r>
            <a:endParaRPr lang="zh-CN" altLang="en-US" dirty="0"/>
          </a:p>
        </p:txBody>
      </p:sp>
      <p:pic>
        <p:nvPicPr>
          <p:cNvPr id="4" name="图片 3">
            <a:extLst>
              <a:ext uri="{FF2B5EF4-FFF2-40B4-BE49-F238E27FC236}">
                <a16:creationId xmlns:a16="http://schemas.microsoft.com/office/drawing/2014/main" id="{C91FA800-F013-70CF-70F4-66DA2526E02D}"/>
              </a:ext>
            </a:extLst>
          </p:cNvPr>
          <p:cNvPicPr>
            <a:picLocks noChangeAspect="1"/>
          </p:cNvPicPr>
          <p:nvPr/>
        </p:nvPicPr>
        <p:blipFill rotWithShape="1">
          <a:blip r:embed="rId2"/>
          <a:srcRect l="14634" r="14634"/>
          <a:stretch/>
        </p:blipFill>
        <p:spPr>
          <a:xfrm>
            <a:off x="457200" y="1600200"/>
            <a:ext cx="2209800" cy="3124200"/>
          </a:xfrm>
          <a:prstGeom prst="rect">
            <a:avLst/>
          </a:prstGeom>
        </p:spPr>
      </p:pic>
    </p:spTree>
    <p:extLst>
      <p:ext uri="{BB962C8B-B14F-4D97-AF65-F5344CB8AC3E}">
        <p14:creationId xmlns:p14="http://schemas.microsoft.com/office/powerpoint/2010/main" val="468587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45A685-CCD0-F435-2177-C16AD46D8873}"/>
              </a:ext>
            </a:extLst>
          </p:cNvPr>
          <p:cNvSpPr>
            <a:spLocks noGrp="1"/>
          </p:cNvSpPr>
          <p:nvPr>
            <p:ph type="title"/>
          </p:nvPr>
        </p:nvSpPr>
        <p:spPr/>
        <p:txBody>
          <a:bodyPr/>
          <a:lstStyle/>
          <a:p>
            <a:r>
              <a:rPr lang="en-US" altLang="en-US" sz="4000" dirty="0"/>
              <a:t>Sheridan Titman</a:t>
            </a:r>
            <a:endParaRPr lang="zh-CN" altLang="en-US" dirty="0"/>
          </a:p>
        </p:txBody>
      </p:sp>
      <p:sp>
        <p:nvSpPr>
          <p:cNvPr id="3" name="内容占位符 2">
            <a:extLst>
              <a:ext uri="{FF2B5EF4-FFF2-40B4-BE49-F238E27FC236}">
                <a16:creationId xmlns:a16="http://schemas.microsoft.com/office/drawing/2014/main" id="{EFD950E2-21B3-366D-5760-264CE8FD81A9}"/>
              </a:ext>
            </a:extLst>
          </p:cNvPr>
          <p:cNvSpPr>
            <a:spLocks noGrp="1"/>
          </p:cNvSpPr>
          <p:nvPr>
            <p:ph idx="1"/>
          </p:nvPr>
        </p:nvSpPr>
        <p:spPr>
          <a:xfrm>
            <a:off x="2819400" y="1600200"/>
            <a:ext cx="5867400" cy="4530725"/>
          </a:xfrm>
        </p:spPr>
        <p:txBody>
          <a:bodyPr/>
          <a:lstStyle/>
          <a:p>
            <a:r>
              <a:rPr lang="en-US" altLang="zh-CN" dirty="0"/>
              <a:t>University of Texas at Austin, McCombs School of Business </a:t>
            </a:r>
          </a:p>
          <a:p>
            <a:endParaRPr lang="en-US" altLang="zh-CN" dirty="0"/>
          </a:p>
          <a:p>
            <a:r>
              <a:rPr lang="en-US" altLang="zh-CN" dirty="0"/>
              <a:t>Additional Titles: Professor; Director, Energy Management and Innovation Center</a:t>
            </a:r>
          </a:p>
          <a:p>
            <a:endParaRPr lang="en-US" altLang="zh-CN" dirty="0"/>
          </a:p>
          <a:p>
            <a:r>
              <a:rPr lang="en-US" altLang="zh-CN" dirty="0"/>
              <a:t>Industry Areas: Energy, Investment Banking, Investment Management, Real Estate</a:t>
            </a:r>
          </a:p>
          <a:p>
            <a:endParaRPr lang="en-US" altLang="zh-CN" dirty="0"/>
          </a:p>
          <a:p>
            <a:r>
              <a:rPr lang="en-US" altLang="zh-CN" dirty="0"/>
              <a:t>Research Areas: Accounting - Government, Finance - Corporate, Investments, Real Estate</a:t>
            </a:r>
          </a:p>
          <a:p>
            <a:endParaRPr lang="en-US" altLang="zh-CN" dirty="0"/>
          </a:p>
          <a:p>
            <a:endParaRPr lang="zh-CN" altLang="en-US" dirty="0"/>
          </a:p>
        </p:txBody>
      </p:sp>
      <p:pic>
        <p:nvPicPr>
          <p:cNvPr id="4" name="图片 3">
            <a:extLst>
              <a:ext uri="{FF2B5EF4-FFF2-40B4-BE49-F238E27FC236}">
                <a16:creationId xmlns:a16="http://schemas.microsoft.com/office/drawing/2014/main" id="{A817213A-A389-FC39-B502-2BF46A1F0F08}"/>
              </a:ext>
            </a:extLst>
          </p:cNvPr>
          <p:cNvPicPr>
            <a:picLocks noChangeAspect="1"/>
          </p:cNvPicPr>
          <p:nvPr/>
        </p:nvPicPr>
        <p:blipFill rotWithShape="1">
          <a:blip r:embed="rId2"/>
          <a:srcRect l="12266" r="17003"/>
          <a:stretch/>
        </p:blipFill>
        <p:spPr>
          <a:xfrm>
            <a:off x="457200" y="1600200"/>
            <a:ext cx="2209800" cy="3124200"/>
          </a:xfrm>
          <a:prstGeom prst="rect">
            <a:avLst/>
          </a:prstGeom>
        </p:spPr>
      </p:pic>
    </p:spTree>
    <p:extLst>
      <p:ext uri="{BB962C8B-B14F-4D97-AF65-F5344CB8AC3E}">
        <p14:creationId xmlns:p14="http://schemas.microsoft.com/office/powerpoint/2010/main" val="847480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2E914F-EC3D-C372-1326-CEF5E670706F}"/>
              </a:ext>
            </a:extLst>
          </p:cNvPr>
          <p:cNvSpPr>
            <a:spLocks noGrp="1"/>
          </p:cNvSpPr>
          <p:nvPr>
            <p:ph type="title"/>
          </p:nvPr>
        </p:nvSpPr>
        <p:spPr/>
        <p:txBody>
          <a:bodyPr/>
          <a:lstStyle/>
          <a:p>
            <a:r>
              <a:rPr lang="en-US" altLang="en-US" sz="4000" dirty="0"/>
              <a:t>Russ </a:t>
            </a:r>
            <a:r>
              <a:rPr lang="en-US" altLang="en-US" sz="4000" dirty="0" err="1"/>
              <a:t>Wermers</a:t>
            </a:r>
            <a:endParaRPr lang="zh-CN" altLang="en-US" dirty="0"/>
          </a:p>
        </p:txBody>
      </p:sp>
      <p:sp>
        <p:nvSpPr>
          <p:cNvPr id="3" name="内容占位符 2">
            <a:extLst>
              <a:ext uri="{FF2B5EF4-FFF2-40B4-BE49-F238E27FC236}">
                <a16:creationId xmlns:a16="http://schemas.microsoft.com/office/drawing/2014/main" id="{9AA1A498-2D25-1A03-B95F-AFD544CF6D7D}"/>
              </a:ext>
            </a:extLst>
          </p:cNvPr>
          <p:cNvSpPr>
            <a:spLocks noGrp="1"/>
          </p:cNvSpPr>
          <p:nvPr>
            <p:ph idx="1"/>
          </p:nvPr>
        </p:nvSpPr>
        <p:spPr>
          <a:xfrm>
            <a:off x="2743200" y="1600200"/>
            <a:ext cx="5943600" cy="4530725"/>
          </a:xfrm>
        </p:spPr>
        <p:txBody>
          <a:bodyPr/>
          <a:lstStyle/>
          <a:p>
            <a:r>
              <a:rPr lang="en-US" altLang="zh-CN" dirty="0"/>
              <a:t>University of Maryland, Robert H. Smith School of Business </a:t>
            </a:r>
          </a:p>
          <a:p>
            <a:endParaRPr lang="en-US" altLang="zh-CN" dirty="0"/>
          </a:p>
          <a:p>
            <a:r>
              <a:rPr lang="en-US" altLang="zh-CN" dirty="0"/>
              <a:t>Paul J. </a:t>
            </a:r>
            <a:r>
              <a:rPr lang="en-US" altLang="zh-CN" dirty="0" err="1"/>
              <a:t>Cinquegrana</a:t>
            </a:r>
            <a:r>
              <a:rPr lang="en-US" altLang="zh-CN" dirty="0"/>
              <a:t> ’63 Endowed Chair in Finance</a:t>
            </a:r>
          </a:p>
          <a:p>
            <a:endParaRPr lang="en-US" altLang="zh-CN" dirty="0"/>
          </a:p>
          <a:p>
            <a:r>
              <a:rPr lang="en-US" altLang="zh-CN" dirty="0"/>
              <a:t>Director, Center for Financial Policy</a:t>
            </a:r>
          </a:p>
          <a:p>
            <a:endParaRPr lang="en-US" altLang="zh-CN" dirty="0"/>
          </a:p>
          <a:p>
            <a:r>
              <a:rPr lang="en-US" altLang="zh-CN" dirty="0"/>
              <a:t>Ph.D., University of California, Los Angeles</a:t>
            </a:r>
          </a:p>
          <a:p>
            <a:endParaRPr lang="en-US" altLang="zh-CN" dirty="0"/>
          </a:p>
          <a:p>
            <a:r>
              <a:rPr lang="en-US" altLang="zh-CN" dirty="0"/>
              <a:t>Efficiency of securities markets, as well as the role of institutional investors in setting stock prices</a:t>
            </a:r>
          </a:p>
          <a:p>
            <a:endParaRPr lang="en-US" altLang="zh-CN" dirty="0"/>
          </a:p>
          <a:p>
            <a:endParaRPr lang="zh-CN" altLang="en-US" dirty="0"/>
          </a:p>
        </p:txBody>
      </p:sp>
      <p:pic>
        <p:nvPicPr>
          <p:cNvPr id="4" name="图片 3">
            <a:extLst>
              <a:ext uri="{FF2B5EF4-FFF2-40B4-BE49-F238E27FC236}">
                <a16:creationId xmlns:a16="http://schemas.microsoft.com/office/drawing/2014/main" id="{FAFBC8D9-3647-010D-7F95-AAC49B3431EA}"/>
              </a:ext>
            </a:extLst>
          </p:cNvPr>
          <p:cNvPicPr>
            <a:picLocks noChangeAspect="1"/>
          </p:cNvPicPr>
          <p:nvPr/>
        </p:nvPicPr>
        <p:blipFill rotWithShape="1">
          <a:blip r:embed="rId2"/>
          <a:srcRect l="14425" r="14843"/>
          <a:stretch/>
        </p:blipFill>
        <p:spPr>
          <a:xfrm>
            <a:off x="457200" y="1600200"/>
            <a:ext cx="2209801" cy="3124200"/>
          </a:xfrm>
          <a:prstGeom prst="rect">
            <a:avLst/>
          </a:prstGeom>
        </p:spPr>
      </p:pic>
    </p:spTree>
    <p:extLst>
      <p:ext uri="{BB962C8B-B14F-4D97-AF65-F5344CB8AC3E}">
        <p14:creationId xmlns:p14="http://schemas.microsoft.com/office/powerpoint/2010/main" val="1243134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出版细节</a:t>
            </a:r>
            <a:endParaRPr lang="en-US" dirty="0"/>
          </a:p>
        </p:txBody>
      </p:sp>
      <p:sp>
        <p:nvSpPr>
          <p:cNvPr id="3" name="内容占位符 2"/>
          <p:cNvSpPr>
            <a:spLocks noGrp="1"/>
          </p:cNvSpPr>
          <p:nvPr>
            <p:ph idx="1"/>
          </p:nvPr>
        </p:nvSpPr>
        <p:spPr/>
        <p:txBody>
          <a:bodyPr/>
          <a:lstStyle/>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altLang="zh-CN" dirty="0"/>
          </a:p>
          <a:p>
            <a:endParaRPr lang="en-US" altLang="zh-CN" dirty="0"/>
          </a:p>
          <a:p>
            <a:r>
              <a:rPr lang="en-US" altLang="zh-CN" dirty="0"/>
              <a:t>Google Scholar </a:t>
            </a:r>
            <a:r>
              <a:rPr lang="zh-CN" altLang="en-US" dirty="0"/>
              <a:t>引用</a:t>
            </a:r>
            <a:r>
              <a:rPr lang="en-US" dirty="0"/>
              <a:t>: 3,881</a:t>
            </a:r>
          </a:p>
        </p:txBody>
      </p:sp>
      <p:pic>
        <p:nvPicPr>
          <p:cNvPr id="6" name="图片 5">
            <a:extLst>
              <a:ext uri="{FF2B5EF4-FFF2-40B4-BE49-F238E27FC236}">
                <a16:creationId xmlns:a16="http://schemas.microsoft.com/office/drawing/2014/main" id="{5639DFBB-4457-3A33-89AA-3AD93BB3CFC8}"/>
              </a:ext>
            </a:extLst>
          </p:cNvPr>
          <p:cNvPicPr>
            <a:picLocks noChangeAspect="1"/>
          </p:cNvPicPr>
          <p:nvPr/>
        </p:nvPicPr>
        <p:blipFill>
          <a:blip r:embed="rId3"/>
          <a:stretch>
            <a:fillRect/>
          </a:stretch>
        </p:blipFill>
        <p:spPr>
          <a:xfrm>
            <a:off x="457200" y="3873182"/>
            <a:ext cx="7607691" cy="1606633"/>
          </a:xfrm>
          <a:prstGeom prst="rect">
            <a:avLst/>
          </a:prstGeom>
        </p:spPr>
      </p:pic>
      <p:pic>
        <p:nvPicPr>
          <p:cNvPr id="8" name="图片 7">
            <a:extLst>
              <a:ext uri="{FF2B5EF4-FFF2-40B4-BE49-F238E27FC236}">
                <a16:creationId xmlns:a16="http://schemas.microsoft.com/office/drawing/2014/main" id="{35F24F4A-498B-A81D-9829-6EFF592DED8D}"/>
              </a:ext>
            </a:extLst>
          </p:cNvPr>
          <p:cNvPicPr>
            <a:picLocks noChangeAspect="1"/>
          </p:cNvPicPr>
          <p:nvPr/>
        </p:nvPicPr>
        <p:blipFill>
          <a:blip r:embed="rId4"/>
          <a:stretch>
            <a:fillRect/>
          </a:stretch>
        </p:blipFill>
        <p:spPr>
          <a:xfrm>
            <a:off x="533400" y="878205"/>
            <a:ext cx="6924683" cy="306401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7EB376-46C5-7EA5-CF4B-A3F8DEEF9484}"/>
              </a:ext>
            </a:extLst>
          </p:cNvPr>
          <p:cNvSpPr>
            <a:spLocks noGrp="1"/>
          </p:cNvSpPr>
          <p:nvPr>
            <p:ph type="title"/>
          </p:nvPr>
        </p:nvSpPr>
        <p:spPr/>
        <p:txBody>
          <a:bodyPr/>
          <a:lstStyle/>
          <a:p>
            <a:r>
              <a:rPr lang="en-US" altLang="zh-CN" dirty="0"/>
              <a:t>Abstract </a:t>
            </a:r>
            <a:endParaRPr lang="zh-CN" altLang="en-US" dirty="0"/>
          </a:p>
        </p:txBody>
      </p:sp>
      <p:sp>
        <p:nvSpPr>
          <p:cNvPr id="3" name="内容占位符 2">
            <a:extLst>
              <a:ext uri="{FF2B5EF4-FFF2-40B4-BE49-F238E27FC236}">
                <a16:creationId xmlns:a16="http://schemas.microsoft.com/office/drawing/2014/main" id="{996D657A-A799-9E32-6557-CE99347EA2A2}"/>
              </a:ext>
            </a:extLst>
          </p:cNvPr>
          <p:cNvSpPr>
            <a:spLocks noGrp="1"/>
          </p:cNvSpPr>
          <p:nvPr>
            <p:ph idx="1"/>
          </p:nvPr>
        </p:nvSpPr>
        <p:spPr>
          <a:xfrm>
            <a:off x="457200" y="1600200"/>
            <a:ext cx="8458200" cy="4530725"/>
          </a:xfrm>
        </p:spPr>
        <p:txBody>
          <a:bodyPr/>
          <a:lstStyle/>
          <a:p>
            <a:r>
              <a:rPr lang="en-US" altLang="zh-CN" dirty="0"/>
              <a:t>Develops new measures of portfolio performance which use benchmarks based on the </a:t>
            </a:r>
            <a:r>
              <a:rPr lang="en-US" altLang="zh-CN" b="1" dirty="0"/>
              <a:t>stock characteristics </a:t>
            </a:r>
          </a:p>
          <a:p>
            <a:endParaRPr lang="en-US" altLang="zh-CN" dirty="0"/>
          </a:p>
          <a:p>
            <a:r>
              <a:rPr lang="en-US" altLang="zh-CN" dirty="0"/>
              <a:t>The benchmarks are constructed from the returns of 125 passive portfolios that are matched with </a:t>
            </a:r>
            <a:r>
              <a:rPr lang="en-US" altLang="zh-CN" b="1" dirty="0"/>
              <a:t>market capitalization, book-to-market, and prior-year return</a:t>
            </a:r>
          </a:p>
          <a:p>
            <a:endParaRPr lang="en-US" altLang="zh-CN" dirty="0"/>
          </a:p>
          <a:p>
            <a:r>
              <a:rPr lang="en-US" altLang="zh-CN" dirty="0"/>
              <a:t>“</a:t>
            </a:r>
            <a:r>
              <a:rPr lang="en-US" altLang="zh-CN" b="1" dirty="0"/>
              <a:t>Characteristic Timing</a:t>
            </a:r>
            <a:r>
              <a:rPr lang="en-US" altLang="zh-CN" dirty="0"/>
              <a:t>” and “</a:t>
            </a:r>
            <a:r>
              <a:rPr lang="en-US" altLang="zh-CN" b="1" dirty="0"/>
              <a:t>Characteristics Selectivity</a:t>
            </a:r>
            <a:r>
              <a:rPr lang="en-US" altLang="zh-CN" dirty="0"/>
              <a:t>” measures are developed to detect whether portfolio managers successfully time their portfolio and can select stocks </a:t>
            </a:r>
          </a:p>
          <a:p>
            <a:endParaRPr lang="en-US" altLang="zh-CN" dirty="0"/>
          </a:p>
          <a:p>
            <a:r>
              <a:rPr lang="en-US" altLang="zh-CN" dirty="0"/>
              <a:t>Mutual fund holding data covering 2500 equity funds from 1975 -1994</a:t>
            </a:r>
          </a:p>
          <a:p>
            <a:r>
              <a:rPr lang="en-US" altLang="zh-CN" dirty="0"/>
              <a:t>Mutual funds exhibit some selectivity ability, but no timing ability  </a:t>
            </a:r>
            <a:endParaRPr lang="zh-CN" altLang="en-US" dirty="0"/>
          </a:p>
        </p:txBody>
      </p:sp>
    </p:spTree>
    <p:extLst>
      <p:ext uri="{BB962C8B-B14F-4D97-AF65-F5344CB8AC3E}">
        <p14:creationId xmlns:p14="http://schemas.microsoft.com/office/powerpoint/2010/main" val="1186719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A08A79-CD53-B0DD-63BC-BA16AF84A856}"/>
              </a:ext>
            </a:extLst>
          </p:cNvPr>
          <p:cNvSpPr>
            <a:spLocks noGrp="1"/>
          </p:cNvSpPr>
          <p:nvPr>
            <p:ph type="title"/>
          </p:nvPr>
        </p:nvSpPr>
        <p:spPr/>
        <p:txBody>
          <a:bodyPr/>
          <a:lstStyle/>
          <a:p>
            <a:r>
              <a:rPr lang="en-US" altLang="zh-CN" dirty="0"/>
              <a:t>Motivation</a:t>
            </a:r>
            <a:endParaRPr lang="zh-CN" altLang="en-US" dirty="0"/>
          </a:p>
        </p:txBody>
      </p:sp>
      <p:sp>
        <p:nvSpPr>
          <p:cNvPr id="3" name="内容占位符 2">
            <a:extLst>
              <a:ext uri="{FF2B5EF4-FFF2-40B4-BE49-F238E27FC236}">
                <a16:creationId xmlns:a16="http://schemas.microsoft.com/office/drawing/2014/main" id="{6637A81A-1EB2-3536-EA63-68117271E9AF}"/>
              </a:ext>
            </a:extLst>
          </p:cNvPr>
          <p:cNvSpPr>
            <a:spLocks noGrp="1"/>
          </p:cNvSpPr>
          <p:nvPr>
            <p:ph idx="1"/>
          </p:nvPr>
        </p:nvSpPr>
        <p:spPr/>
        <p:txBody>
          <a:bodyPr/>
          <a:lstStyle/>
          <a:p>
            <a:r>
              <a:rPr lang="en-US" altLang="zh-CN" dirty="0"/>
              <a:t>Over one trillion dollars are invested in actively managed equity mutual funds. </a:t>
            </a:r>
          </a:p>
          <a:p>
            <a:endParaRPr lang="en-US" altLang="zh-CN" dirty="0"/>
          </a:p>
          <a:p>
            <a:r>
              <a:rPr lang="en-US" altLang="zh-CN" dirty="0"/>
              <a:t>Assume the fees and expenses of these funds average about 1% of assets (conservative estimate), the total costs generated by this industry exceed $10 billion per year</a:t>
            </a:r>
          </a:p>
          <a:p>
            <a:endParaRPr lang="en-US" altLang="zh-CN" dirty="0"/>
          </a:p>
          <a:p>
            <a:r>
              <a:rPr lang="en-US" altLang="zh-CN" dirty="0"/>
              <a:t>Whether mutual funds can systematically pick stocks that allow them to earn back a significant fraction of the fees and expenses that they generate. </a:t>
            </a:r>
            <a:endParaRPr lang="zh-CN" altLang="en-US" dirty="0"/>
          </a:p>
        </p:txBody>
      </p:sp>
    </p:spTree>
    <p:extLst>
      <p:ext uri="{BB962C8B-B14F-4D97-AF65-F5344CB8AC3E}">
        <p14:creationId xmlns:p14="http://schemas.microsoft.com/office/powerpoint/2010/main" val="2296544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E2D3D0-1DD8-BE3F-7471-E48C632ADEF2}"/>
              </a:ext>
            </a:extLst>
          </p:cNvPr>
          <p:cNvSpPr>
            <a:spLocks noGrp="1"/>
          </p:cNvSpPr>
          <p:nvPr>
            <p:ph type="title"/>
          </p:nvPr>
        </p:nvSpPr>
        <p:spPr/>
        <p:txBody>
          <a:bodyPr/>
          <a:lstStyle/>
          <a:p>
            <a:r>
              <a:rPr lang="en-US" altLang="zh-CN" dirty="0"/>
              <a:t>Previous literature </a:t>
            </a:r>
            <a:endParaRPr lang="zh-CN" altLang="en-US" dirty="0"/>
          </a:p>
        </p:txBody>
      </p:sp>
      <p:sp>
        <p:nvSpPr>
          <p:cNvPr id="3" name="内容占位符 2">
            <a:extLst>
              <a:ext uri="{FF2B5EF4-FFF2-40B4-BE49-F238E27FC236}">
                <a16:creationId xmlns:a16="http://schemas.microsoft.com/office/drawing/2014/main" id="{54A20CFC-505D-0803-5692-83127FE956FE}"/>
              </a:ext>
            </a:extLst>
          </p:cNvPr>
          <p:cNvSpPr>
            <a:spLocks noGrp="1"/>
          </p:cNvSpPr>
          <p:nvPr>
            <p:ph idx="1"/>
          </p:nvPr>
        </p:nvSpPr>
        <p:spPr/>
        <p:txBody>
          <a:bodyPr/>
          <a:lstStyle/>
          <a:p>
            <a:r>
              <a:rPr lang="en-US" altLang="zh-CN" dirty="0"/>
              <a:t>Mutual funds do not have significant stock-picking abilities</a:t>
            </a:r>
          </a:p>
          <a:p>
            <a:pPr lvl="1"/>
            <a:r>
              <a:rPr lang="en-US" altLang="zh-CN" dirty="0"/>
              <a:t>Jensen (1968), Malkiel (1995), Gruber (1996)</a:t>
            </a:r>
          </a:p>
          <a:p>
            <a:pPr lvl="1"/>
            <a:endParaRPr lang="en-US" altLang="zh-CN" dirty="0"/>
          </a:p>
          <a:p>
            <a:r>
              <a:rPr lang="en-US" altLang="zh-CN" dirty="0"/>
              <a:t>Persistence in mutual fund performance </a:t>
            </a:r>
          </a:p>
          <a:p>
            <a:pPr lvl="1"/>
            <a:r>
              <a:rPr lang="en-US" altLang="zh-CN" dirty="0" err="1"/>
              <a:t>Grinblatt</a:t>
            </a:r>
            <a:r>
              <a:rPr lang="en-US" altLang="zh-CN" dirty="0"/>
              <a:t> and Titman (1992), Hendricks, Patel, and </a:t>
            </a:r>
            <a:r>
              <a:rPr lang="en-US" altLang="zh-CN" dirty="0" err="1"/>
              <a:t>Zeckhauser</a:t>
            </a:r>
            <a:r>
              <a:rPr lang="en-US" altLang="zh-CN" dirty="0"/>
              <a:t> (1993), and </a:t>
            </a:r>
            <a:r>
              <a:rPr lang="en-US" altLang="zh-CN" dirty="0" err="1"/>
              <a:t>Goetzmann</a:t>
            </a:r>
            <a:r>
              <a:rPr lang="en-US" altLang="zh-CN" dirty="0"/>
              <a:t> and Ibbotson (1994)</a:t>
            </a:r>
          </a:p>
          <a:p>
            <a:pPr lvl="1"/>
            <a:r>
              <a:rPr lang="en-US" altLang="zh-CN" dirty="0"/>
              <a:t>Survival bias or benchmark errors </a:t>
            </a:r>
          </a:p>
          <a:p>
            <a:pPr lvl="1"/>
            <a:endParaRPr lang="en-US" altLang="zh-CN" dirty="0"/>
          </a:p>
          <a:p>
            <a:r>
              <a:rPr lang="en-US" altLang="zh-CN" dirty="0"/>
              <a:t>Key difference: how to assess the performance of mutual funds</a:t>
            </a:r>
          </a:p>
          <a:p>
            <a:pPr lvl="1"/>
            <a:r>
              <a:rPr lang="en-US" altLang="zh-CN" dirty="0"/>
              <a:t>Actual returns that investors realize from holding the funds</a:t>
            </a:r>
          </a:p>
          <a:p>
            <a:pPr lvl="1"/>
            <a:r>
              <a:rPr lang="en-US" altLang="zh-CN" dirty="0"/>
              <a:t>Examine the performance of the individual stocks held by funds </a:t>
            </a:r>
            <a:r>
              <a:rPr lang="en-US" altLang="zh-CN" dirty="0" err="1"/>
              <a:t>Grinblatt</a:t>
            </a:r>
            <a:r>
              <a:rPr lang="en-US" altLang="zh-CN" dirty="0"/>
              <a:t> and Titman (1989a, 1993)</a:t>
            </a:r>
            <a:endParaRPr lang="zh-CN" altLang="en-US" dirty="0"/>
          </a:p>
        </p:txBody>
      </p:sp>
    </p:spTree>
    <p:extLst>
      <p:ext uri="{BB962C8B-B14F-4D97-AF65-F5344CB8AC3E}">
        <p14:creationId xmlns:p14="http://schemas.microsoft.com/office/powerpoint/2010/main" val="472727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B1EE97-714D-599E-4FC5-C81565D59D5E}"/>
              </a:ext>
            </a:extLst>
          </p:cNvPr>
          <p:cNvSpPr>
            <a:spLocks noGrp="1"/>
          </p:cNvSpPr>
          <p:nvPr>
            <p:ph type="title"/>
          </p:nvPr>
        </p:nvSpPr>
        <p:spPr/>
        <p:txBody>
          <a:bodyPr/>
          <a:lstStyle/>
          <a:p>
            <a:r>
              <a:rPr lang="en-US" altLang="zh-CN" dirty="0"/>
              <a:t>This paper </a:t>
            </a:r>
            <a:endParaRPr lang="zh-CN" altLang="en-US" dirty="0"/>
          </a:p>
        </p:txBody>
      </p:sp>
      <p:sp>
        <p:nvSpPr>
          <p:cNvPr id="3" name="内容占位符 2">
            <a:extLst>
              <a:ext uri="{FF2B5EF4-FFF2-40B4-BE49-F238E27FC236}">
                <a16:creationId xmlns:a16="http://schemas.microsoft.com/office/drawing/2014/main" id="{8976EEC5-F82E-18F7-22D7-0F02E411E9BC}"/>
              </a:ext>
            </a:extLst>
          </p:cNvPr>
          <p:cNvSpPr>
            <a:spLocks noGrp="1"/>
          </p:cNvSpPr>
          <p:nvPr>
            <p:ph idx="1"/>
          </p:nvPr>
        </p:nvSpPr>
        <p:spPr/>
        <p:txBody>
          <a:bodyPr/>
          <a:lstStyle/>
          <a:p>
            <a:r>
              <a:rPr lang="en-US" altLang="zh-CN" b="1" dirty="0"/>
              <a:t>New dataset</a:t>
            </a:r>
            <a:r>
              <a:rPr lang="en-US" altLang="zh-CN" dirty="0"/>
              <a:t>: free from survivorship bias </a:t>
            </a:r>
          </a:p>
          <a:p>
            <a:endParaRPr lang="en-US" altLang="zh-CN" b="1" dirty="0"/>
          </a:p>
          <a:p>
            <a:r>
              <a:rPr lang="en-US" altLang="zh-CN" b="1" dirty="0"/>
              <a:t>New performance measure</a:t>
            </a:r>
            <a:r>
              <a:rPr lang="en-US" altLang="zh-CN" dirty="0"/>
              <a:t>: </a:t>
            </a:r>
            <a:r>
              <a:rPr lang="en-US" altLang="zh-CN" b="1" dirty="0"/>
              <a:t>directly</a:t>
            </a:r>
            <a:r>
              <a:rPr lang="en-US" altLang="zh-CN" dirty="0"/>
              <a:t> matching the </a:t>
            </a:r>
            <a:r>
              <a:rPr lang="en-US" altLang="zh-CN" i="1" dirty="0"/>
              <a:t>characteristics</a:t>
            </a:r>
            <a:r>
              <a:rPr lang="en-US" altLang="zh-CN" dirty="0"/>
              <a:t> of the component stocks of the portfolio</a:t>
            </a:r>
          </a:p>
          <a:p>
            <a:pPr lvl="1"/>
            <a:r>
              <a:rPr lang="en-US" altLang="zh-CN" dirty="0"/>
              <a:t>Contrasted with the alternative factor approach: (1) Forms factor portfolios based on characteristic-sorted stocks. </a:t>
            </a:r>
            <a:r>
              <a:rPr lang="zh-CN" altLang="en-US" dirty="0"/>
              <a:t> </a:t>
            </a:r>
            <a:r>
              <a:rPr lang="en-US" altLang="zh-CN" dirty="0"/>
              <a:t>(2)</a:t>
            </a:r>
            <a:r>
              <a:rPr lang="zh-CN" altLang="en-US" dirty="0"/>
              <a:t> </a:t>
            </a:r>
            <a:r>
              <a:rPr lang="en-US" altLang="zh-CN" dirty="0"/>
              <a:t>Return on these factor portfolios are then used as regressor in a traditional multifactor regression model.</a:t>
            </a:r>
          </a:p>
          <a:p>
            <a:pPr lvl="1"/>
            <a:r>
              <a:rPr lang="en-US" altLang="zh-CN" dirty="0"/>
              <a:t>The characteristics approach could decompose fund returns into the components of Average Style (AS), Characteristic Selectivity (CS), and Characteristic Timing (CT). </a:t>
            </a:r>
            <a:endParaRPr lang="zh-CN" altLang="en-US" dirty="0"/>
          </a:p>
        </p:txBody>
      </p:sp>
    </p:spTree>
    <p:extLst>
      <p:ext uri="{BB962C8B-B14F-4D97-AF65-F5344CB8AC3E}">
        <p14:creationId xmlns:p14="http://schemas.microsoft.com/office/powerpoint/2010/main" val="1268345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08E201-7A1B-9684-EE57-17E754F47008}"/>
              </a:ext>
            </a:extLst>
          </p:cNvPr>
          <p:cNvSpPr>
            <a:spLocks noGrp="1"/>
          </p:cNvSpPr>
          <p:nvPr>
            <p:ph type="title"/>
          </p:nvPr>
        </p:nvSpPr>
        <p:spPr/>
        <p:txBody>
          <a:bodyPr/>
          <a:lstStyle/>
          <a:p>
            <a:r>
              <a:rPr lang="en-US" altLang="zh-CN" dirty="0"/>
              <a:t>Mutual Fund Data </a:t>
            </a:r>
            <a:endParaRPr lang="zh-CN" altLang="en-US" dirty="0"/>
          </a:p>
        </p:txBody>
      </p:sp>
      <p:sp>
        <p:nvSpPr>
          <p:cNvPr id="3" name="内容占位符 2">
            <a:extLst>
              <a:ext uri="{FF2B5EF4-FFF2-40B4-BE49-F238E27FC236}">
                <a16:creationId xmlns:a16="http://schemas.microsoft.com/office/drawing/2014/main" id="{CC0E4C06-7E4A-C4F6-0C66-A33CC84740A2}"/>
              </a:ext>
            </a:extLst>
          </p:cNvPr>
          <p:cNvSpPr>
            <a:spLocks noGrp="1"/>
          </p:cNvSpPr>
          <p:nvPr>
            <p:ph idx="1"/>
          </p:nvPr>
        </p:nvSpPr>
        <p:spPr/>
        <p:txBody>
          <a:bodyPr/>
          <a:lstStyle/>
          <a:p>
            <a:r>
              <a:rPr lang="en-US" altLang="zh-CN" dirty="0"/>
              <a:t>Quarterly equity holdings for all equity mutual funds between December 31, 1974 and December 31, 1994</a:t>
            </a:r>
          </a:p>
          <a:p>
            <a:endParaRPr lang="en-US" altLang="zh-CN" dirty="0"/>
          </a:p>
          <a:p>
            <a:r>
              <a:rPr lang="en-US" altLang="zh-CN" dirty="0"/>
              <a:t>Over 5,000 funds: exclude sector funds, bond, and preferred funds, and any fund with an investment objective that is not oriented to general equity.</a:t>
            </a:r>
          </a:p>
          <a:p>
            <a:endParaRPr lang="en-US" altLang="zh-CN" dirty="0"/>
          </a:p>
          <a:p>
            <a:r>
              <a:rPr lang="en-US" altLang="zh-CN" dirty="0"/>
              <a:t>Remaining: 2500 funds </a:t>
            </a:r>
            <a:endParaRPr lang="zh-CN" altLang="en-US" dirty="0"/>
          </a:p>
        </p:txBody>
      </p:sp>
    </p:spTree>
    <p:extLst>
      <p:ext uri="{BB962C8B-B14F-4D97-AF65-F5344CB8AC3E}">
        <p14:creationId xmlns:p14="http://schemas.microsoft.com/office/powerpoint/2010/main" val="2492157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787197-8CD4-2846-9D76-6B30DFD26EB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6289770-0A85-C6AE-BCBF-BC58FD6997FE}"/>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B6651A3C-BB67-4470-3AB3-48795ECF5D17}"/>
              </a:ext>
            </a:extLst>
          </p:cNvPr>
          <p:cNvPicPr>
            <a:picLocks noChangeAspect="1"/>
          </p:cNvPicPr>
          <p:nvPr/>
        </p:nvPicPr>
        <p:blipFill>
          <a:blip r:embed="rId2"/>
          <a:stretch>
            <a:fillRect/>
          </a:stretch>
        </p:blipFill>
        <p:spPr>
          <a:xfrm>
            <a:off x="0" y="220253"/>
            <a:ext cx="9144000" cy="6417493"/>
          </a:xfrm>
          <a:prstGeom prst="rect">
            <a:avLst/>
          </a:prstGeom>
        </p:spPr>
      </p:pic>
    </p:spTree>
    <p:extLst>
      <p:ext uri="{BB962C8B-B14F-4D97-AF65-F5344CB8AC3E}">
        <p14:creationId xmlns:p14="http://schemas.microsoft.com/office/powerpoint/2010/main" val="4172791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48FE76-7205-9E24-1AF4-C68029083917}"/>
              </a:ext>
            </a:extLst>
          </p:cNvPr>
          <p:cNvSpPr>
            <a:spLocks noGrp="1"/>
          </p:cNvSpPr>
          <p:nvPr>
            <p:ph type="title"/>
          </p:nvPr>
        </p:nvSpPr>
        <p:spPr/>
        <p:txBody>
          <a:bodyPr/>
          <a:lstStyle/>
          <a:p>
            <a:r>
              <a:rPr lang="en-US" altLang="zh-CN" dirty="0"/>
              <a:t>Performance-Evaluation Method</a:t>
            </a:r>
            <a:endParaRPr lang="zh-CN" altLang="en-US" dirty="0"/>
          </a:p>
        </p:txBody>
      </p:sp>
      <p:sp>
        <p:nvSpPr>
          <p:cNvPr id="3" name="内容占位符 2">
            <a:extLst>
              <a:ext uri="{FF2B5EF4-FFF2-40B4-BE49-F238E27FC236}">
                <a16:creationId xmlns:a16="http://schemas.microsoft.com/office/drawing/2014/main" id="{9DEC4CA3-02A7-D2EC-105C-361C1B8C848C}"/>
              </a:ext>
            </a:extLst>
          </p:cNvPr>
          <p:cNvSpPr>
            <a:spLocks noGrp="1"/>
          </p:cNvSpPr>
          <p:nvPr>
            <p:ph idx="1"/>
          </p:nvPr>
        </p:nvSpPr>
        <p:spPr/>
        <p:txBody>
          <a:bodyPr/>
          <a:lstStyle/>
          <a:p>
            <a:r>
              <a:rPr lang="en-US" altLang="zh-CN" dirty="0"/>
              <a:t>For each fund, we first calculate the </a:t>
            </a:r>
            <a:r>
              <a:rPr lang="en-US" altLang="zh-CN" b="1" dirty="0"/>
              <a:t>hypothetical monthly returns </a:t>
            </a:r>
            <a:r>
              <a:rPr lang="en-US" altLang="zh-CN" dirty="0"/>
              <a:t>that would be generated by buying the number of shares of each CRSP stock held by the fund on the first day of each quarter and holding the portfolio until the first day of the following quarter.</a:t>
            </a:r>
          </a:p>
          <a:p>
            <a:endParaRPr lang="en-US" altLang="zh-CN" dirty="0"/>
          </a:p>
          <a:p>
            <a:r>
              <a:rPr lang="en-US" altLang="zh-CN" b="1" dirty="0"/>
              <a:t>Performance = Hypothetical fund returns – benchmark portfolios </a:t>
            </a:r>
          </a:p>
          <a:p>
            <a:pPr lvl="1"/>
            <a:r>
              <a:rPr lang="en-US" altLang="zh-CN" dirty="0"/>
              <a:t>The characteristic-based approach that uses benchmark portfolios constructed to match the characteristics of the stocks held by a mutual fund. (CS, CT, and AS measures)</a:t>
            </a:r>
          </a:p>
          <a:p>
            <a:pPr lvl="1"/>
            <a:r>
              <a:rPr lang="en-US" altLang="zh-CN" dirty="0"/>
              <a:t>The GT measure which uses the past portfolio weights of a fund as a benchmark</a:t>
            </a:r>
          </a:p>
          <a:p>
            <a:pPr lvl="1"/>
            <a:r>
              <a:rPr lang="en-US" altLang="zh-CN" dirty="0"/>
              <a:t>Jensen Measure 1: Chart (1997) four factor </a:t>
            </a:r>
          </a:p>
          <a:p>
            <a:pPr lvl="1"/>
            <a:r>
              <a:rPr lang="en-US" altLang="zh-CN" dirty="0"/>
              <a:t>Jensen Measure 2: CRSP value-weighted index</a:t>
            </a:r>
          </a:p>
          <a:p>
            <a:pPr lvl="1"/>
            <a:endParaRPr lang="zh-CN" altLang="en-US" dirty="0"/>
          </a:p>
        </p:txBody>
      </p:sp>
    </p:spTree>
    <p:extLst>
      <p:ext uri="{BB962C8B-B14F-4D97-AF65-F5344CB8AC3E}">
        <p14:creationId xmlns:p14="http://schemas.microsoft.com/office/powerpoint/2010/main" val="3623826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2DD4E4-9D4A-22CD-67E6-AF9BE8750325}"/>
              </a:ext>
            </a:extLst>
          </p:cNvPr>
          <p:cNvSpPr>
            <a:spLocks noGrp="1"/>
          </p:cNvSpPr>
          <p:nvPr>
            <p:ph type="title"/>
          </p:nvPr>
        </p:nvSpPr>
        <p:spPr/>
        <p:txBody>
          <a:bodyPr/>
          <a:lstStyle/>
          <a:p>
            <a:r>
              <a:rPr lang="en-US" altLang="zh-CN" dirty="0"/>
              <a:t>Performance-Evaluation Method</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ACC76DF5-FBA4-B5C1-BB23-132AC3D5C6C5}"/>
                  </a:ext>
                </a:extLst>
              </p:cNvPr>
              <p:cNvSpPr>
                <a:spLocks noGrp="1"/>
              </p:cNvSpPr>
              <p:nvPr>
                <p:ph idx="1"/>
              </p:nvPr>
            </p:nvSpPr>
            <p:spPr/>
            <p:txBody>
              <a:bodyPr/>
              <a:lstStyle/>
              <a:p>
                <a:r>
                  <a:rPr lang="en-US" altLang="zh-CN" b="1" dirty="0"/>
                  <a:t>CS measure</a:t>
                </a:r>
                <a:r>
                  <a:rPr lang="en-US" altLang="zh-CN" dirty="0"/>
                  <a:t>: matched to the fund’s holdings each quarter along the dimensions of size, book-to-market ratio, and momentum.</a:t>
                </a:r>
              </a:p>
              <a:p>
                <a:pPr lvl="1"/>
                <a:r>
                  <a:rPr lang="en-US" altLang="zh-CN" dirty="0"/>
                  <a:t>CS measure = 0, the fund could be replicated by simply purchasing stocks with the same size, bm, and mom char as the stocks that the fund held.</a:t>
                </a:r>
              </a:p>
              <a:p>
                <a:pPr lvl="1"/>
                <a:r>
                  <a:rPr lang="en-US" altLang="zh-CN" dirty="0"/>
                  <a:t>CS measure &gt; 0, the fund manager had additional selectivity ability </a:t>
                </a:r>
              </a:p>
              <a:p>
                <a:r>
                  <a:rPr lang="en-US" altLang="zh-CN" dirty="0"/>
                  <a:t>Each stock, in each quarter, is assigned to a passive portfolio according to its size, book-to-market, and momentum rank.</a:t>
                </a:r>
              </a:p>
              <a:p>
                <a:pPr marL="344487" lvl="1"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𝑗</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𝑁</m:t>
                          </m:r>
                        </m:sup>
                        <m:e>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zh-CN" altLang="en-US" b="0" i="1" smtClean="0">
                                      <a:latin typeface="Cambria Math" panose="02040503050406030204" pitchFamily="18" charset="0"/>
                                    </a:rPr>
                                    <m:t>𝜔</m:t>
                                  </m:r>
                                </m:e>
                              </m:acc>
                            </m:e>
                            <m:sub>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𝑅</m:t>
                                  </m:r>
                                </m:e>
                              </m:acc>
                            </m:e>
                            <m:sub>
                              <m:r>
                                <a:rPr lang="en-US" altLang="zh-CN" b="0" i="1" smtClean="0">
                                  <a:latin typeface="Cambria Math" panose="02040503050406030204" pitchFamily="18" charset="0"/>
                                </a:rPr>
                                <m:t>𝑗𝑡</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𝑅</m:t>
                                  </m:r>
                                </m:e>
                              </m:acc>
                            </m:e>
                            <m:sub>
                              <m:r>
                                <a:rPr lang="en-US" altLang="zh-CN" b="0" i="1" smtClean="0">
                                  <a:latin typeface="Cambria Math" panose="02040503050406030204" pitchFamily="18" charset="0"/>
                                </a:rPr>
                                <m:t>𝑡</m:t>
                              </m:r>
                            </m:sub>
                            <m: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sup>
                          </m:sSubSup>
                          <m:r>
                            <a:rPr lang="en-US" altLang="zh-CN" b="0" i="1" smtClean="0">
                              <a:latin typeface="Cambria Math" panose="02040503050406030204" pitchFamily="18" charset="0"/>
                            </a:rPr>
                            <m:t>)</m:t>
                          </m:r>
                        </m:e>
                      </m:nary>
                    </m:oMath>
                  </m:oMathPara>
                </a14:m>
                <a:endParaRPr lang="en-US" altLang="zh-CN" dirty="0"/>
              </a:p>
              <a:p>
                <a:pPr lvl="1"/>
                <a:r>
                  <a:rPr lang="en-US" altLang="zh-CN" dirty="0"/>
                  <a:t>Note this selectivity measure does not capture any performance driven by the ability to </a:t>
                </a:r>
                <a:r>
                  <a:rPr lang="en-US" altLang="zh-CN" b="1" dirty="0"/>
                  <a:t>time the market</a:t>
                </a:r>
                <a:r>
                  <a:rPr lang="en-US" altLang="zh-CN" dirty="0"/>
                  <a:t>. </a:t>
                </a:r>
                <a:endParaRPr lang="zh-CN" altLang="en-US" dirty="0"/>
              </a:p>
            </p:txBody>
          </p:sp>
        </mc:Choice>
        <mc:Fallback>
          <p:sp>
            <p:nvSpPr>
              <p:cNvPr id="3" name="内容占位符 2">
                <a:extLst>
                  <a:ext uri="{FF2B5EF4-FFF2-40B4-BE49-F238E27FC236}">
                    <a16:creationId xmlns:a16="http://schemas.microsoft.com/office/drawing/2014/main" id="{ACC76DF5-FBA4-B5C1-BB23-132AC3D5C6C5}"/>
                  </a:ext>
                </a:extLst>
              </p:cNvPr>
              <p:cNvSpPr>
                <a:spLocks noGrp="1" noRot="1" noChangeAspect="1" noMove="1" noResize="1" noEditPoints="1" noAdjustHandles="1" noChangeArrowheads="1" noChangeShapeType="1" noTextEdit="1"/>
              </p:cNvSpPr>
              <p:nvPr>
                <p:ph idx="1"/>
              </p:nvPr>
            </p:nvSpPr>
            <p:spPr>
              <a:blipFill>
                <a:blip r:embed="rId2"/>
                <a:stretch>
                  <a:fillRect t="-808" b="-33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38314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74DC3A-A4F2-95E1-1E8B-BEF7FAB859EE}"/>
              </a:ext>
            </a:extLst>
          </p:cNvPr>
          <p:cNvSpPr>
            <a:spLocks noGrp="1"/>
          </p:cNvSpPr>
          <p:nvPr>
            <p:ph type="title"/>
          </p:nvPr>
        </p:nvSpPr>
        <p:spPr/>
        <p:txBody>
          <a:bodyPr/>
          <a:lstStyle/>
          <a:p>
            <a:r>
              <a:rPr lang="en-US" altLang="zh-CN" dirty="0"/>
              <a:t>125 benchmark portfolios </a:t>
            </a:r>
            <a:endParaRPr lang="zh-CN" altLang="en-US" dirty="0"/>
          </a:p>
        </p:txBody>
      </p:sp>
      <p:sp>
        <p:nvSpPr>
          <p:cNvPr id="3" name="内容占位符 2">
            <a:extLst>
              <a:ext uri="{FF2B5EF4-FFF2-40B4-BE49-F238E27FC236}">
                <a16:creationId xmlns:a16="http://schemas.microsoft.com/office/drawing/2014/main" id="{A399AC69-AB63-58FB-4390-974F7F94427D}"/>
              </a:ext>
            </a:extLst>
          </p:cNvPr>
          <p:cNvSpPr>
            <a:spLocks noGrp="1"/>
          </p:cNvSpPr>
          <p:nvPr>
            <p:ph idx="1"/>
          </p:nvPr>
        </p:nvSpPr>
        <p:spPr/>
        <p:txBody>
          <a:bodyPr/>
          <a:lstStyle/>
          <a:p>
            <a:r>
              <a:rPr lang="en-US" altLang="zh-CN" dirty="0"/>
              <a:t>In July 1972, and in each following July, we place every common stock listed on NYSE, AMEX, and Nasdaq into portfolios.</a:t>
            </a:r>
          </a:p>
          <a:p>
            <a:endParaRPr lang="en-US" altLang="zh-CN" dirty="0"/>
          </a:p>
          <a:p>
            <a:r>
              <a:rPr lang="en-US" altLang="zh-CN" dirty="0"/>
              <a:t>Data Criteria: We require that COMPUSTAT data be available for at least two years prior to the inclusion of the firm in the sample, and the firm have market value data available on CRSP at the end of December, and the end of June preceding the formation date. We require that firm have at least six monthly returns available on CRSP in the 12 months preceding the formation date. The portfolios are all value-weighted, buy-and-hold portfolios.</a:t>
            </a:r>
          </a:p>
          <a:p>
            <a:endParaRPr lang="en-US" altLang="zh-CN" dirty="0"/>
          </a:p>
          <a:p>
            <a:r>
              <a:rPr lang="en-US" altLang="zh-CN" dirty="0"/>
              <a:t>Triple-sort 125 portfolios based on each firm’s size, book-to-market ratio, and momentum. </a:t>
            </a:r>
            <a:endParaRPr lang="zh-CN" altLang="en-US" dirty="0"/>
          </a:p>
        </p:txBody>
      </p:sp>
    </p:spTree>
    <p:extLst>
      <p:ext uri="{BB962C8B-B14F-4D97-AF65-F5344CB8AC3E}">
        <p14:creationId xmlns:p14="http://schemas.microsoft.com/office/powerpoint/2010/main" val="3674607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9EB84-3BB0-242E-9891-A2540CF5B505}"/>
              </a:ext>
            </a:extLst>
          </p:cNvPr>
          <p:cNvSpPr>
            <a:spLocks noGrp="1"/>
          </p:cNvSpPr>
          <p:nvPr>
            <p:ph type="title"/>
          </p:nvPr>
        </p:nvSpPr>
        <p:spPr/>
        <p:txBody>
          <a:bodyPr/>
          <a:lstStyle/>
          <a:p>
            <a:r>
              <a:rPr lang="en-US" altLang="zh-CN" dirty="0"/>
              <a:t>125 benchmark portfolios </a:t>
            </a:r>
            <a:endParaRPr lang="zh-CN" altLang="en-US" dirty="0"/>
          </a:p>
        </p:txBody>
      </p:sp>
      <p:sp>
        <p:nvSpPr>
          <p:cNvPr id="3" name="内容占位符 2">
            <a:extLst>
              <a:ext uri="{FF2B5EF4-FFF2-40B4-BE49-F238E27FC236}">
                <a16:creationId xmlns:a16="http://schemas.microsoft.com/office/drawing/2014/main" id="{50C154AB-9391-F633-8D2F-1424A5016883}"/>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C56AE652-1206-4D28-5795-5D20BC02FAEE}"/>
              </a:ext>
            </a:extLst>
          </p:cNvPr>
          <p:cNvPicPr>
            <a:picLocks noChangeAspect="1"/>
          </p:cNvPicPr>
          <p:nvPr/>
        </p:nvPicPr>
        <p:blipFill>
          <a:blip r:embed="rId2"/>
          <a:stretch>
            <a:fillRect/>
          </a:stretch>
        </p:blipFill>
        <p:spPr>
          <a:xfrm>
            <a:off x="457200" y="1615440"/>
            <a:ext cx="7398130" cy="5035809"/>
          </a:xfrm>
          <a:prstGeom prst="rect">
            <a:avLst/>
          </a:prstGeom>
        </p:spPr>
      </p:pic>
    </p:spTree>
    <p:extLst>
      <p:ext uri="{BB962C8B-B14F-4D97-AF65-F5344CB8AC3E}">
        <p14:creationId xmlns:p14="http://schemas.microsoft.com/office/powerpoint/2010/main" val="867693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3201D0-BF7A-0694-FB13-58CBB6CE7A08}"/>
              </a:ext>
            </a:extLst>
          </p:cNvPr>
          <p:cNvSpPr>
            <a:spLocks noGrp="1"/>
          </p:cNvSpPr>
          <p:nvPr>
            <p:ph type="title"/>
          </p:nvPr>
        </p:nvSpPr>
        <p:spPr/>
        <p:txBody>
          <a:bodyPr/>
          <a:lstStyle/>
          <a:p>
            <a:r>
              <a:rPr lang="en-US" altLang="zh-CN" dirty="0"/>
              <a:t>Performance-Evaluation Method</a:t>
            </a:r>
            <a:endParaRPr lang="zh-CN" altLang="en-US" dirty="0"/>
          </a:p>
        </p:txBody>
      </p:sp>
      <p:sp>
        <p:nvSpPr>
          <p:cNvPr id="3" name="内容占位符 2">
            <a:extLst>
              <a:ext uri="{FF2B5EF4-FFF2-40B4-BE49-F238E27FC236}">
                <a16:creationId xmlns:a16="http://schemas.microsoft.com/office/drawing/2014/main" id="{79B416DD-9FA8-1871-FCDD-40905FF5D65A}"/>
              </a:ext>
            </a:extLst>
          </p:cNvPr>
          <p:cNvSpPr>
            <a:spLocks noGrp="1"/>
          </p:cNvSpPr>
          <p:nvPr>
            <p:ph idx="1"/>
          </p:nvPr>
        </p:nvSpPr>
        <p:spPr/>
        <p:txBody>
          <a:bodyPr/>
          <a:lstStyle/>
          <a:p>
            <a:r>
              <a:rPr lang="en-US" altLang="zh-CN" dirty="0"/>
              <a:t>CT: measure a fund manager’s success at timing the different investment styles, introduce a CT measure:</a:t>
            </a:r>
          </a:p>
          <a:p>
            <a:endParaRPr lang="en-US" altLang="zh-CN" dirty="0"/>
          </a:p>
          <a:p>
            <a:endParaRPr lang="en-US" altLang="zh-CN" dirty="0"/>
          </a:p>
          <a:p>
            <a:endParaRPr lang="en-US" altLang="zh-CN" dirty="0"/>
          </a:p>
          <a:p>
            <a:r>
              <a:rPr lang="en-US" altLang="zh-CN" dirty="0"/>
              <a:t>AS: to measure the returns earned by a fund due to that fund’s tendency to hold stocks with certain characteristics. </a:t>
            </a:r>
          </a:p>
          <a:p>
            <a:pPr marL="0" indent="0">
              <a:buNone/>
            </a:pPr>
            <a:endParaRPr lang="en-US" altLang="zh-CN" dirty="0"/>
          </a:p>
        </p:txBody>
      </p:sp>
      <p:pic>
        <p:nvPicPr>
          <p:cNvPr id="5" name="图片 4">
            <a:extLst>
              <a:ext uri="{FF2B5EF4-FFF2-40B4-BE49-F238E27FC236}">
                <a16:creationId xmlns:a16="http://schemas.microsoft.com/office/drawing/2014/main" id="{4D6E61EC-93DF-DA9D-FB51-5AE193D6B25C}"/>
              </a:ext>
            </a:extLst>
          </p:cNvPr>
          <p:cNvPicPr>
            <a:picLocks noChangeAspect="1"/>
          </p:cNvPicPr>
          <p:nvPr/>
        </p:nvPicPr>
        <p:blipFill>
          <a:blip r:embed="rId2"/>
          <a:stretch>
            <a:fillRect/>
          </a:stretch>
        </p:blipFill>
        <p:spPr>
          <a:xfrm>
            <a:off x="2438400" y="2286000"/>
            <a:ext cx="3962400" cy="794406"/>
          </a:xfrm>
          <a:prstGeom prst="rect">
            <a:avLst/>
          </a:prstGeom>
        </p:spPr>
      </p:pic>
      <p:pic>
        <p:nvPicPr>
          <p:cNvPr id="7" name="图片 6">
            <a:extLst>
              <a:ext uri="{FF2B5EF4-FFF2-40B4-BE49-F238E27FC236}">
                <a16:creationId xmlns:a16="http://schemas.microsoft.com/office/drawing/2014/main" id="{094CFA45-1756-F272-FFEA-74F632F02E1D}"/>
              </a:ext>
            </a:extLst>
          </p:cNvPr>
          <p:cNvPicPr>
            <a:picLocks noChangeAspect="1"/>
          </p:cNvPicPr>
          <p:nvPr/>
        </p:nvPicPr>
        <p:blipFill>
          <a:blip r:embed="rId3"/>
          <a:stretch>
            <a:fillRect/>
          </a:stretch>
        </p:blipFill>
        <p:spPr>
          <a:xfrm>
            <a:off x="2895600" y="4114800"/>
            <a:ext cx="2676604" cy="903284"/>
          </a:xfrm>
          <a:prstGeom prst="rect">
            <a:avLst/>
          </a:prstGeom>
        </p:spPr>
      </p:pic>
    </p:spTree>
    <p:extLst>
      <p:ext uri="{BB962C8B-B14F-4D97-AF65-F5344CB8AC3E}">
        <p14:creationId xmlns:p14="http://schemas.microsoft.com/office/powerpoint/2010/main" val="3034077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892273-5886-A05A-F38E-C452FA7B5A1D}"/>
              </a:ext>
            </a:extLst>
          </p:cNvPr>
          <p:cNvSpPr>
            <a:spLocks noGrp="1"/>
          </p:cNvSpPr>
          <p:nvPr>
            <p:ph type="title"/>
          </p:nvPr>
        </p:nvSpPr>
        <p:spPr/>
        <p:txBody>
          <a:bodyPr/>
          <a:lstStyle/>
          <a:p>
            <a:r>
              <a:rPr lang="en-US" altLang="zh-CN" dirty="0"/>
              <a:t>Performance-Evaluation Method</a:t>
            </a:r>
            <a:endParaRPr lang="zh-CN" altLang="en-US" dirty="0"/>
          </a:p>
        </p:txBody>
      </p:sp>
      <p:sp>
        <p:nvSpPr>
          <p:cNvPr id="3" name="内容占位符 2">
            <a:extLst>
              <a:ext uri="{FF2B5EF4-FFF2-40B4-BE49-F238E27FC236}">
                <a16:creationId xmlns:a16="http://schemas.microsoft.com/office/drawing/2014/main" id="{020D3971-65E3-6391-C847-73B274BC7775}"/>
              </a:ext>
            </a:extLst>
          </p:cNvPr>
          <p:cNvSpPr>
            <a:spLocks noGrp="1"/>
          </p:cNvSpPr>
          <p:nvPr>
            <p:ph idx="1"/>
          </p:nvPr>
        </p:nvSpPr>
        <p:spPr/>
        <p:txBody>
          <a:bodyPr/>
          <a:lstStyle/>
          <a:p>
            <a:r>
              <a:rPr lang="en-US" altLang="zh-CN" dirty="0"/>
              <a:t>GT Measure of Performance </a:t>
            </a:r>
          </a:p>
          <a:p>
            <a:endParaRPr lang="en-US" altLang="zh-CN" dirty="0"/>
          </a:p>
          <a:p>
            <a:endParaRPr lang="en-US" altLang="zh-CN" dirty="0"/>
          </a:p>
          <a:p>
            <a:endParaRPr lang="en-US" altLang="zh-CN" dirty="0"/>
          </a:p>
          <a:p>
            <a:r>
              <a:rPr lang="en-US" altLang="zh-CN" dirty="0"/>
              <a:t>Carhart Measure </a:t>
            </a:r>
          </a:p>
          <a:p>
            <a:pPr marL="0" indent="0">
              <a:buNone/>
            </a:pPr>
            <a:endParaRPr lang="zh-CN" altLang="en-US" dirty="0"/>
          </a:p>
        </p:txBody>
      </p:sp>
      <p:pic>
        <p:nvPicPr>
          <p:cNvPr id="5" name="图片 4">
            <a:extLst>
              <a:ext uri="{FF2B5EF4-FFF2-40B4-BE49-F238E27FC236}">
                <a16:creationId xmlns:a16="http://schemas.microsoft.com/office/drawing/2014/main" id="{DD99239F-462D-89AC-4032-5E952ADD99D7}"/>
              </a:ext>
            </a:extLst>
          </p:cNvPr>
          <p:cNvPicPr>
            <a:picLocks noChangeAspect="1"/>
          </p:cNvPicPr>
          <p:nvPr/>
        </p:nvPicPr>
        <p:blipFill>
          <a:blip r:embed="rId2"/>
          <a:stretch>
            <a:fillRect/>
          </a:stretch>
        </p:blipFill>
        <p:spPr>
          <a:xfrm>
            <a:off x="2286001" y="1981200"/>
            <a:ext cx="3733800" cy="899851"/>
          </a:xfrm>
          <a:prstGeom prst="rect">
            <a:avLst/>
          </a:prstGeom>
        </p:spPr>
      </p:pic>
      <p:pic>
        <p:nvPicPr>
          <p:cNvPr id="7" name="图片 6">
            <a:extLst>
              <a:ext uri="{FF2B5EF4-FFF2-40B4-BE49-F238E27FC236}">
                <a16:creationId xmlns:a16="http://schemas.microsoft.com/office/drawing/2014/main" id="{FFB7A88A-5B9F-1F3E-2B7C-8C78588175BB}"/>
              </a:ext>
            </a:extLst>
          </p:cNvPr>
          <p:cNvPicPr>
            <a:picLocks noChangeAspect="1"/>
          </p:cNvPicPr>
          <p:nvPr/>
        </p:nvPicPr>
        <p:blipFill>
          <a:blip r:embed="rId3"/>
          <a:stretch>
            <a:fillRect/>
          </a:stretch>
        </p:blipFill>
        <p:spPr>
          <a:xfrm>
            <a:off x="304800" y="3429000"/>
            <a:ext cx="8656320" cy="605886"/>
          </a:xfrm>
          <a:prstGeom prst="rect">
            <a:avLst/>
          </a:prstGeom>
        </p:spPr>
      </p:pic>
    </p:spTree>
    <p:extLst>
      <p:ext uri="{BB962C8B-B14F-4D97-AF65-F5344CB8AC3E}">
        <p14:creationId xmlns:p14="http://schemas.microsoft.com/office/powerpoint/2010/main" val="1189038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578DA0-059F-6A38-DACC-77D903A42AA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590FBCD-E118-657A-D4B2-C57E8927449C}"/>
              </a:ext>
            </a:extLst>
          </p:cNvPr>
          <p:cNvSpPr>
            <a:spLocks noGrp="1"/>
          </p:cNvSpPr>
          <p:nvPr>
            <p:ph idx="1"/>
          </p:nvPr>
        </p:nvSpPr>
        <p:spPr/>
        <p:txBody>
          <a:bodyPr/>
          <a:lstStyle/>
          <a:p>
            <a:endParaRPr lang="zh-CN" altLang="en-US"/>
          </a:p>
        </p:txBody>
      </p:sp>
      <p:pic>
        <p:nvPicPr>
          <p:cNvPr id="7" name="图片 6">
            <a:extLst>
              <a:ext uri="{FF2B5EF4-FFF2-40B4-BE49-F238E27FC236}">
                <a16:creationId xmlns:a16="http://schemas.microsoft.com/office/drawing/2014/main" id="{95E61965-D839-5EA7-EEDF-CFC75B62DFD3}"/>
              </a:ext>
            </a:extLst>
          </p:cNvPr>
          <p:cNvPicPr>
            <a:picLocks noChangeAspect="1"/>
          </p:cNvPicPr>
          <p:nvPr/>
        </p:nvPicPr>
        <p:blipFill>
          <a:blip r:embed="rId2"/>
          <a:stretch>
            <a:fillRect/>
          </a:stretch>
        </p:blipFill>
        <p:spPr>
          <a:xfrm>
            <a:off x="0" y="7620"/>
            <a:ext cx="5182735" cy="6477000"/>
          </a:xfrm>
          <a:prstGeom prst="rect">
            <a:avLst/>
          </a:prstGeom>
        </p:spPr>
      </p:pic>
      <p:pic>
        <p:nvPicPr>
          <p:cNvPr id="9" name="图片 8">
            <a:extLst>
              <a:ext uri="{FF2B5EF4-FFF2-40B4-BE49-F238E27FC236}">
                <a16:creationId xmlns:a16="http://schemas.microsoft.com/office/drawing/2014/main" id="{73306E19-1A7B-62EB-0D23-E2914C51D8D1}"/>
              </a:ext>
            </a:extLst>
          </p:cNvPr>
          <p:cNvPicPr>
            <a:picLocks noChangeAspect="1"/>
          </p:cNvPicPr>
          <p:nvPr/>
        </p:nvPicPr>
        <p:blipFill>
          <a:blip r:embed="rId3"/>
          <a:stretch>
            <a:fillRect/>
          </a:stretch>
        </p:blipFill>
        <p:spPr>
          <a:xfrm>
            <a:off x="5182735" y="2506512"/>
            <a:ext cx="3916259" cy="3624413"/>
          </a:xfrm>
          <a:prstGeom prst="rect">
            <a:avLst/>
          </a:prstGeom>
        </p:spPr>
      </p:pic>
    </p:spTree>
    <p:extLst>
      <p:ext uri="{BB962C8B-B14F-4D97-AF65-F5344CB8AC3E}">
        <p14:creationId xmlns:p14="http://schemas.microsoft.com/office/powerpoint/2010/main" val="2062814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8EB0DA-AA06-2451-17B6-960F4FD0A31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7024BFF-9966-CB26-BE6A-FAE4DA8F48F6}"/>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66199FB4-BACA-053E-0352-2E4687BCC658}"/>
              </a:ext>
            </a:extLst>
          </p:cNvPr>
          <p:cNvPicPr>
            <a:picLocks noChangeAspect="1"/>
          </p:cNvPicPr>
          <p:nvPr/>
        </p:nvPicPr>
        <p:blipFill>
          <a:blip r:embed="rId2"/>
          <a:stretch>
            <a:fillRect/>
          </a:stretch>
        </p:blipFill>
        <p:spPr>
          <a:xfrm>
            <a:off x="441960" y="381000"/>
            <a:ext cx="8064914" cy="5600988"/>
          </a:xfrm>
          <a:prstGeom prst="rect">
            <a:avLst/>
          </a:prstGeom>
        </p:spPr>
      </p:pic>
    </p:spTree>
    <p:extLst>
      <p:ext uri="{BB962C8B-B14F-4D97-AF65-F5344CB8AC3E}">
        <p14:creationId xmlns:p14="http://schemas.microsoft.com/office/powerpoint/2010/main" val="590697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27811D-8366-E855-C032-0F2F2B8177F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8401B4-9CCA-42C2-C5E9-4057D580D5EB}"/>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EE8D5639-E9A4-0E49-1834-35987BCBE12E}"/>
              </a:ext>
            </a:extLst>
          </p:cNvPr>
          <p:cNvPicPr>
            <a:picLocks noChangeAspect="1"/>
          </p:cNvPicPr>
          <p:nvPr/>
        </p:nvPicPr>
        <p:blipFill>
          <a:blip r:embed="rId2"/>
          <a:stretch>
            <a:fillRect/>
          </a:stretch>
        </p:blipFill>
        <p:spPr>
          <a:xfrm>
            <a:off x="457200" y="381000"/>
            <a:ext cx="7855354" cy="5607338"/>
          </a:xfrm>
          <a:prstGeom prst="rect">
            <a:avLst/>
          </a:prstGeom>
        </p:spPr>
      </p:pic>
    </p:spTree>
    <p:extLst>
      <p:ext uri="{BB962C8B-B14F-4D97-AF65-F5344CB8AC3E}">
        <p14:creationId xmlns:p14="http://schemas.microsoft.com/office/powerpoint/2010/main" val="1883597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23502-749B-1A31-4474-430CC390137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94492A2-CEBB-D42C-F308-AC88FB75E3CD}"/>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90B76184-91D4-B921-C0CA-874169B452C0}"/>
              </a:ext>
            </a:extLst>
          </p:cNvPr>
          <p:cNvPicPr>
            <a:picLocks noChangeAspect="1"/>
          </p:cNvPicPr>
          <p:nvPr/>
        </p:nvPicPr>
        <p:blipFill>
          <a:blip r:embed="rId2"/>
          <a:stretch>
            <a:fillRect/>
          </a:stretch>
        </p:blipFill>
        <p:spPr>
          <a:xfrm>
            <a:off x="568119" y="301464"/>
            <a:ext cx="8007762" cy="6255071"/>
          </a:xfrm>
          <a:prstGeom prst="rect">
            <a:avLst/>
          </a:prstGeom>
        </p:spPr>
      </p:pic>
    </p:spTree>
    <p:extLst>
      <p:ext uri="{BB962C8B-B14F-4D97-AF65-F5344CB8AC3E}">
        <p14:creationId xmlns:p14="http://schemas.microsoft.com/office/powerpoint/2010/main" val="3736305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333F5E-7D65-53EB-165E-FD8FB80E011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4A0363B-EFA7-1C6D-D4F7-B17B189B856B}"/>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1E2F5365-1698-99D2-4BFA-6D9E7E3F1D79}"/>
              </a:ext>
            </a:extLst>
          </p:cNvPr>
          <p:cNvPicPr>
            <a:picLocks noChangeAspect="1"/>
          </p:cNvPicPr>
          <p:nvPr/>
        </p:nvPicPr>
        <p:blipFill>
          <a:blip r:embed="rId2"/>
          <a:stretch>
            <a:fillRect/>
          </a:stretch>
        </p:blipFill>
        <p:spPr>
          <a:xfrm>
            <a:off x="1203959" y="0"/>
            <a:ext cx="6736081" cy="6858000"/>
          </a:xfrm>
          <a:prstGeom prst="rect">
            <a:avLst/>
          </a:prstGeom>
        </p:spPr>
      </p:pic>
    </p:spTree>
    <p:extLst>
      <p:ext uri="{BB962C8B-B14F-4D97-AF65-F5344CB8AC3E}">
        <p14:creationId xmlns:p14="http://schemas.microsoft.com/office/powerpoint/2010/main" val="2632251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FC982C-9A23-83AD-2551-6208E05AC79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B03909F-CABA-513F-8DAD-7DFFB6C6C19E}"/>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CCF84AA4-43A6-8C14-0747-298111319486}"/>
              </a:ext>
            </a:extLst>
          </p:cNvPr>
          <p:cNvPicPr>
            <a:picLocks noChangeAspect="1"/>
          </p:cNvPicPr>
          <p:nvPr/>
        </p:nvPicPr>
        <p:blipFill>
          <a:blip r:embed="rId2"/>
          <a:stretch>
            <a:fillRect/>
          </a:stretch>
        </p:blipFill>
        <p:spPr>
          <a:xfrm>
            <a:off x="838200" y="742315"/>
            <a:ext cx="6998060" cy="4978656"/>
          </a:xfrm>
          <a:prstGeom prst="rect">
            <a:avLst/>
          </a:prstGeom>
        </p:spPr>
      </p:pic>
    </p:spTree>
    <p:extLst>
      <p:ext uri="{BB962C8B-B14F-4D97-AF65-F5344CB8AC3E}">
        <p14:creationId xmlns:p14="http://schemas.microsoft.com/office/powerpoint/2010/main" val="6578977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Does Institutional Ownership Matter for International Stock Return Comovement?&amp;#x0D;&amp;#x0A;&amp;#x0D;&amp;#x0A;Faias, Ferreira, Matos and Santa-Cl&quot;/&gt;&lt;property id=&quot;20307&quot; value=&quot;256&quot;/&gt;&lt;/object&gt;&lt;object type=&quot;3&quot; unique_id=&quot;10005&quot;&gt;&lt;property id=&quot;20148&quot; value=&quot;5&quot;/&gt;&lt;property id=&quot;20300&quot; value=&quot;Slide 2 - &amp;quot;What’s the paper about?&amp;quot;&quot;/&gt;&lt;property id=&quot;20307&quot; value=&quot;510&quot;/&gt;&lt;/object&gt;&lt;object type=&quot;3&quot; unique_id=&quot;10006&quot;&gt;&lt;property id=&quot;20148&quot; value=&quot;5&quot;/&gt;&lt;property id=&quot;20300&quot; value=&quot;Slide 3 - &amp;quot;Empirical Design with Details&amp;quot;&quot;/&gt;&lt;property id=&quot;20307&quot; value=&quot;525&quot;/&gt;&lt;/object&gt;&lt;object type=&quot;3&quot; unique_id=&quot;10898&quot;&gt;&lt;property id=&quot;20148&quot; value=&quot;5&quot;/&gt;&lt;property id=&quot;20300&quot; value=&quot;Slide 6 - &amp;quot;Comments on Variance Decomposition&amp;quot;&quot;/&gt;&lt;property id=&quot;20307&quot; value=&quot;586&quot;/&gt;&lt;/object&gt;&lt;object type=&quot;3&quot; unique_id=&quot;10899&quot;&gt;&lt;property id=&quot;20148&quot; value=&quot;5&quot;/&gt;&lt;property id=&quot;20300&quot; value=&quot;Slide 7 - &amp;quot;Comments on Country vs. Industry&amp;quot;&quot;/&gt;&lt;property id=&quot;20307&quot; value=&quot;587&quot;/&gt;&lt;/object&gt;&lt;object type=&quot;3&quot; unique_id=&quot;10918&quot;&gt;&lt;property id=&quot;20148&quot; value=&quot;5&quot;/&gt;&lt;property id=&quot;20300&quot; value=&quot;Slide 4 - &amp;quot;Comments on The Return Process&amp;quot;&quot;/&gt;&lt;property id=&quot;20307&quot; value=&quot;588&quot;/&gt;&lt;/object&gt;&lt;object type=&quot;3&quot; unique_id=&quot;10919&quot;&gt;&lt;property id=&quot;20148&quot; value=&quot;5&quot;/&gt;&lt;property id=&quot;20300&quot; value=&quot;Slide 5 - &amp;quot;Comments on The Return Process&amp;quot;&quot;/&gt;&lt;property id=&quot;20307&quot; value=&quot;589&quot;/&gt;&lt;/object&gt;&lt;/object&gt;&lt;/object&gt;&lt;/database&gt;"/>
  <p:tag name="SECTOMILLISECCONVERTED" val="1"/>
</p:tagLst>
</file>

<file path=ppt/theme/theme1.xml><?xml version="1.0" encoding="utf-8"?>
<a:theme xmlns:a="http://schemas.openxmlformats.org/drawingml/2006/main" name="Edge">
  <a:themeElements>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solidFill>
            <a:schemeClr va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12700" cap="sq" cmpd="sng" algn="ctr">
          <a:solidFill>
            <a:schemeClr va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16693</TotalTime>
  <Words>1195</Words>
  <Application>Microsoft Office PowerPoint</Application>
  <PresentationFormat>全屏显示(4:3)</PresentationFormat>
  <Paragraphs>131</Paragraphs>
  <Slides>26</Slides>
  <Notes>3</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26</vt:i4>
      </vt:variant>
    </vt:vector>
  </HeadingPairs>
  <TitlesOfParts>
    <vt:vector size="38" baseType="lpstr">
      <vt:lpstr>TimesNewRomanPSMT</vt:lpstr>
      <vt:lpstr>等线</vt:lpstr>
      <vt:lpstr>等线 Light</vt:lpstr>
      <vt:lpstr>楷体</vt:lpstr>
      <vt:lpstr>Arial</vt:lpstr>
      <vt:lpstr>Cambria Math</vt:lpstr>
      <vt:lpstr>Garamond</vt:lpstr>
      <vt:lpstr>Palatino Linotype</vt:lpstr>
      <vt:lpstr>Times New Roman</vt:lpstr>
      <vt:lpstr>Wingdings</vt:lpstr>
      <vt:lpstr>Edge</vt:lpstr>
      <vt:lpstr>Office 主题​​</vt:lpstr>
      <vt:lpstr>实证资产定价:DGTW</vt:lpstr>
      <vt:lpstr>Measuring Mutual Fund Performance with Characteristic-Based Benchmarks JF1997</vt:lpstr>
      <vt:lpstr>作者</vt:lpstr>
      <vt:lpstr>Kent Daniel </vt:lpstr>
      <vt:lpstr>Mark Grinblatt</vt:lpstr>
      <vt:lpstr>Sheridan Titman</vt:lpstr>
      <vt:lpstr>Russ Wermers</vt:lpstr>
      <vt:lpstr>出版细节</vt:lpstr>
      <vt:lpstr>Abstract </vt:lpstr>
      <vt:lpstr>Motivation</vt:lpstr>
      <vt:lpstr>Previous literature </vt:lpstr>
      <vt:lpstr>This paper </vt:lpstr>
      <vt:lpstr>Mutual Fund Data </vt:lpstr>
      <vt:lpstr>PowerPoint 演示文稿</vt:lpstr>
      <vt:lpstr>Performance-Evaluation Method</vt:lpstr>
      <vt:lpstr>Performance-Evaluation Method</vt:lpstr>
      <vt:lpstr>125 benchmark portfolios </vt:lpstr>
      <vt:lpstr>125 benchmark portfolios </vt:lpstr>
      <vt:lpstr>Performance-Evaluation Method</vt:lpstr>
      <vt:lpstr>Performance-Evaluation Method</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shorts are informed?</dc:title>
  <dc:creator>Charles Jones</dc:creator>
  <cp:lastModifiedBy>Xinran Zhang</cp:lastModifiedBy>
  <cp:revision>1470</cp:revision>
  <cp:lastPrinted>2021-02-24T04:19:35Z</cp:lastPrinted>
  <dcterms:created xsi:type="dcterms:W3CDTF">2004-04-12T07:19:58Z</dcterms:created>
  <dcterms:modified xsi:type="dcterms:W3CDTF">2023-12-06T15:54:30Z</dcterms:modified>
</cp:coreProperties>
</file>