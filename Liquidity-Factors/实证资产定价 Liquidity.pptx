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9"/>
  </p:notesMasterIdLst>
  <p:sldIdLst>
    <p:sldId id="495" r:id="rId2"/>
    <p:sldId id="496" r:id="rId3"/>
    <p:sldId id="536" r:id="rId4"/>
    <p:sldId id="534" r:id="rId5"/>
    <p:sldId id="540" r:id="rId6"/>
    <p:sldId id="535" r:id="rId7"/>
    <p:sldId id="537" r:id="rId8"/>
    <p:sldId id="544" r:id="rId9"/>
    <p:sldId id="545" r:id="rId10"/>
    <p:sldId id="546" r:id="rId11"/>
    <p:sldId id="538" r:id="rId12"/>
    <p:sldId id="539" r:id="rId13"/>
    <p:sldId id="547" r:id="rId14"/>
    <p:sldId id="541" r:id="rId15"/>
    <p:sldId id="548" r:id="rId16"/>
    <p:sldId id="549" r:id="rId17"/>
    <p:sldId id="550" r:id="rId18"/>
    <p:sldId id="542" r:id="rId19"/>
    <p:sldId id="551" r:id="rId20"/>
    <p:sldId id="554" r:id="rId21"/>
    <p:sldId id="553" r:id="rId22"/>
    <p:sldId id="557" r:id="rId23"/>
    <p:sldId id="558" r:id="rId24"/>
    <p:sldId id="552" r:id="rId25"/>
    <p:sldId id="543" r:id="rId26"/>
    <p:sldId id="555" r:id="rId27"/>
    <p:sldId id="556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2" autoAdjust="0"/>
    <p:restoredTop sz="88497" autoAdjust="0"/>
  </p:normalViewPr>
  <p:slideViewPr>
    <p:cSldViewPr snapToGrid="0">
      <p:cViewPr varScale="1">
        <p:scale>
          <a:sx n="97" d="100"/>
          <a:sy n="97" d="100"/>
        </p:scale>
        <p:origin x="1692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84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71453-D87E-4964-8F45-56EDCD33A6E5}" type="datetimeFigureOut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8C854-9103-4B6E-8C5D-7DA0E450B2B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16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C854-9103-4B6E-8C5D-7DA0E450B2B1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799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https://www.stern.nyu.edu/faculty/bio/yakov-amihud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C854-9103-4B6E-8C5D-7DA0E450B2B1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93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A39BA-FB70-4A9B-9BA8-FE4183E3BF9A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8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10000"/>
              </a:lnSpc>
              <a:defRPr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  <a:lvl2pPr>
              <a:lnSpc>
                <a:spcPct val="110000"/>
              </a:lnSpc>
              <a:defRPr sz="2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2pPr>
            <a:lvl3pPr>
              <a:lnSpc>
                <a:spcPct val="110000"/>
              </a:lnSpc>
              <a:defRPr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3pPr>
            <a:lvl4pPr>
              <a:lnSpc>
                <a:spcPct val="110000"/>
              </a:lnSpc>
              <a:defRPr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4pPr>
            <a:lvl5pPr>
              <a:lnSpc>
                <a:spcPct val="110000"/>
              </a:lnSpc>
              <a:defRPr sz="18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28650" y="1391237"/>
            <a:ext cx="3002213" cy="4426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F126E-3794-4A67-9751-76DBFF34F24C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05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912C-6813-4866-9E70-7744921D3EA3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77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D633D-9783-4122-998D-F2F20E3F4FB3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82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DEC37-8992-4087-8CFF-D9C58924DE32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67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3BBB-C54B-4BB8-AAB4-1CEB1E65999F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5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729-F3E2-4EF1-AFC8-48B03F74DCFE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10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6B65-601F-4493-AC8C-B60F1760F862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65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8F8B-19B4-408F-B12C-C76EE6A13EF7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966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44F09-B309-4A2A-B52B-02857A7590E7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448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746C0-BD57-401A-8B7E-1C3E1474CD48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956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3AEA0-715D-4C26-8D29-976564D38CA2}" type="datetime1">
              <a:rPr lang="zh-CN" altLang="en-US" smtClean="0"/>
              <a:pPr/>
              <a:t>2023-11-6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8FB65-3BD5-40D7-AE55-18F1AFE317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46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96253" y="2640932"/>
            <a:ext cx="8874531" cy="1817149"/>
          </a:xfrm>
        </p:spPr>
        <p:txBody>
          <a:bodyPr>
            <a:normAutofit/>
          </a:bodyPr>
          <a:lstStyle/>
          <a:p>
            <a:r>
              <a:rPr lang="zh-CN" altLang="en-US" sz="5400" dirty="0">
                <a:latin typeface="楷体" panose="02010609060101010101" pitchFamily="49" charset="-122"/>
                <a:ea typeface="楷体" panose="02010609060101010101" pitchFamily="49" charset="-122"/>
              </a:rPr>
              <a:t>实证资产定价</a:t>
            </a:r>
            <a:r>
              <a:rPr lang="en-US" altLang="zh-CN" sz="5400" dirty="0">
                <a:latin typeface="楷体" panose="02010609060101010101" pitchFamily="49" charset="-122"/>
                <a:ea typeface="楷体" panose="02010609060101010101" pitchFamily="49" charset="-122"/>
              </a:rPr>
              <a:t>:Liquidity</a:t>
            </a:r>
            <a:endParaRPr lang="zh-CN" altLang="en-US" sz="5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78" y="4923492"/>
            <a:ext cx="6858000" cy="1447800"/>
          </a:xfrm>
        </p:spPr>
        <p:txBody>
          <a:bodyPr>
            <a:noAutofit/>
          </a:bodyPr>
          <a:lstStyle/>
          <a:p>
            <a:pPr algn="r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张欣然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r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中央财经大学金融学院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r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邮箱：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zhangxinran@cufe.edu.cn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962400" y="4613218"/>
            <a:ext cx="5181600" cy="0"/>
          </a:xfrm>
          <a:prstGeom prst="line">
            <a:avLst/>
          </a:prstGeom>
          <a:ln w="571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15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9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499D881-9A4A-94E9-8C30-09039B1DC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 JFM</a:t>
            </a:r>
          </a:p>
          <a:p>
            <a:endParaRPr lang="en-US" altLang="zh-CN" dirty="0"/>
          </a:p>
          <a:p>
            <a:r>
              <a:rPr lang="zh-CN" altLang="en-US" dirty="0"/>
              <a:t>流动性指标复制编程代码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推荐阅读：流动性后续研究</a:t>
            </a:r>
            <a:endParaRPr lang="en-US" altLang="zh-CN" dirty="0"/>
          </a:p>
          <a:p>
            <a:pPr lvl="1"/>
            <a:r>
              <a:rPr lang="zh-CN" altLang="en-US" dirty="0"/>
              <a:t>流动性的后续研究</a:t>
            </a:r>
            <a:endParaRPr lang="en-US" altLang="zh-CN" dirty="0"/>
          </a:p>
          <a:p>
            <a:pPr lvl="1"/>
            <a:r>
              <a:rPr lang="zh-CN" altLang="en-US" dirty="0"/>
              <a:t>流动性在中国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B3522C0-CC1F-6E0F-E8A8-0A5A0997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本节授课内容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05E8CD-4E53-E7CD-7D0F-4C9F7055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328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8B93484-D135-9508-848B-EE191292C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</a:t>
            </a:r>
          </a:p>
          <a:p>
            <a:r>
              <a:rPr lang="zh-CN" altLang="en-US" dirty="0"/>
              <a:t>非流动性（</a:t>
            </a:r>
            <a:r>
              <a:rPr lang="en-US" altLang="zh-CN" dirty="0"/>
              <a:t>Illiquidity</a:t>
            </a:r>
            <a:r>
              <a:rPr lang="zh-CN" altLang="en-US" dirty="0"/>
              <a:t>）高的股票未来收益率高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EEF7B1-8DF7-9EE7-76D8-03F60689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流动性 </a:t>
            </a:r>
            <a:r>
              <a:rPr lang="en-US" altLang="zh-CN" dirty="0"/>
              <a:t>Liquidity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4ED04B-4256-6751-1288-5DC832CD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755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7FE88BE-2FD5-BAB2-60D6-2DC89C94E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0B43112-7E31-4D5A-849C-0CDA76C9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论文信息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4A331B-2472-D7A3-40E7-EDFD0E45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FF99E7-FBBE-3A3A-47A8-6BB4FE32C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5525453"/>
            <a:ext cx="7886700" cy="13030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82B679-4302-E6CA-BAAA-F251FDD9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424893"/>
            <a:ext cx="6633923" cy="39656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94836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EE57A44-EB96-BC55-7D29-09E6301A2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3926597-CAAD-7AFC-D1CC-618222B6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67DF30-879F-AFCD-E613-2318B1AF7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83F6F1-D0D8-7E31-85A9-4D355ED86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6921" cy="64928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62FBC25-ED2D-C547-9A36-8040E2BBB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921" y="0"/>
            <a:ext cx="3351560" cy="46146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3598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44EB9B3-56ED-11E8-CFDF-3263DB537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400" dirty="0"/>
              <a:t>工作职位：</a:t>
            </a:r>
            <a:endParaRPr lang="en-US" altLang="zh-CN" sz="2400" dirty="0"/>
          </a:p>
          <a:p>
            <a:r>
              <a:rPr lang="en-US" altLang="zh-CN" sz="2400" dirty="0"/>
              <a:t>Leonard N. Stern School of Business,</a:t>
            </a:r>
            <a:r>
              <a:rPr lang="zh-CN" altLang="en-US" sz="2400" dirty="0"/>
              <a:t> </a:t>
            </a:r>
            <a:r>
              <a:rPr lang="en-US" altLang="zh-CN" sz="2400" dirty="0"/>
              <a:t>NYU</a:t>
            </a:r>
          </a:p>
          <a:p>
            <a:r>
              <a:rPr lang="en-US" altLang="zh-CN" sz="2400" dirty="0"/>
              <a:t>Ira </a:t>
            </a:r>
            <a:r>
              <a:rPr lang="en-US" altLang="zh-CN" sz="2400" dirty="0" err="1"/>
              <a:t>Rennert</a:t>
            </a:r>
            <a:r>
              <a:rPr lang="en-US" altLang="zh-CN" sz="2400" dirty="0"/>
              <a:t> Professor of Entrepreneurial Finance</a:t>
            </a:r>
          </a:p>
          <a:p>
            <a:r>
              <a:rPr lang="zh-CN" altLang="en-US" sz="2400" dirty="0"/>
              <a:t>教育背景：</a:t>
            </a:r>
            <a:endParaRPr lang="en-US" altLang="zh-CN" sz="2400" dirty="0"/>
          </a:p>
          <a:p>
            <a:r>
              <a:rPr lang="en-US" altLang="zh-CN" sz="2400" dirty="0"/>
              <a:t>1975 Doctor of Philosophy in Business Administration, New York University</a:t>
            </a:r>
          </a:p>
          <a:p>
            <a:r>
              <a:rPr lang="en-US" altLang="zh-CN" sz="2400" dirty="0"/>
              <a:t>1973 Master of Science in Business Administration, New York University</a:t>
            </a:r>
          </a:p>
          <a:p>
            <a:r>
              <a:rPr lang="en-US" altLang="zh-CN" sz="2400" dirty="0"/>
              <a:t>1969 Bachelor of Social Science, Hebrew University, Jerusalem, Israel</a:t>
            </a:r>
            <a:endParaRPr lang="zh-CN" altLang="en-US" sz="2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C333FEF-519E-4619-9DCA-3533D71E7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Yakov </a:t>
            </a:r>
            <a:r>
              <a:rPr lang="en-US" altLang="zh-CN" dirty="0" err="1"/>
              <a:t>Amihud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C90229-A569-8B8F-3F7E-74B90D9B1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5" name="AutoShape 2" descr="Yakov Amihud">
            <a:extLst>
              <a:ext uri="{FF2B5EF4-FFF2-40B4-BE49-F238E27FC236}">
                <a16:creationId xmlns:a16="http://schemas.microsoft.com/office/drawing/2014/main" id="{50B5F027-B040-F8FD-7EBD-C6926DBA4C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1652279" cy="1652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7834BA-F999-8BEC-54CC-BC1A50EF5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279" y="136524"/>
            <a:ext cx="1862613" cy="210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0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DB6EC13-8749-BE79-EC95-48A607A11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sz="2800" dirty="0"/>
              <a:t>研究范围：</a:t>
            </a:r>
            <a:r>
              <a:rPr lang="en-US" altLang="zh-CN" sz="2800" dirty="0"/>
              <a:t>Evaluation of corporate financial policies, mergers and acquisitions, initial public offerings, objectives of corporate managers, dividend policy, and law and finance</a:t>
            </a:r>
          </a:p>
          <a:p>
            <a:r>
              <a:rPr lang="zh-CN" altLang="en-US" sz="2800" dirty="0"/>
              <a:t>研究专长：</a:t>
            </a:r>
            <a:r>
              <a:rPr lang="en-US" altLang="zh-CN" sz="2800" dirty="0"/>
              <a:t>The effects of </a:t>
            </a:r>
            <a:r>
              <a:rPr lang="en-US" altLang="zh-CN" sz="2800" b="1" dirty="0"/>
              <a:t>liquidity</a:t>
            </a:r>
            <a:r>
              <a:rPr lang="en-US" altLang="zh-CN" sz="2800" dirty="0"/>
              <a:t> of assets on their returns and values, and the design and evaluation of securities markets' trading methods. On these topics, </a:t>
            </a:r>
            <a:r>
              <a:rPr lang="en-US" altLang="zh-CN" sz="2800" dirty="0" err="1"/>
              <a:t>Amihud</a:t>
            </a:r>
            <a:r>
              <a:rPr lang="en-US" altLang="zh-CN" sz="2800" dirty="0"/>
              <a:t> has done consulting work for the </a:t>
            </a:r>
            <a:r>
              <a:rPr lang="en-US" altLang="zh-CN" sz="2800" b="1" dirty="0"/>
              <a:t>NYSE, AMEX, CBOE, CBOT</a:t>
            </a:r>
            <a:r>
              <a:rPr lang="en-US" altLang="zh-CN" sz="2800" dirty="0"/>
              <a:t>, and other securities markets.</a:t>
            </a:r>
          </a:p>
          <a:p>
            <a:endParaRPr lang="zh-CN" altLang="en-US" sz="2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DB02B26-DDA3-75DE-CEA7-1BEBAE691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Yakov </a:t>
            </a:r>
            <a:r>
              <a:rPr lang="en-US" altLang="zh-CN" dirty="0" err="1"/>
              <a:t>Amihud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8198D8-C96B-9197-ADD3-EB4889DE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5724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B661EC9-D647-58C1-2333-62B6CB6FD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Liquidity is an elusive concept</a:t>
            </a:r>
          </a:p>
          <a:p>
            <a:r>
              <a:rPr lang="en-US" altLang="zh-CN" sz="2800" b="1" dirty="0"/>
              <a:t>Illiquidity</a:t>
            </a:r>
            <a:r>
              <a:rPr lang="en-US" altLang="zh-CN" sz="2800" dirty="0"/>
              <a:t>:</a:t>
            </a:r>
            <a:r>
              <a:rPr lang="en-US" altLang="zh-CN" sz="2800" b="1" dirty="0"/>
              <a:t> </a:t>
            </a:r>
            <a:r>
              <a:rPr lang="en-US" altLang="zh-CN" sz="2800" dirty="0"/>
              <a:t>the impact of order flow on price, the discount that a seller concedes or the premium that a buyer pays when executing a market order.</a:t>
            </a:r>
          </a:p>
          <a:p>
            <a:r>
              <a:rPr lang="en-US" altLang="zh-CN" sz="2800" b="1" dirty="0"/>
              <a:t>Price impact</a:t>
            </a:r>
            <a:r>
              <a:rPr lang="en-US" altLang="zh-CN" sz="2800" dirty="0"/>
              <a:t>: Larger excess demand induces a greater impact on prices, reflecting a likely action of informed traders. (Easley and O’Hara, 1987)</a:t>
            </a:r>
          </a:p>
          <a:p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33C74C3-678C-DD92-AFB9-AEE25309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Liquidity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81FBA1-56F5-8751-8AD2-EBA3BB62F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738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43FC28E-E7AB-A58D-39FD-32311064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b="1" dirty="0"/>
              <a:t>Kyle (1985) </a:t>
            </a:r>
            <a:r>
              <a:rPr lang="en-US" altLang="zh-CN" sz="2800" dirty="0"/>
              <a:t>because market makers cannot distinguish between order flow that is generated by informed traders and by liquidity (noise) traders, they set prices that are an </a:t>
            </a:r>
            <a:r>
              <a:rPr lang="en-US" altLang="zh-CN" sz="2800" b="1" dirty="0"/>
              <a:t>increasing</a:t>
            </a:r>
            <a:r>
              <a:rPr lang="en-US" altLang="zh-CN" sz="2800" dirty="0"/>
              <a:t> function of the imbalance in the order flow that indicate informed trading. </a:t>
            </a:r>
          </a:p>
          <a:p>
            <a:r>
              <a:rPr lang="en-US" altLang="zh-CN" sz="2800" dirty="0"/>
              <a:t>A positive relationship between the order flow and price change, commonly called the price impact.</a:t>
            </a:r>
            <a:endParaRPr lang="zh-CN" altLang="en-US" sz="2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B0C728-956C-3847-26D8-EA28AA06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Liquidity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6A7C35-24A8-08F1-5DB4-717A5E64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616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5D5364C-CCC5-FA3E-3718-12045924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Previous illiquidity measures </a:t>
            </a:r>
          </a:p>
          <a:p>
            <a:pPr lvl="1"/>
            <a:r>
              <a:rPr lang="en-US" altLang="zh-CN" dirty="0"/>
              <a:t>Quoted spread </a:t>
            </a:r>
          </a:p>
          <a:p>
            <a:pPr lvl="1"/>
            <a:r>
              <a:rPr lang="en-US" altLang="zh-CN" dirty="0"/>
              <a:t>Effective spread</a:t>
            </a:r>
          </a:p>
          <a:p>
            <a:pPr lvl="1"/>
            <a:r>
              <a:rPr lang="en-US" altLang="zh-CN" dirty="0"/>
              <a:t>Price impact </a:t>
            </a:r>
          </a:p>
          <a:p>
            <a:pPr lvl="1"/>
            <a:r>
              <a:rPr lang="en-US" altLang="zh-CN" dirty="0"/>
              <a:t>PIN</a:t>
            </a:r>
          </a:p>
          <a:p>
            <a:pPr lvl="1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A801E86-EAF2-1EF6-5BA8-78B2DB276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Liquidity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BD478E-8086-5069-0A0B-F7A858ED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158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E0D3B32-D80F-652D-CDD1-13393878B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err="1"/>
              <a:t>Amihud</a:t>
            </a:r>
            <a:r>
              <a:rPr lang="en-US" altLang="zh-CN" sz="2800" dirty="0"/>
              <a:t> and Mendelson 1986: positive return-illiquidity relationship (cross-section)</a:t>
            </a:r>
          </a:p>
          <a:p>
            <a:endParaRPr lang="en-US" altLang="zh-CN" sz="2800" dirty="0"/>
          </a:p>
          <a:p>
            <a:r>
              <a:rPr lang="en-US" altLang="zh-CN" sz="2800" dirty="0" err="1"/>
              <a:t>Amihud</a:t>
            </a:r>
            <a:r>
              <a:rPr lang="en-US" altLang="zh-CN" sz="2800" dirty="0"/>
              <a:t> 2002 examines over time:</a:t>
            </a:r>
          </a:p>
          <a:p>
            <a:pPr lvl="1"/>
            <a:r>
              <a:rPr lang="en-US" altLang="zh-CN" sz="2400" i="1" dirty="0"/>
              <a:t>Over time, the ex ante stock excess return is increasing in the expected illiquidity of the stock market.</a:t>
            </a:r>
          </a:p>
          <a:p>
            <a:endParaRPr lang="zh-CN" altLang="en-US" sz="2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6E3AB0-6F62-EB26-69A9-6E39738C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045CFE-69B2-65EA-A2F0-22FEDD43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806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2BD61E7-DE85-8116-40D6-A4BE42B382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 b="1" dirty="0"/>
                  <a:t>New Measure: </a:t>
                </a:r>
                <a:r>
                  <a:rPr lang="en-US" altLang="zh-CN" b="1" i="1" dirty="0"/>
                  <a:t>ILLIQ</a:t>
                </a:r>
              </a:p>
              <a:p>
                <a:pPr lvl="1"/>
                <a:r>
                  <a:rPr lang="en-US" altLang="zh-CN" dirty="0"/>
                  <a:t>Stock illiquidity: average ratio of daily absolute return to the dollar trading volume on that day</a:t>
                </a:r>
              </a:p>
              <a:p>
                <a:pPr lvl="1"/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𝑖𝑦𝑑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𝑉𝑂𝐿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𝑖𝑦𝑑</m:t>
                        </m:r>
                      </m:sub>
                    </m:sSub>
                  </m:oMath>
                </a14:m>
                <a:r>
                  <a:rPr lang="en-US" altLang="zh-CN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𝑖𝑦𝑑</m:t>
                        </m:r>
                      </m:sub>
                    </m:sSub>
                  </m:oMath>
                </a14:m>
                <a:r>
                  <a:rPr lang="en-US" altLang="zh-CN" dirty="0"/>
                  <a:t> is the return on stock </a:t>
                </a:r>
                <a:r>
                  <a:rPr lang="en-US" altLang="zh-CN" i="1" dirty="0" err="1"/>
                  <a:t>i</a:t>
                </a:r>
                <a:r>
                  <a:rPr lang="en-US" altLang="zh-CN" dirty="0"/>
                  <a:t> and day </a:t>
                </a:r>
                <a:r>
                  <a:rPr lang="en-US" altLang="zh-CN" i="1" dirty="0"/>
                  <a:t>d</a:t>
                </a:r>
                <a:r>
                  <a:rPr lang="en-US" altLang="zh-CN" dirty="0"/>
                  <a:t> of year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, 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𝑉𝑂𝐿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𝑖𝑦𝑑</m:t>
                        </m:r>
                      </m:sub>
                    </m:sSub>
                  </m:oMath>
                </a14:m>
                <a:r>
                  <a:rPr lang="en-US" altLang="zh-CN" dirty="0"/>
                  <a:t> is the daily volume in dollars.</a:t>
                </a:r>
              </a:p>
              <a:p>
                <a:pPr lvl="1"/>
                <a:r>
                  <a:rPr lang="en-US" altLang="zh-CN" dirty="0"/>
                  <a:t>The absolute (percentage) change per dollar of daily trading volume (Kyle’s illiquidity, the response of price to order flow)</a:t>
                </a:r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2BD61E7-DE85-8116-40D6-A4BE42B382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7" t="-1961" b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D5B5CF0C-41B9-6180-E024-F75B5D6C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8408E9-59FB-D1C6-7DC3-6B201BEA9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201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15D60E9-F6E1-375F-D734-ABA91561B5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b="1" dirty="0"/>
                  <a:t>New Measure: </a:t>
                </a:r>
                <a:r>
                  <a:rPr lang="en-US" altLang="zh-CN" b="1" i="1" dirty="0"/>
                  <a:t>ILLIQ</a:t>
                </a:r>
              </a:p>
              <a:p>
                <a:pPr lvl="1"/>
                <a:r>
                  <a:rPr lang="en-US" altLang="zh-CN" dirty="0"/>
                  <a:t>The cross sectional study: for each stock </a:t>
                </a:r>
                <a:r>
                  <a:rPr lang="en-US" altLang="zh-CN" i="1" dirty="0" err="1"/>
                  <a:t>i</a:t>
                </a:r>
                <a:r>
                  <a:rPr lang="en-US" altLang="zh-CN" dirty="0"/>
                  <a:t> the annual average: </a:t>
                </a:r>
              </a:p>
              <a:p>
                <a:pPr marL="342900" lvl="1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𝐼𝐿𝐿𝐼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𝑖𝑦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𝑖𝑦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𝑖𝑦</m:t>
                            </m:r>
                          </m:sub>
                        </m:sSub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𝑖𝑦𝑑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𝑉𝑂𝐿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𝑖𝑦𝑑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dirty="0"/>
                  <a:t>      (1)</a:t>
                </a:r>
              </a:p>
              <a:p>
                <a:pPr lvl="1"/>
                <a:r>
                  <a:rPr lang="en-US" altLang="zh-CN" dirty="0"/>
                  <a:t>where the number of days for which data are available for stock </a:t>
                </a:r>
                <a:r>
                  <a:rPr lang="en-US" altLang="zh-CN" i="1" dirty="0" err="1"/>
                  <a:t>i</a:t>
                </a:r>
                <a:r>
                  <a:rPr lang="en-US" altLang="zh-CN" dirty="0"/>
                  <a:t> in year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15D60E9-F6E1-375F-D734-ABA91561B5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7" t="-1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C24A7164-D4C0-10C6-3136-54BC25B14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F2AE57-FFB7-900D-7BA6-154AE6C9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536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E8226BE-3E36-1B18-E31A-80C417D7C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Why new measure?</a:t>
            </a:r>
          </a:p>
          <a:p>
            <a:pPr lvl="1"/>
            <a:r>
              <a:rPr lang="en-US" altLang="zh-CN" dirty="0"/>
              <a:t>There are finer and better measures of illiquidity, such as bid ask spread (quoted or effective), transaction-by-transaction market impact or the probability of information-based trading (PIN)</a:t>
            </a:r>
          </a:p>
          <a:p>
            <a:pPr lvl="1"/>
            <a:r>
              <a:rPr lang="en-US" altLang="zh-CN" dirty="0"/>
              <a:t>These measures require a lot of microstructure data that are not available in many stock markets.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8A2CEA0-8D79-78A9-7E76-E219F685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8C89EB-9C60-A444-4DAD-ED71B170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229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60AABD1-275B-0366-B451-C13B6A0FCA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3200" b="1" dirty="0"/>
                  <a:t>Empirical methodology:</a:t>
                </a:r>
              </a:p>
              <a:p>
                <a:pPr lvl="1"/>
                <a:r>
                  <a:rPr lang="en-US" altLang="zh-CN" dirty="0"/>
                  <a:t>NYSE stocks, 1964-1997</a:t>
                </a:r>
              </a:p>
              <a:p>
                <a:pPr lvl="1"/>
                <a:r>
                  <a:rPr lang="en-US" altLang="zh-CN" dirty="0" err="1"/>
                  <a:t>Fama</a:t>
                </a:r>
                <a:r>
                  <a:rPr lang="en-US" altLang="zh-CN" dirty="0"/>
                  <a:t> MacBeth (1973) regression </a:t>
                </a:r>
              </a:p>
              <a:p>
                <a:pPr lvl="1"/>
                <a:r>
                  <a:rPr lang="en-US" altLang="zh-CN" dirty="0"/>
                  <a:t>For each month m in year y, estimate the cross-section model:</a:t>
                </a:r>
              </a:p>
              <a:p>
                <a:pPr marL="3429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𝑖𝑚𝑦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𝑚𝑦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𝑗𝑚𝑦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𝑖𝑚𝑦</m:t>
                        </m:r>
                      </m:sub>
                    </m:sSub>
                  </m:oMath>
                </a14:m>
                <a:r>
                  <a:rPr lang="en-US" altLang="zh-CN" dirty="0"/>
                  <a:t> (2)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60AABD1-275B-0366-B451-C13B6A0FCA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7" t="-1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755F971C-CB62-2117-45E0-2D81DBD34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EC7983-816D-3999-49C1-8EBAFE24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872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7780DDD-0E9B-542F-5571-CA268E2C0B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zh-CN" sz="3300" b="1" dirty="0"/>
                  <a:t>Filters</a:t>
                </a:r>
                <a:r>
                  <a:rPr lang="en-US" altLang="zh-CN" sz="3300" dirty="0"/>
                  <a:t>: Stocks</a:t>
                </a:r>
                <a:r>
                  <a:rPr lang="zh-CN" altLang="en-US" sz="3300" dirty="0"/>
                  <a:t> </a:t>
                </a:r>
                <a:r>
                  <a:rPr lang="en-US" altLang="zh-CN" sz="3300" dirty="0"/>
                  <a:t>have</a:t>
                </a:r>
                <a:r>
                  <a:rPr lang="zh-CN" altLang="en-US" sz="3300" dirty="0"/>
                  <a:t> </a:t>
                </a:r>
                <a:r>
                  <a:rPr lang="en-US" altLang="zh-CN" sz="3300" dirty="0"/>
                  <a:t>a</a:t>
                </a:r>
                <a:r>
                  <a:rPr lang="zh-CN" altLang="en-US" sz="3300" dirty="0"/>
                  <a:t> </a:t>
                </a:r>
                <a:r>
                  <a:rPr lang="en-US" altLang="zh-CN" sz="3300" dirty="0"/>
                  <a:t>return</a:t>
                </a:r>
                <a:r>
                  <a:rPr lang="zh-CN" altLang="en-US" sz="3300" dirty="0"/>
                  <a:t> </a:t>
                </a:r>
                <a:r>
                  <a:rPr lang="en-US" altLang="zh-CN" sz="3300" dirty="0"/>
                  <a:t>for</a:t>
                </a:r>
                <a:r>
                  <a:rPr lang="zh-CN" altLang="en-US" sz="3300" dirty="0"/>
                  <a:t> </a:t>
                </a:r>
                <a:r>
                  <a:rPr lang="en-US" altLang="zh-CN" sz="3300" dirty="0"/>
                  <a:t>that</a:t>
                </a:r>
                <a:r>
                  <a:rPr lang="zh-CN" altLang="en-US" sz="3300" dirty="0"/>
                  <a:t> </a:t>
                </a:r>
                <a:r>
                  <a:rPr lang="en-US" altLang="zh-CN" sz="3300" dirty="0"/>
                  <a:t>month</a:t>
                </a:r>
              </a:p>
              <a:p>
                <a:pPr lvl="1"/>
                <a:r>
                  <a:rPr lang="en-US" altLang="zh-CN" dirty="0"/>
                  <a:t>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) The stock has return and volume data for more than 200 days during year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-1.</a:t>
                </a:r>
              </a:p>
              <a:p>
                <a:pPr lvl="1"/>
                <a:r>
                  <a:rPr lang="en-US" altLang="zh-CN" dirty="0"/>
                  <a:t>(ii) The stock price is greater than $5 at the end of year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-1.</a:t>
                </a:r>
              </a:p>
              <a:p>
                <a:pPr lvl="1"/>
                <a:r>
                  <a:rPr lang="en-US" altLang="zh-CN" dirty="0"/>
                  <a:t>(iii) The stock has data on market cap at the end of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-1</a:t>
                </a:r>
              </a:p>
              <a:p>
                <a:pPr lvl="1"/>
                <a:r>
                  <a:rPr lang="en-US" altLang="zh-CN" dirty="0"/>
                  <a:t>(iv) Outliers are eliminated: stock whose estimated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𝐼𝐿𝐿𝐼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𝑖𝑦</m:t>
                        </m:r>
                      </m:sub>
                    </m:sSub>
                  </m:oMath>
                </a14:m>
                <a:r>
                  <a:rPr lang="en-US" altLang="zh-CN" dirty="0"/>
                  <a:t> in year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-1 is at the highest or lowest 1% tails of the distribution.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7780DDD-0E9B-542F-5571-CA268E2C0B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0" t="-2801" r="-23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29A8D7E9-5C20-8EDB-F048-04B50DA3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52B706-C19B-9263-8849-22185FCA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409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4847CC6-9E7C-9C46-99E1-A99E235584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𝐼𝐿𝐿𝐼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𝑖𝑦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is calculated for each stock </a:t>
                </a:r>
                <a:r>
                  <a:rPr lang="en-US" altLang="zh-CN" sz="2800" dirty="0" err="1"/>
                  <a:t>i</a:t>
                </a:r>
                <a:r>
                  <a:rPr lang="en-US" altLang="zh-CN" sz="2800" dirty="0"/>
                  <a:t> in year y from daily data as in (1) (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zh-CN" sz="2800" dirty="0"/>
              </a:p>
              <a:p>
                <a:r>
                  <a:rPr lang="en-US" altLang="zh-CN" sz="2800" dirty="0"/>
                  <a:t>Market illiquidity across stocks in each year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𝐴𝐼𝐿𝐿𝐼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p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𝐼𝐿𝐿𝐼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𝑖𝑦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800" dirty="0"/>
                  <a:t>    </a:t>
                </a:r>
                <a:r>
                  <a:rPr lang="en-US" altLang="zh-CN" sz="2800" dirty="0"/>
                  <a:t>(3)</a:t>
                </a:r>
              </a:p>
              <a:p>
                <a:pPr marL="0" indent="0">
                  <a:buNone/>
                </a:pPr>
                <a:r>
                  <a:rPr lang="en-US" altLang="zh-CN" sz="2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is the number of stocks in year y.</a:t>
                </a:r>
              </a:p>
              <a:p>
                <a:r>
                  <a:rPr lang="en-US" altLang="zh-CN" sz="2800" dirty="0"/>
                  <a:t>Since average illiquidity varies considerably over years, use mean-adjusted value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𝐼𝐿𝐿𝐼𝑄𝑀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𝑖𝑦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𝐼𝐿𝐿𝐼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𝑖𝑦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𝐴𝐼𝐿𝐿𝐼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sz="2800" dirty="0"/>
                  <a:t>  (4)</a:t>
                </a:r>
              </a:p>
              <a:p>
                <a:pPr marL="0" indent="0">
                  <a:buNone/>
                </a:pPr>
                <a:endParaRPr lang="zh-CN" altLang="en-US" sz="28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4847CC6-9E7C-9C46-99E1-A99E235584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1401" r="-1005" b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FD9432DB-A0D3-1E3F-8D0A-85E6075F4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DD3B45-8BDB-4822-B765-DF1373A4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666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F328A11-1E51-9DDF-92B5-369A2E0EF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20329" cy="4351338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Finding 1:</a:t>
            </a:r>
          </a:p>
          <a:p>
            <a:r>
              <a:rPr lang="en-US" altLang="zh-CN" sz="2800" dirty="0"/>
              <a:t>ILLIQ has positive effect on expected return </a:t>
            </a:r>
            <a:r>
              <a:rPr lang="en-US" altLang="zh-CN" sz="2800" b="1" dirty="0"/>
              <a:t>across stocks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B187E1-1792-C354-4D79-9E8106BA2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2FB697-2CBB-5E31-11B4-1698CA9B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762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B6BC393-7B6A-745D-A2CB-7F9F64DD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3A3E89A-5C46-DFD4-08AB-30540B28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2073D3-5655-BEF3-CD83-E8457963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19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C49117-F5B4-22C6-A2C4-7D2157AE0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1" y="365126"/>
            <a:ext cx="9144000" cy="579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45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81F7434-80B0-69F6-31FF-C3E1DDBD3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Let’s do it!</a:t>
            </a:r>
          </a:p>
          <a:p>
            <a:r>
              <a:rPr lang="en-US" altLang="zh-CN" dirty="0"/>
              <a:t>Download the data and paly it in SAS.</a:t>
            </a:r>
          </a:p>
          <a:p>
            <a:r>
              <a:rPr lang="en-US" altLang="zh-CN" dirty="0"/>
              <a:t>The coefficient of </a:t>
            </a:r>
            <a:r>
              <a:rPr lang="en-US" altLang="zh-CN" i="1" dirty="0"/>
              <a:t>ILLIQMA</a:t>
            </a:r>
            <a:r>
              <a:rPr lang="en-US" altLang="zh-CN" dirty="0"/>
              <a:t> is positive. 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CF914B7-B365-0262-120B-DE41126A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8DD336-19DF-2DA1-3FB2-0B4FCC2E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732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5F1C6D-2EEC-DA7D-76E5-B2D191928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Finding 2: ILLIQ has positive effect on expected return </a:t>
            </a:r>
            <a:r>
              <a:rPr lang="en-US" altLang="zh-CN" sz="2800" b="1" dirty="0"/>
              <a:t>over time</a:t>
            </a:r>
          </a:p>
          <a:p>
            <a:endParaRPr lang="en-US" altLang="zh-CN" sz="2800" dirty="0"/>
          </a:p>
          <a:p>
            <a:r>
              <a:rPr lang="en-US" altLang="zh-CN" sz="2800" dirty="0"/>
              <a:t>Two hypotheses:</a:t>
            </a:r>
          </a:p>
          <a:p>
            <a:r>
              <a:rPr lang="en-US" altLang="zh-CN" sz="2800" dirty="0"/>
              <a:t>(1) ex ante stock excess return is an increasing function of expected illiquidity</a:t>
            </a:r>
          </a:p>
          <a:p>
            <a:r>
              <a:rPr lang="en-US" altLang="zh-CN" sz="2800" dirty="0"/>
              <a:t>(2) unexpected illiquidity has a negative effect on contemporaneous unexpected stock return.</a:t>
            </a:r>
            <a:endParaRPr lang="zh-CN" altLang="en-US" sz="2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36A79C0-DAFF-1063-864F-5CA46213A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D11EFB-16F0-438E-65C5-53787CE2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482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8E55EDA-A6B0-8B37-52D3-DF9945270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altLang="zh-CN" sz="2800" dirty="0"/>
                  <a:t>Investors are assumed to predict illiquidity for year y based on information available in year y-1.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𝑙𝑛𝐴𝐼𝐿𝐿𝐼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𝑙𝑛𝐴𝐼𝐿𝐿𝐼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sz="2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𝑙𝑛𝐴𝐼𝐿𝐿𝐼</m:t>
                      </m:r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𝑙𝑛𝐴𝐼𝐿𝐿𝐼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CN" sz="2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𝑙𝑛𝐴𝐼𝐿𝐿𝐼</m:t>
                      </m:r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p>
                      </m:sSub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sz="2800" b="0" dirty="0"/>
              </a:p>
              <a:p>
                <a:r>
                  <a:rPr lang="en-US" altLang="zh-CN" sz="2800" b="0" dirty="0"/>
                  <a:t>The two hypotheses discussed above are tested in the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𝑅𝑀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𝑅𝑓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8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𝑙𝑛𝐴𝐼𝐿𝐿𝐼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8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𝑙𝑛𝐴𝐼𝐿𝐿𝐼</m:t>
                      </m:r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p>
                      </m:sSub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8E55EDA-A6B0-8B37-52D3-DF9945270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120" b="-53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557B7FC8-B66C-31F4-4976-BF159F3D7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3E926D-83C9-BF74-AB18-C4ECB3F8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846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278358F-3FB6-1E0D-A010-8E8D292F1B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H1: The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positive and significant, suggesting that </a:t>
                </a:r>
                <a:r>
                  <a:rPr lang="en-US" altLang="zh-CN" i="1" dirty="0"/>
                  <a:t>expected stock excess return is an increasing function of expected market illiquidity</a:t>
                </a:r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H2: The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negative and significant, suggesting that </a:t>
                </a:r>
                <a:r>
                  <a:rPr lang="en-US" altLang="zh-CN" i="1" dirty="0"/>
                  <a:t>unexpected</a:t>
                </a:r>
                <a:r>
                  <a:rPr lang="en-US" altLang="zh-CN" dirty="0"/>
                  <a:t> market illiquidity has a </a:t>
                </a:r>
                <a:r>
                  <a:rPr lang="en-US" altLang="zh-CN" i="1" dirty="0"/>
                  <a:t>negative</a:t>
                </a:r>
                <a:r>
                  <a:rPr lang="en-US" altLang="zh-CN" dirty="0"/>
                  <a:t> effect on stock prices.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278358F-3FB6-1E0D-A010-8E8D292F1B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7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3E4D8440-1245-A768-E467-5B20BDDB5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A77928-95A1-3901-2CFB-4E707CC2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607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F328A11-1E51-9DDF-92B5-369A2E0EF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20329" cy="4351338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Finding 2:</a:t>
            </a:r>
          </a:p>
          <a:p>
            <a:pPr lvl="1"/>
            <a:r>
              <a:rPr lang="en-US" altLang="zh-CN" sz="2400" dirty="0"/>
              <a:t>Over time, expected market illiquidity positively affects expected stock excess return (the stock return in excess of Treasury bill rate).</a:t>
            </a:r>
          </a:p>
          <a:p>
            <a:pPr lvl="1"/>
            <a:r>
              <a:rPr lang="en-US" altLang="zh-CN" sz="2400" dirty="0"/>
              <a:t>If investors anticipate higher market illiquidity, they will price stocks so that they generate higher expected return.</a:t>
            </a:r>
          </a:p>
          <a:p>
            <a:pPr lvl="1"/>
            <a:r>
              <a:rPr lang="en-US" altLang="zh-CN" sz="2400" dirty="0"/>
              <a:t>Stock excess return, traditionally interpreted as “risk premium”, includes a premium for illiquidity.</a:t>
            </a:r>
          </a:p>
          <a:p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B187E1-1792-C354-4D79-9E8106BA2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2FB697-2CBB-5E31-11B4-1698CA9B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133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8A9E0F0-A55C-8AF7-4470-1F9C3986E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800" dirty="0"/>
              <a:t>Finding 3:</a:t>
            </a:r>
          </a:p>
          <a:p>
            <a:r>
              <a:rPr lang="en-US" altLang="zh-CN" sz="2400" b="1" dirty="0"/>
              <a:t>Unexpected</a:t>
            </a:r>
            <a:r>
              <a:rPr lang="en-US" altLang="zh-CN" sz="2400" dirty="0"/>
              <a:t> market illiquidity lowers contemporaneous stock prices</a:t>
            </a:r>
          </a:p>
          <a:p>
            <a:pPr lvl="1"/>
            <a:r>
              <a:rPr lang="en-US" altLang="zh-CN" sz="2400" dirty="0"/>
              <a:t>Higher realized illiquidity raises expected illiquidity, that in turn raises stock expected returns and lowers stock prices.</a:t>
            </a:r>
          </a:p>
          <a:p>
            <a:r>
              <a:rPr lang="en-US" altLang="zh-CN" sz="2400" dirty="0"/>
              <a:t>These illiquidity effects are shown to be stronger for small firms’ stocks </a:t>
            </a:r>
          </a:p>
          <a:p>
            <a:pPr lvl="1"/>
            <a:r>
              <a:rPr lang="en-US" altLang="zh-CN" sz="2400" dirty="0"/>
              <a:t>“size effect”: the excess return on small firms’ stocks are related to changes in market liquidity over time. </a:t>
            </a:r>
          </a:p>
          <a:p>
            <a:endParaRPr lang="zh-CN" altLang="en-US" sz="2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1E726C8-4DAD-50F5-FF59-B5C6ACA2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2002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3F2433-1D8C-ABBE-D148-1AB98BB8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80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6F2ED90-D682-D99F-46C5-7510ED33E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EA99F78-0AC6-0F31-22C5-7C520DA87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F9E1A4-0614-EC18-DA5C-8C1DA10A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26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978C2B8-2B1A-9073-8E11-E8856823E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6524"/>
            <a:ext cx="6048385" cy="663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74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280F0A8-0D03-8A1D-1A4B-EF4722C18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Amihud</a:t>
            </a:r>
            <a:r>
              <a:rPr lang="en-US" altLang="zh-CN" dirty="0"/>
              <a:t> and Noh (2021 RFS) Illiquidity and stock returns II: cross-section and time-series effects</a:t>
            </a:r>
          </a:p>
          <a:p>
            <a:r>
              <a:rPr lang="zh-CN" altLang="en-US" dirty="0"/>
              <a:t>杨何灿等（</a:t>
            </a:r>
            <a:r>
              <a:rPr lang="en-US" altLang="zh-CN" dirty="0"/>
              <a:t>2023 </a:t>
            </a:r>
            <a:r>
              <a:rPr lang="zh-CN" altLang="en-US" dirty="0"/>
              <a:t>经济研究）北向资金与境内股票市场流动性</a:t>
            </a:r>
            <a:r>
              <a:rPr lang="en-US" altLang="zh-CN" dirty="0"/>
              <a:t>——</a:t>
            </a:r>
            <a:r>
              <a:rPr lang="zh-CN" altLang="en-US" dirty="0"/>
              <a:t>基于高频数据的传导机制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B22F59F-B3CF-0C3C-75A9-4693E8035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延伸阅读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21869D-8359-9CCB-F805-6FC23654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8FB65-3BD5-40D7-AE55-18F1AFE31740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945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4044</TotalTime>
  <Words>1166</Words>
  <Application>Microsoft Office PowerPoint</Application>
  <PresentationFormat>全屏显示(4:3)</PresentationFormat>
  <Paragraphs>144</Paragraphs>
  <Slides>27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等线</vt:lpstr>
      <vt:lpstr>等线 Light</vt:lpstr>
      <vt:lpstr>楷体</vt:lpstr>
      <vt:lpstr>Arial</vt:lpstr>
      <vt:lpstr>Cambria Math</vt:lpstr>
      <vt:lpstr>Times New Roman</vt:lpstr>
      <vt:lpstr>Office 主题​​</vt:lpstr>
      <vt:lpstr>实证资产定价:Liquidity</vt:lpstr>
      <vt:lpstr>本节授课内容</vt:lpstr>
      <vt:lpstr>流动性 Liquidity</vt:lpstr>
      <vt:lpstr>论文信息</vt:lpstr>
      <vt:lpstr>PowerPoint 演示文稿</vt:lpstr>
      <vt:lpstr>Yakov Amihud</vt:lpstr>
      <vt:lpstr>Yakov Amihud</vt:lpstr>
      <vt:lpstr>Liquidity</vt:lpstr>
      <vt:lpstr>Liquidity</vt:lpstr>
      <vt:lpstr>Liquidity</vt:lpstr>
      <vt:lpstr>Amihud 2002</vt:lpstr>
      <vt:lpstr>Amihud 2002</vt:lpstr>
      <vt:lpstr>Amihud 2002</vt:lpstr>
      <vt:lpstr>Amihud 2002</vt:lpstr>
      <vt:lpstr>Amihud 2002</vt:lpstr>
      <vt:lpstr>Amihud 2002</vt:lpstr>
      <vt:lpstr>Amihud 2002</vt:lpstr>
      <vt:lpstr>Amihud 2002 </vt:lpstr>
      <vt:lpstr>PowerPoint 演示文稿</vt:lpstr>
      <vt:lpstr>PowerPoint 演示文稿</vt:lpstr>
      <vt:lpstr>Amihud 2002 </vt:lpstr>
      <vt:lpstr>Amihud 2002 </vt:lpstr>
      <vt:lpstr>Amihud 2002 </vt:lpstr>
      <vt:lpstr>Amihud 2002 </vt:lpstr>
      <vt:lpstr>Amihud 2002 </vt:lpstr>
      <vt:lpstr>PowerPoint 演示文稿</vt:lpstr>
      <vt:lpstr>延伸阅读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大数据与金融</dc:title>
  <dc:creator>Lenovo</dc:creator>
  <cp:lastModifiedBy>Xinran Zhang</cp:lastModifiedBy>
  <cp:revision>3286</cp:revision>
  <dcterms:created xsi:type="dcterms:W3CDTF">2016-01-04T16:19:52Z</dcterms:created>
  <dcterms:modified xsi:type="dcterms:W3CDTF">2023-11-06T02:31:03Z</dcterms:modified>
</cp:coreProperties>
</file>