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9"/>
  </p:notesMasterIdLst>
  <p:handoutMasterIdLst>
    <p:handoutMasterId r:id="rId30"/>
  </p:handoutMasterIdLst>
  <p:sldIdLst>
    <p:sldId id="256" r:id="rId2"/>
    <p:sldId id="804" r:id="rId3"/>
    <p:sldId id="805" r:id="rId4"/>
    <p:sldId id="814" r:id="rId5"/>
    <p:sldId id="815" r:id="rId6"/>
    <p:sldId id="816" r:id="rId7"/>
    <p:sldId id="817" r:id="rId8"/>
    <p:sldId id="806" r:id="rId9"/>
    <p:sldId id="623" r:id="rId10"/>
    <p:sldId id="818" r:id="rId11"/>
    <p:sldId id="819" r:id="rId12"/>
    <p:sldId id="823" r:id="rId13"/>
    <p:sldId id="820" r:id="rId14"/>
    <p:sldId id="821" r:id="rId15"/>
    <p:sldId id="822" r:id="rId16"/>
    <p:sldId id="826" r:id="rId17"/>
    <p:sldId id="827" r:id="rId18"/>
    <p:sldId id="824" r:id="rId19"/>
    <p:sldId id="829" r:id="rId20"/>
    <p:sldId id="828" r:id="rId21"/>
    <p:sldId id="825" r:id="rId22"/>
    <p:sldId id="830" r:id="rId23"/>
    <p:sldId id="831" r:id="rId24"/>
    <p:sldId id="832" r:id="rId25"/>
    <p:sldId id="833" r:id="rId26"/>
    <p:sldId id="834" r:id="rId27"/>
    <p:sldId id="835" r:id="rId28"/>
  </p:sldIdLst>
  <p:sldSz cx="9144000" cy="6858000" type="screen4x3"/>
  <p:notesSz cx="6797675" cy="9928225"/>
  <p:custDataLst>
    <p:tags r:id="rId31"/>
  </p:custDataLst>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8"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07" autoAdjust="0"/>
    <p:restoredTop sz="88043" autoAdjust="0"/>
  </p:normalViewPr>
  <p:slideViewPr>
    <p:cSldViewPr>
      <p:cViewPr varScale="1">
        <p:scale>
          <a:sx n="97" d="100"/>
          <a:sy n="97" d="100"/>
        </p:scale>
        <p:origin x="1652"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81" d="100"/>
          <a:sy n="81" d="100"/>
        </p:scale>
        <p:origin x="-3168" y="-102"/>
      </p:cViewPr>
      <p:guideLst>
        <p:guide orient="horz" pos="3128"/>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47D73F-92C4-4BE0-9C6A-176141DF9F12}"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zh-CN" altLang="en-US"/>
        </a:p>
      </dgm:t>
    </dgm:pt>
    <dgm:pt modelId="{17BD0C8C-13AC-4E2C-BC77-6CF37B5FEA2A}">
      <dgm:prSet phldrT="[文本]"/>
      <dgm:spPr/>
      <dgm:t>
        <a:bodyPr/>
        <a:lstStyle/>
        <a:p>
          <a:r>
            <a:rPr lang="zh-CN" dirty="0"/>
            <a:t>谷歌搜索指数</a:t>
          </a:r>
          <a:r>
            <a:rPr lang="zh-CN" altLang="en-US" dirty="0"/>
            <a:t>（</a:t>
          </a:r>
          <a:r>
            <a:rPr lang="en-US" altLang="zh-CN" dirty="0"/>
            <a:t>SVI</a:t>
          </a:r>
          <a:r>
            <a:rPr lang="zh-CN" altLang="en-US" dirty="0"/>
            <a:t>）</a:t>
          </a:r>
          <a:r>
            <a:rPr lang="zh-CN" dirty="0"/>
            <a:t> </a:t>
          </a:r>
          <a:endParaRPr lang="zh-CN" altLang="en-US" dirty="0"/>
        </a:p>
      </dgm:t>
    </dgm:pt>
    <dgm:pt modelId="{6750770D-35F2-465D-B900-BDA7CED646E7}" type="parTrans" cxnId="{89986706-8155-4189-8C17-7B5226BF3A4B}">
      <dgm:prSet/>
      <dgm:spPr/>
      <dgm:t>
        <a:bodyPr/>
        <a:lstStyle/>
        <a:p>
          <a:endParaRPr lang="zh-CN" altLang="en-US"/>
        </a:p>
      </dgm:t>
    </dgm:pt>
    <dgm:pt modelId="{83A76D1D-D874-4A74-8B3B-F6FE7DE94EDF}" type="sibTrans" cxnId="{89986706-8155-4189-8C17-7B5226BF3A4B}">
      <dgm:prSet/>
      <dgm:spPr/>
      <dgm:t>
        <a:bodyPr/>
        <a:lstStyle/>
        <a:p>
          <a:endParaRPr lang="zh-CN" altLang="en-US"/>
        </a:p>
      </dgm:t>
    </dgm:pt>
    <dgm:pt modelId="{6F173F78-B9CA-44F2-B03B-E24BB97EA2BA}">
      <dgm:prSet phldrT="[文本]"/>
      <dgm:spPr/>
      <dgm:t>
        <a:bodyPr/>
        <a:lstStyle/>
        <a:p>
          <a:r>
            <a:rPr lang="zh-CN" dirty="0"/>
            <a:t>直接的衡量投资者注意力</a:t>
          </a:r>
          <a:endParaRPr lang="zh-CN" altLang="en-US" dirty="0"/>
        </a:p>
      </dgm:t>
    </dgm:pt>
    <dgm:pt modelId="{37A70D61-851A-4399-AA1A-0701F53CA25C}" type="parTrans" cxnId="{B5C0237C-9528-4F65-8DFA-390D8DD69853}">
      <dgm:prSet/>
      <dgm:spPr/>
      <dgm:t>
        <a:bodyPr/>
        <a:lstStyle/>
        <a:p>
          <a:endParaRPr lang="zh-CN" altLang="en-US"/>
        </a:p>
      </dgm:t>
    </dgm:pt>
    <dgm:pt modelId="{D6B8E921-3C28-4D9C-B8D8-29F408914B26}" type="sibTrans" cxnId="{B5C0237C-9528-4F65-8DFA-390D8DD69853}">
      <dgm:prSet/>
      <dgm:spPr/>
      <dgm:t>
        <a:bodyPr/>
        <a:lstStyle/>
        <a:p>
          <a:endParaRPr lang="zh-CN" altLang="en-US"/>
        </a:p>
      </dgm:t>
    </dgm:pt>
    <dgm:pt modelId="{EBC65521-3A82-4D33-9615-65499D589335}">
      <dgm:prSet phldrT="[文本]"/>
      <dgm:spPr/>
      <dgm:t>
        <a:bodyPr/>
        <a:lstStyle/>
        <a:p>
          <a:r>
            <a:rPr lang="en-US" altLang="zh-CN" dirty="0"/>
            <a:t>SVI</a:t>
          </a:r>
          <a:r>
            <a:rPr lang="zh-CN" altLang="en-US" dirty="0"/>
            <a:t>和个人投资者</a:t>
          </a:r>
        </a:p>
      </dgm:t>
    </dgm:pt>
    <dgm:pt modelId="{183511E5-71BB-4A24-8392-A66E117DD92F}" type="parTrans" cxnId="{47B7D94E-4CFB-4F50-94DF-3331906A6E67}">
      <dgm:prSet/>
      <dgm:spPr/>
      <dgm:t>
        <a:bodyPr/>
        <a:lstStyle/>
        <a:p>
          <a:endParaRPr lang="zh-CN" altLang="en-US"/>
        </a:p>
      </dgm:t>
    </dgm:pt>
    <dgm:pt modelId="{C4CDCB65-FF73-4877-B89B-7B61CC625236}" type="sibTrans" cxnId="{47B7D94E-4CFB-4F50-94DF-3331906A6E67}">
      <dgm:prSet/>
      <dgm:spPr/>
      <dgm:t>
        <a:bodyPr/>
        <a:lstStyle/>
        <a:p>
          <a:endParaRPr lang="zh-CN" altLang="en-US"/>
        </a:p>
      </dgm:t>
    </dgm:pt>
    <dgm:pt modelId="{CA2F5A4E-539C-4B4B-9672-517ED234CF69}">
      <dgm:prSet phldrT="[文本]"/>
      <dgm:spPr/>
      <dgm:t>
        <a:bodyPr/>
        <a:lstStyle/>
        <a:p>
          <a:r>
            <a:rPr lang="zh-CN" dirty="0"/>
            <a:t>能够更加及时的捕捉到投资者注意力</a:t>
          </a:r>
          <a:endParaRPr lang="zh-CN" altLang="en-US" dirty="0"/>
        </a:p>
      </dgm:t>
    </dgm:pt>
    <dgm:pt modelId="{D9125A30-7397-4762-AE33-32D424311614}" type="parTrans" cxnId="{6BEAEE00-62E4-456C-B8D2-9B0784018C5C}">
      <dgm:prSet/>
      <dgm:spPr/>
      <dgm:t>
        <a:bodyPr/>
        <a:lstStyle/>
        <a:p>
          <a:endParaRPr lang="zh-CN" altLang="en-US"/>
        </a:p>
      </dgm:t>
    </dgm:pt>
    <dgm:pt modelId="{6F6768AD-EF1C-4E9D-9260-654AD81CECBD}" type="sibTrans" cxnId="{6BEAEE00-62E4-456C-B8D2-9B0784018C5C}">
      <dgm:prSet/>
      <dgm:spPr/>
      <dgm:t>
        <a:bodyPr/>
        <a:lstStyle/>
        <a:p>
          <a:endParaRPr lang="zh-CN" altLang="en-US"/>
        </a:p>
      </dgm:t>
    </dgm:pt>
    <dgm:pt modelId="{A1DFE7F6-6BE4-4063-9145-05C5D74719E6}">
      <dgm:prSet phldrT="[文本]"/>
      <dgm:spPr/>
      <dgm:t>
        <a:bodyPr/>
        <a:lstStyle/>
        <a:p>
          <a:r>
            <a:rPr lang="en-US" altLang="zh-CN" dirty="0"/>
            <a:t>SVI</a:t>
          </a:r>
          <a:r>
            <a:rPr lang="zh-CN" altLang="en-US" dirty="0"/>
            <a:t>与未来股价</a:t>
          </a:r>
        </a:p>
      </dgm:t>
    </dgm:pt>
    <dgm:pt modelId="{9A814B45-E6D3-4A82-B6DE-CABE94C8A3A8}" type="parTrans" cxnId="{99AA31E7-43C2-4B27-B54B-DDDEF8A68BBE}">
      <dgm:prSet/>
      <dgm:spPr/>
      <dgm:t>
        <a:bodyPr/>
        <a:lstStyle/>
        <a:p>
          <a:endParaRPr lang="zh-CN" altLang="en-US"/>
        </a:p>
      </dgm:t>
    </dgm:pt>
    <dgm:pt modelId="{D2446807-B01D-47D9-B0B6-89332BA620C7}" type="sibTrans" cxnId="{99AA31E7-43C2-4B27-B54B-DDDEF8A68BBE}">
      <dgm:prSet/>
      <dgm:spPr/>
      <dgm:t>
        <a:bodyPr/>
        <a:lstStyle/>
        <a:p>
          <a:endParaRPr lang="zh-CN" altLang="en-US"/>
        </a:p>
      </dgm:t>
    </dgm:pt>
    <dgm:pt modelId="{7CAEE817-CC45-4758-8472-9007681DD14F}">
      <dgm:prSet phldrT="[文本]"/>
      <dgm:spPr/>
      <dgm:t>
        <a:bodyPr/>
        <a:lstStyle/>
        <a:p>
          <a:r>
            <a:rPr lang="en-US" dirty="0"/>
            <a:t>SVI</a:t>
          </a:r>
          <a:r>
            <a:rPr lang="zh-CN" dirty="0"/>
            <a:t>的上升能够预测未来</a:t>
          </a:r>
          <a:r>
            <a:rPr lang="en-US" dirty="0"/>
            <a:t>2</a:t>
          </a:r>
          <a:r>
            <a:rPr lang="zh-CN" dirty="0"/>
            <a:t>周股票价格的上升，但是价格会在长期</a:t>
          </a:r>
          <a:r>
            <a:rPr lang="en-US" dirty="0"/>
            <a:t>1</a:t>
          </a:r>
          <a:r>
            <a:rPr lang="zh-CN" dirty="0"/>
            <a:t>年反转。</a:t>
          </a:r>
          <a:endParaRPr lang="zh-CN" altLang="en-US" dirty="0"/>
        </a:p>
      </dgm:t>
    </dgm:pt>
    <dgm:pt modelId="{10A6272F-5EB6-4CF6-AFB0-82F213602517}" type="parTrans" cxnId="{BD4B0B78-41A7-44FA-8920-E76C70DE6E77}">
      <dgm:prSet/>
      <dgm:spPr/>
      <dgm:t>
        <a:bodyPr/>
        <a:lstStyle/>
        <a:p>
          <a:endParaRPr lang="zh-CN" altLang="en-US"/>
        </a:p>
      </dgm:t>
    </dgm:pt>
    <dgm:pt modelId="{A3A31080-B693-42F6-B5D0-C68FAD7998F2}" type="sibTrans" cxnId="{BD4B0B78-41A7-44FA-8920-E76C70DE6E77}">
      <dgm:prSet/>
      <dgm:spPr/>
      <dgm:t>
        <a:bodyPr/>
        <a:lstStyle/>
        <a:p>
          <a:endParaRPr lang="zh-CN" altLang="en-US"/>
        </a:p>
      </dgm:t>
    </dgm:pt>
    <dgm:pt modelId="{DCB55210-F89D-4C64-A190-FBA96A5428AC}">
      <dgm:prSet phldrT="[文本]"/>
      <dgm:spPr/>
      <dgm:t>
        <a:bodyPr/>
        <a:lstStyle/>
        <a:p>
          <a:r>
            <a:rPr lang="zh-CN" dirty="0"/>
            <a:t>与之前代理变量相关，但是存在不同</a:t>
          </a:r>
          <a:endParaRPr lang="zh-CN" altLang="en-US" dirty="0"/>
        </a:p>
      </dgm:t>
    </dgm:pt>
    <dgm:pt modelId="{D6C7D696-E883-4114-ACBB-BBCACF9A0ED9}" type="parTrans" cxnId="{EBCC6C21-D8ED-4B3A-98FF-96079DAA68CC}">
      <dgm:prSet/>
      <dgm:spPr/>
      <dgm:t>
        <a:bodyPr/>
        <a:lstStyle/>
        <a:p>
          <a:endParaRPr lang="zh-CN" altLang="en-US"/>
        </a:p>
      </dgm:t>
    </dgm:pt>
    <dgm:pt modelId="{491F3918-8BB0-41E5-A7B3-4DDCFA21AF62}" type="sibTrans" cxnId="{EBCC6C21-D8ED-4B3A-98FF-96079DAA68CC}">
      <dgm:prSet/>
      <dgm:spPr/>
      <dgm:t>
        <a:bodyPr/>
        <a:lstStyle/>
        <a:p>
          <a:endParaRPr lang="zh-CN" altLang="en-US"/>
        </a:p>
      </dgm:t>
    </dgm:pt>
    <dgm:pt modelId="{9C26439E-D71B-4443-A539-9390AA8BBE93}">
      <dgm:prSet phldrT="[文本]"/>
      <dgm:spPr/>
      <dgm:t>
        <a:bodyPr/>
        <a:lstStyle/>
        <a:p>
          <a:r>
            <a:rPr lang="en-US" dirty="0"/>
            <a:t>SVI</a:t>
          </a:r>
          <a:r>
            <a:rPr lang="zh-CN" dirty="0"/>
            <a:t>的上升也预测了</a:t>
          </a:r>
          <a:r>
            <a:rPr lang="en-US" dirty="0"/>
            <a:t>IPO</a:t>
          </a:r>
          <a:r>
            <a:rPr lang="zh-CN" dirty="0"/>
            <a:t>发行第一天的大幅上升和长期的弱势表现。</a:t>
          </a:r>
          <a:endParaRPr lang="zh-CN" altLang="en-US" dirty="0"/>
        </a:p>
      </dgm:t>
    </dgm:pt>
    <dgm:pt modelId="{DE3B6DF6-6592-4CDB-A5FC-D1403CC3CEB6}" type="parTrans" cxnId="{83D6276C-A693-4C2D-8FC9-65085FF1B0A3}">
      <dgm:prSet/>
      <dgm:spPr/>
      <dgm:t>
        <a:bodyPr/>
        <a:lstStyle/>
        <a:p>
          <a:endParaRPr lang="zh-CN" altLang="en-US"/>
        </a:p>
      </dgm:t>
    </dgm:pt>
    <dgm:pt modelId="{B0FA0944-392D-4A08-8703-A0470B7DBABA}" type="sibTrans" cxnId="{83D6276C-A693-4C2D-8FC9-65085FF1B0A3}">
      <dgm:prSet/>
      <dgm:spPr/>
      <dgm:t>
        <a:bodyPr/>
        <a:lstStyle/>
        <a:p>
          <a:endParaRPr lang="zh-CN" altLang="en-US"/>
        </a:p>
      </dgm:t>
    </dgm:pt>
    <dgm:pt modelId="{ADF0504C-9135-4739-B4BE-5F4D894AA0F6}">
      <dgm:prSet phldrT="[文本]"/>
      <dgm:spPr/>
      <dgm:t>
        <a:bodyPr/>
        <a:lstStyle/>
        <a:p>
          <a:r>
            <a:rPr lang="en-US" altLang="zh-CN" dirty="0"/>
            <a:t>SVI</a:t>
          </a:r>
          <a:r>
            <a:rPr lang="zh-CN" altLang="en-US" dirty="0"/>
            <a:t>来自个人投资者</a:t>
          </a:r>
        </a:p>
      </dgm:t>
    </dgm:pt>
    <dgm:pt modelId="{25123EF8-C78F-4DB2-8CF9-575B98EC2869}" type="parTrans" cxnId="{1CC3D659-338C-45E3-8976-0300A9E9EAF5}">
      <dgm:prSet/>
      <dgm:spPr/>
      <dgm:t>
        <a:bodyPr/>
        <a:lstStyle/>
        <a:p>
          <a:endParaRPr lang="zh-CN" altLang="en-US"/>
        </a:p>
      </dgm:t>
    </dgm:pt>
    <dgm:pt modelId="{EED7F8A4-917B-441C-9AC5-D9C7120BF399}" type="sibTrans" cxnId="{1CC3D659-338C-45E3-8976-0300A9E9EAF5}">
      <dgm:prSet/>
      <dgm:spPr/>
      <dgm:t>
        <a:bodyPr/>
        <a:lstStyle/>
        <a:p>
          <a:endParaRPr lang="zh-CN" altLang="en-US"/>
        </a:p>
      </dgm:t>
    </dgm:pt>
    <dgm:pt modelId="{15581A77-5E68-4617-9865-37DA426EAAA6}" type="pres">
      <dgm:prSet presAssocID="{BB47D73F-92C4-4BE0-9C6A-176141DF9F12}" presName="linearFlow" presStyleCnt="0">
        <dgm:presLayoutVars>
          <dgm:dir/>
          <dgm:animLvl val="lvl"/>
          <dgm:resizeHandles val="exact"/>
        </dgm:presLayoutVars>
      </dgm:prSet>
      <dgm:spPr/>
    </dgm:pt>
    <dgm:pt modelId="{AA5E4560-5616-4C54-9042-0087A8E1CA14}" type="pres">
      <dgm:prSet presAssocID="{17BD0C8C-13AC-4E2C-BC77-6CF37B5FEA2A}" presName="composite" presStyleCnt="0"/>
      <dgm:spPr/>
    </dgm:pt>
    <dgm:pt modelId="{19C9F224-93F4-455A-A3E9-E41474EB3B72}" type="pres">
      <dgm:prSet presAssocID="{17BD0C8C-13AC-4E2C-BC77-6CF37B5FEA2A}" presName="parTx" presStyleLbl="node1" presStyleIdx="0" presStyleCnt="3">
        <dgm:presLayoutVars>
          <dgm:chMax val="0"/>
          <dgm:chPref val="0"/>
          <dgm:bulletEnabled val="1"/>
        </dgm:presLayoutVars>
      </dgm:prSet>
      <dgm:spPr/>
    </dgm:pt>
    <dgm:pt modelId="{9916D434-D338-46F5-8115-34830A73C420}" type="pres">
      <dgm:prSet presAssocID="{17BD0C8C-13AC-4E2C-BC77-6CF37B5FEA2A}" presName="parSh" presStyleLbl="node1" presStyleIdx="0" presStyleCnt="3"/>
      <dgm:spPr/>
    </dgm:pt>
    <dgm:pt modelId="{55DB9941-F5A9-4E99-900C-3826B3BE814A}" type="pres">
      <dgm:prSet presAssocID="{17BD0C8C-13AC-4E2C-BC77-6CF37B5FEA2A}" presName="desTx" presStyleLbl="fgAcc1" presStyleIdx="0" presStyleCnt="3">
        <dgm:presLayoutVars>
          <dgm:bulletEnabled val="1"/>
        </dgm:presLayoutVars>
      </dgm:prSet>
      <dgm:spPr/>
    </dgm:pt>
    <dgm:pt modelId="{66A66519-D234-4548-B8FA-87EE27A2EFC8}" type="pres">
      <dgm:prSet presAssocID="{83A76D1D-D874-4A74-8B3B-F6FE7DE94EDF}" presName="sibTrans" presStyleLbl="sibTrans2D1" presStyleIdx="0" presStyleCnt="2"/>
      <dgm:spPr/>
    </dgm:pt>
    <dgm:pt modelId="{7A8C75CD-A0A0-4688-A854-F7F022EFFDED}" type="pres">
      <dgm:prSet presAssocID="{83A76D1D-D874-4A74-8B3B-F6FE7DE94EDF}" presName="connTx" presStyleLbl="sibTrans2D1" presStyleIdx="0" presStyleCnt="2"/>
      <dgm:spPr/>
    </dgm:pt>
    <dgm:pt modelId="{661EFF54-9CE0-453F-BF60-DDF615B3AA97}" type="pres">
      <dgm:prSet presAssocID="{EBC65521-3A82-4D33-9615-65499D589335}" presName="composite" presStyleCnt="0"/>
      <dgm:spPr/>
    </dgm:pt>
    <dgm:pt modelId="{D8395BE0-E9B6-4946-8CF4-4D475F5F9501}" type="pres">
      <dgm:prSet presAssocID="{EBC65521-3A82-4D33-9615-65499D589335}" presName="parTx" presStyleLbl="node1" presStyleIdx="0" presStyleCnt="3">
        <dgm:presLayoutVars>
          <dgm:chMax val="0"/>
          <dgm:chPref val="0"/>
          <dgm:bulletEnabled val="1"/>
        </dgm:presLayoutVars>
      </dgm:prSet>
      <dgm:spPr/>
    </dgm:pt>
    <dgm:pt modelId="{EB0B17F1-6070-470B-B398-D8C1333EF9A5}" type="pres">
      <dgm:prSet presAssocID="{EBC65521-3A82-4D33-9615-65499D589335}" presName="parSh" presStyleLbl="node1" presStyleIdx="1" presStyleCnt="3"/>
      <dgm:spPr/>
    </dgm:pt>
    <dgm:pt modelId="{D3DE54C5-17EE-4551-BD22-58734036B542}" type="pres">
      <dgm:prSet presAssocID="{EBC65521-3A82-4D33-9615-65499D589335}" presName="desTx" presStyleLbl="fgAcc1" presStyleIdx="1" presStyleCnt="3">
        <dgm:presLayoutVars>
          <dgm:bulletEnabled val="1"/>
        </dgm:presLayoutVars>
      </dgm:prSet>
      <dgm:spPr/>
    </dgm:pt>
    <dgm:pt modelId="{F8899F4A-1B17-4AC5-B429-6FB1D7DD634E}" type="pres">
      <dgm:prSet presAssocID="{C4CDCB65-FF73-4877-B89B-7B61CC625236}" presName="sibTrans" presStyleLbl="sibTrans2D1" presStyleIdx="1" presStyleCnt="2"/>
      <dgm:spPr/>
    </dgm:pt>
    <dgm:pt modelId="{309A30A6-818B-4EF5-AABE-6E224FA2681B}" type="pres">
      <dgm:prSet presAssocID="{C4CDCB65-FF73-4877-B89B-7B61CC625236}" presName="connTx" presStyleLbl="sibTrans2D1" presStyleIdx="1" presStyleCnt="2"/>
      <dgm:spPr/>
    </dgm:pt>
    <dgm:pt modelId="{A240030A-564E-4628-9717-4A78F5410ED5}" type="pres">
      <dgm:prSet presAssocID="{A1DFE7F6-6BE4-4063-9145-05C5D74719E6}" presName="composite" presStyleCnt="0"/>
      <dgm:spPr/>
    </dgm:pt>
    <dgm:pt modelId="{355D2AC1-9A64-4058-89F2-AF69DC61463F}" type="pres">
      <dgm:prSet presAssocID="{A1DFE7F6-6BE4-4063-9145-05C5D74719E6}" presName="parTx" presStyleLbl="node1" presStyleIdx="1" presStyleCnt="3">
        <dgm:presLayoutVars>
          <dgm:chMax val="0"/>
          <dgm:chPref val="0"/>
          <dgm:bulletEnabled val="1"/>
        </dgm:presLayoutVars>
      </dgm:prSet>
      <dgm:spPr/>
    </dgm:pt>
    <dgm:pt modelId="{B9D49413-2443-4F79-8094-FF9673794B7E}" type="pres">
      <dgm:prSet presAssocID="{A1DFE7F6-6BE4-4063-9145-05C5D74719E6}" presName="parSh" presStyleLbl="node1" presStyleIdx="2" presStyleCnt="3"/>
      <dgm:spPr/>
    </dgm:pt>
    <dgm:pt modelId="{E18A9A34-D7B5-4258-BA33-EF4D472AB13C}" type="pres">
      <dgm:prSet presAssocID="{A1DFE7F6-6BE4-4063-9145-05C5D74719E6}" presName="desTx" presStyleLbl="fgAcc1" presStyleIdx="2" presStyleCnt="3">
        <dgm:presLayoutVars>
          <dgm:bulletEnabled val="1"/>
        </dgm:presLayoutVars>
      </dgm:prSet>
      <dgm:spPr/>
    </dgm:pt>
  </dgm:ptLst>
  <dgm:cxnLst>
    <dgm:cxn modelId="{6BEAEE00-62E4-456C-B8D2-9B0784018C5C}" srcId="{EBC65521-3A82-4D33-9615-65499D589335}" destId="{CA2F5A4E-539C-4B4B-9672-517ED234CF69}" srcOrd="1" destOrd="0" parTransId="{D9125A30-7397-4762-AE33-32D424311614}" sibTransId="{6F6768AD-EF1C-4E9D-9260-654AD81CECBD}"/>
    <dgm:cxn modelId="{89986706-8155-4189-8C17-7B5226BF3A4B}" srcId="{BB47D73F-92C4-4BE0-9C6A-176141DF9F12}" destId="{17BD0C8C-13AC-4E2C-BC77-6CF37B5FEA2A}" srcOrd="0" destOrd="0" parTransId="{6750770D-35F2-465D-B900-BDA7CED646E7}" sibTransId="{83A76D1D-D874-4A74-8B3B-F6FE7DE94EDF}"/>
    <dgm:cxn modelId="{8DCD7217-AE7E-46BE-997F-44D2489C53A2}" type="presOf" srcId="{EBC65521-3A82-4D33-9615-65499D589335}" destId="{D8395BE0-E9B6-4946-8CF4-4D475F5F9501}" srcOrd="0" destOrd="0" presId="urn:microsoft.com/office/officeart/2005/8/layout/process3"/>
    <dgm:cxn modelId="{EBCC6C21-D8ED-4B3A-98FF-96079DAA68CC}" srcId="{17BD0C8C-13AC-4E2C-BC77-6CF37B5FEA2A}" destId="{DCB55210-F89D-4C64-A190-FBA96A5428AC}" srcOrd="1" destOrd="0" parTransId="{D6C7D696-E883-4114-ACBB-BBCACF9A0ED9}" sibTransId="{491F3918-8BB0-41E5-A7B3-4DDCFA21AF62}"/>
    <dgm:cxn modelId="{4BD87021-C856-41B7-B967-6E4C6C3505F3}" type="presOf" srcId="{C4CDCB65-FF73-4877-B89B-7B61CC625236}" destId="{F8899F4A-1B17-4AC5-B429-6FB1D7DD634E}" srcOrd="0" destOrd="0" presId="urn:microsoft.com/office/officeart/2005/8/layout/process3"/>
    <dgm:cxn modelId="{6F3DB724-9BED-47D5-9372-21C7AFD109DA}" type="presOf" srcId="{ADF0504C-9135-4739-B4BE-5F4D894AA0F6}" destId="{D3DE54C5-17EE-4551-BD22-58734036B542}" srcOrd="0" destOrd="0" presId="urn:microsoft.com/office/officeart/2005/8/layout/process3"/>
    <dgm:cxn modelId="{0DDDB45C-FB7A-4A56-BB5E-166E650A0596}" type="presOf" srcId="{BB47D73F-92C4-4BE0-9C6A-176141DF9F12}" destId="{15581A77-5E68-4617-9865-37DA426EAAA6}" srcOrd="0" destOrd="0" presId="urn:microsoft.com/office/officeart/2005/8/layout/process3"/>
    <dgm:cxn modelId="{532E275F-E4D9-4A50-BEBB-D678EB0050D3}" type="presOf" srcId="{7CAEE817-CC45-4758-8472-9007681DD14F}" destId="{E18A9A34-D7B5-4258-BA33-EF4D472AB13C}" srcOrd="0" destOrd="0" presId="urn:microsoft.com/office/officeart/2005/8/layout/process3"/>
    <dgm:cxn modelId="{83D6276C-A693-4C2D-8FC9-65085FF1B0A3}" srcId="{A1DFE7F6-6BE4-4063-9145-05C5D74719E6}" destId="{9C26439E-D71B-4443-A539-9390AA8BBE93}" srcOrd="1" destOrd="0" parTransId="{DE3B6DF6-6592-4CDB-A5FC-D1403CC3CEB6}" sibTransId="{B0FA0944-392D-4A08-8703-A0470B7DBABA}"/>
    <dgm:cxn modelId="{8B1A5F4E-0B56-40CA-9DFA-2E00153FDD3D}" type="presOf" srcId="{A1DFE7F6-6BE4-4063-9145-05C5D74719E6}" destId="{355D2AC1-9A64-4058-89F2-AF69DC61463F}" srcOrd="0" destOrd="0" presId="urn:microsoft.com/office/officeart/2005/8/layout/process3"/>
    <dgm:cxn modelId="{47B7D94E-4CFB-4F50-94DF-3331906A6E67}" srcId="{BB47D73F-92C4-4BE0-9C6A-176141DF9F12}" destId="{EBC65521-3A82-4D33-9615-65499D589335}" srcOrd="1" destOrd="0" parTransId="{183511E5-71BB-4A24-8392-A66E117DD92F}" sibTransId="{C4CDCB65-FF73-4877-B89B-7B61CC625236}"/>
    <dgm:cxn modelId="{2D708070-49A0-4335-AD1C-4EE154083BDF}" type="presOf" srcId="{EBC65521-3A82-4D33-9615-65499D589335}" destId="{EB0B17F1-6070-470B-B398-D8C1333EF9A5}" srcOrd="1" destOrd="0" presId="urn:microsoft.com/office/officeart/2005/8/layout/process3"/>
    <dgm:cxn modelId="{BD4B0B78-41A7-44FA-8920-E76C70DE6E77}" srcId="{A1DFE7F6-6BE4-4063-9145-05C5D74719E6}" destId="{7CAEE817-CC45-4758-8472-9007681DD14F}" srcOrd="0" destOrd="0" parTransId="{10A6272F-5EB6-4CF6-AFB0-82F213602517}" sibTransId="{A3A31080-B693-42F6-B5D0-C68FAD7998F2}"/>
    <dgm:cxn modelId="{1CC3D659-338C-45E3-8976-0300A9E9EAF5}" srcId="{EBC65521-3A82-4D33-9615-65499D589335}" destId="{ADF0504C-9135-4739-B4BE-5F4D894AA0F6}" srcOrd="0" destOrd="0" parTransId="{25123EF8-C78F-4DB2-8CF9-575B98EC2869}" sibTransId="{EED7F8A4-917B-441C-9AC5-D9C7120BF399}"/>
    <dgm:cxn modelId="{79EE567B-2D25-4699-A2AE-DE263EDABA8F}" type="presOf" srcId="{6F173F78-B9CA-44F2-B03B-E24BB97EA2BA}" destId="{55DB9941-F5A9-4E99-900C-3826B3BE814A}" srcOrd="0" destOrd="0" presId="urn:microsoft.com/office/officeart/2005/8/layout/process3"/>
    <dgm:cxn modelId="{B5C0237C-9528-4F65-8DFA-390D8DD69853}" srcId="{17BD0C8C-13AC-4E2C-BC77-6CF37B5FEA2A}" destId="{6F173F78-B9CA-44F2-B03B-E24BB97EA2BA}" srcOrd="0" destOrd="0" parTransId="{37A70D61-851A-4399-AA1A-0701F53CA25C}" sibTransId="{D6B8E921-3C28-4D9C-B8D8-29F408914B26}"/>
    <dgm:cxn modelId="{10F0937F-6E69-4612-9512-F20B23B8FE15}" type="presOf" srcId="{17BD0C8C-13AC-4E2C-BC77-6CF37B5FEA2A}" destId="{19C9F224-93F4-455A-A3E9-E41474EB3B72}" srcOrd="0" destOrd="0" presId="urn:microsoft.com/office/officeart/2005/8/layout/process3"/>
    <dgm:cxn modelId="{845D409A-82EE-4C32-BBB5-5AA9AC15DE07}" type="presOf" srcId="{83A76D1D-D874-4A74-8B3B-F6FE7DE94EDF}" destId="{7A8C75CD-A0A0-4688-A854-F7F022EFFDED}" srcOrd="1" destOrd="0" presId="urn:microsoft.com/office/officeart/2005/8/layout/process3"/>
    <dgm:cxn modelId="{7B8013A0-B5A2-493A-B9B4-65FA49F0F0E0}" type="presOf" srcId="{C4CDCB65-FF73-4877-B89B-7B61CC625236}" destId="{309A30A6-818B-4EF5-AABE-6E224FA2681B}" srcOrd="1" destOrd="0" presId="urn:microsoft.com/office/officeart/2005/8/layout/process3"/>
    <dgm:cxn modelId="{5CA3A7B5-A733-4B5A-9D74-28C28C7C180D}" type="presOf" srcId="{A1DFE7F6-6BE4-4063-9145-05C5D74719E6}" destId="{B9D49413-2443-4F79-8094-FF9673794B7E}" srcOrd="1" destOrd="0" presId="urn:microsoft.com/office/officeart/2005/8/layout/process3"/>
    <dgm:cxn modelId="{3AF88BCF-D757-42D8-BC6B-896DD05547A5}" type="presOf" srcId="{9C26439E-D71B-4443-A539-9390AA8BBE93}" destId="{E18A9A34-D7B5-4258-BA33-EF4D472AB13C}" srcOrd="0" destOrd="1" presId="urn:microsoft.com/office/officeart/2005/8/layout/process3"/>
    <dgm:cxn modelId="{261EF2E2-A21C-4AA2-BDAE-1CFFB0680626}" type="presOf" srcId="{17BD0C8C-13AC-4E2C-BC77-6CF37B5FEA2A}" destId="{9916D434-D338-46F5-8115-34830A73C420}" srcOrd="1" destOrd="0" presId="urn:microsoft.com/office/officeart/2005/8/layout/process3"/>
    <dgm:cxn modelId="{99AA31E7-43C2-4B27-B54B-DDDEF8A68BBE}" srcId="{BB47D73F-92C4-4BE0-9C6A-176141DF9F12}" destId="{A1DFE7F6-6BE4-4063-9145-05C5D74719E6}" srcOrd="2" destOrd="0" parTransId="{9A814B45-E6D3-4A82-B6DE-CABE94C8A3A8}" sibTransId="{D2446807-B01D-47D9-B0B6-89332BA620C7}"/>
    <dgm:cxn modelId="{9F62F6EA-B17B-42DA-BD0E-A8FE60DBA90D}" type="presOf" srcId="{DCB55210-F89D-4C64-A190-FBA96A5428AC}" destId="{55DB9941-F5A9-4E99-900C-3826B3BE814A}" srcOrd="0" destOrd="1" presId="urn:microsoft.com/office/officeart/2005/8/layout/process3"/>
    <dgm:cxn modelId="{256C09ED-F19D-462B-9B6D-0535A02494A5}" type="presOf" srcId="{83A76D1D-D874-4A74-8B3B-F6FE7DE94EDF}" destId="{66A66519-D234-4548-B8FA-87EE27A2EFC8}" srcOrd="0" destOrd="0" presId="urn:microsoft.com/office/officeart/2005/8/layout/process3"/>
    <dgm:cxn modelId="{69CB08FE-4CC6-49D5-8CBE-25639EA9D835}" type="presOf" srcId="{CA2F5A4E-539C-4B4B-9672-517ED234CF69}" destId="{D3DE54C5-17EE-4551-BD22-58734036B542}" srcOrd="0" destOrd="1" presId="urn:microsoft.com/office/officeart/2005/8/layout/process3"/>
    <dgm:cxn modelId="{EBCCEDE3-2A3F-421A-A3D9-ED2BAC7CA2F4}" type="presParOf" srcId="{15581A77-5E68-4617-9865-37DA426EAAA6}" destId="{AA5E4560-5616-4C54-9042-0087A8E1CA14}" srcOrd="0" destOrd="0" presId="urn:microsoft.com/office/officeart/2005/8/layout/process3"/>
    <dgm:cxn modelId="{A9419FF8-BCD0-4AA6-A4F4-86D289992693}" type="presParOf" srcId="{AA5E4560-5616-4C54-9042-0087A8E1CA14}" destId="{19C9F224-93F4-455A-A3E9-E41474EB3B72}" srcOrd="0" destOrd="0" presId="urn:microsoft.com/office/officeart/2005/8/layout/process3"/>
    <dgm:cxn modelId="{CD2AC564-3A0D-4845-B0DE-F5F135B186AA}" type="presParOf" srcId="{AA5E4560-5616-4C54-9042-0087A8E1CA14}" destId="{9916D434-D338-46F5-8115-34830A73C420}" srcOrd="1" destOrd="0" presId="urn:microsoft.com/office/officeart/2005/8/layout/process3"/>
    <dgm:cxn modelId="{0894E6CE-5530-40BB-AC5C-4150C198BB2A}" type="presParOf" srcId="{AA5E4560-5616-4C54-9042-0087A8E1CA14}" destId="{55DB9941-F5A9-4E99-900C-3826B3BE814A}" srcOrd="2" destOrd="0" presId="urn:microsoft.com/office/officeart/2005/8/layout/process3"/>
    <dgm:cxn modelId="{C8FD357B-4E8B-4A83-8D24-F6BAB6D8655A}" type="presParOf" srcId="{15581A77-5E68-4617-9865-37DA426EAAA6}" destId="{66A66519-D234-4548-B8FA-87EE27A2EFC8}" srcOrd="1" destOrd="0" presId="urn:microsoft.com/office/officeart/2005/8/layout/process3"/>
    <dgm:cxn modelId="{9E6152CB-22EE-4946-A7E3-89590E3B2417}" type="presParOf" srcId="{66A66519-D234-4548-B8FA-87EE27A2EFC8}" destId="{7A8C75CD-A0A0-4688-A854-F7F022EFFDED}" srcOrd="0" destOrd="0" presId="urn:microsoft.com/office/officeart/2005/8/layout/process3"/>
    <dgm:cxn modelId="{E375E34B-58BA-4D60-AD1B-7DE67AE3B99E}" type="presParOf" srcId="{15581A77-5E68-4617-9865-37DA426EAAA6}" destId="{661EFF54-9CE0-453F-BF60-DDF615B3AA97}" srcOrd="2" destOrd="0" presId="urn:microsoft.com/office/officeart/2005/8/layout/process3"/>
    <dgm:cxn modelId="{2C54597C-14BD-421C-B263-9B8FB5D1204A}" type="presParOf" srcId="{661EFF54-9CE0-453F-BF60-DDF615B3AA97}" destId="{D8395BE0-E9B6-4946-8CF4-4D475F5F9501}" srcOrd="0" destOrd="0" presId="urn:microsoft.com/office/officeart/2005/8/layout/process3"/>
    <dgm:cxn modelId="{B628C06D-4AA6-464D-8B99-1DC5FAA4AF7D}" type="presParOf" srcId="{661EFF54-9CE0-453F-BF60-DDF615B3AA97}" destId="{EB0B17F1-6070-470B-B398-D8C1333EF9A5}" srcOrd="1" destOrd="0" presId="urn:microsoft.com/office/officeart/2005/8/layout/process3"/>
    <dgm:cxn modelId="{9ED6727F-070C-45AF-BDF1-77BE86E2CB2D}" type="presParOf" srcId="{661EFF54-9CE0-453F-BF60-DDF615B3AA97}" destId="{D3DE54C5-17EE-4551-BD22-58734036B542}" srcOrd="2" destOrd="0" presId="urn:microsoft.com/office/officeart/2005/8/layout/process3"/>
    <dgm:cxn modelId="{817D0D09-60DA-4210-9DA6-8C7E770321DA}" type="presParOf" srcId="{15581A77-5E68-4617-9865-37DA426EAAA6}" destId="{F8899F4A-1B17-4AC5-B429-6FB1D7DD634E}" srcOrd="3" destOrd="0" presId="urn:microsoft.com/office/officeart/2005/8/layout/process3"/>
    <dgm:cxn modelId="{9F65A602-025C-4363-A5F5-63BEA1521166}" type="presParOf" srcId="{F8899F4A-1B17-4AC5-B429-6FB1D7DD634E}" destId="{309A30A6-818B-4EF5-AABE-6E224FA2681B}" srcOrd="0" destOrd="0" presId="urn:microsoft.com/office/officeart/2005/8/layout/process3"/>
    <dgm:cxn modelId="{1EE969A3-186E-42DB-B131-59A0CD3FA77A}" type="presParOf" srcId="{15581A77-5E68-4617-9865-37DA426EAAA6}" destId="{A240030A-564E-4628-9717-4A78F5410ED5}" srcOrd="4" destOrd="0" presId="urn:microsoft.com/office/officeart/2005/8/layout/process3"/>
    <dgm:cxn modelId="{F4B75DA0-E575-4E91-984E-70FC74B9E547}" type="presParOf" srcId="{A240030A-564E-4628-9717-4A78F5410ED5}" destId="{355D2AC1-9A64-4058-89F2-AF69DC61463F}" srcOrd="0" destOrd="0" presId="urn:microsoft.com/office/officeart/2005/8/layout/process3"/>
    <dgm:cxn modelId="{94921103-1F18-4217-8CD5-C805EB33470A}" type="presParOf" srcId="{A240030A-564E-4628-9717-4A78F5410ED5}" destId="{B9D49413-2443-4F79-8094-FF9673794B7E}" srcOrd="1" destOrd="0" presId="urn:microsoft.com/office/officeart/2005/8/layout/process3"/>
    <dgm:cxn modelId="{00103A34-98BD-40A2-9D25-887DA02A063B}" type="presParOf" srcId="{A240030A-564E-4628-9717-4A78F5410ED5}" destId="{E18A9A34-D7B5-4258-BA33-EF4D472AB13C}"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16D434-D338-46F5-8115-34830A73C420}">
      <dsp:nvSpPr>
        <dsp:cNvPr id="0" name=""/>
        <dsp:cNvSpPr/>
      </dsp:nvSpPr>
      <dsp:spPr>
        <a:xfrm>
          <a:off x="4093" y="346554"/>
          <a:ext cx="1861062" cy="70657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marL="0" lvl="0" indent="0" algn="l" defTabSz="666750">
            <a:lnSpc>
              <a:spcPct val="90000"/>
            </a:lnSpc>
            <a:spcBef>
              <a:spcPct val="0"/>
            </a:spcBef>
            <a:spcAft>
              <a:spcPct val="35000"/>
            </a:spcAft>
            <a:buNone/>
          </a:pPr>
          <a:r>
            <a:rPr lang="zh-CN" sz="1500" kern="1200" dirty="0"/>
            <a:t>谷歌搜索指数</a:t>
          </a:r>
          <a:r>
            <a:rPr lang="zh-CN" altLang="en-US" sz="1500" kern="1200" dirty="0"/>
            <a:t>（</a:t>
          </a:r>
          <a:r>
            <a:rPr lang="en-US" altLang="zh-CN" sz="1500" kern="1200" dirty="0"/>
            <a:t>SVI</a:t>
          </a:r>
          <a:r>
            <a:rPr lang="zh-CN" altLang="en-US" sz="1500" kern="1200" dirty="0"/>
            <a:t>）</a:t>
          </a:r>
          <a:r>
            <a:rPr lang="zh-CN" sz="1500" kern="1200" dirty="0"/>
            <a:t> </a:t>
          </a:r>
          <a:endParaRPr lang="zh-CN" altLang="en-US" sz="1500" kern="1200" dirty="0"/>
        </a:p>
      </dsp:txBody>
      <dsp:txXfrm>
        <a:off x="4093" y="346554"/>
        <a:ext cx="1861062" cy="471053"/>
      </dsp:txXfrm>
    </dsp:sp>
    <dsp:sp modelId="{55DB9941-F5A9-4E99-900C-3826B3BE814A}">
      <dsp:nvSpPr>
        <dsp:cNvPr id="0" name=""/>
        <dsp:cNvSpPr/>
      </dsp:nvSpPr>
      <dsp:spPr>
        <a:xfrm>
          <a:off x="385274" y="817607"/>
          <a:ext cx="1861062" cy="336656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zh-CN" sz="1500" kern="1200" dirty="0"/>
            <a:t>直接的衡量投资者注意力</a:t>
          </a:r>
          <a:endParaRPr lang="zh-CN" altLang="en-US" sz="1500" kern="1200" dirty="0"/>
        </a:p>
        <a:p>
          <a:pPr marL="114300" lvl="1" indent="-114300" algn="l" defTabSz="666750">
            <a:lnSpc>
              <a:spcPct val="90000"/>
            </a:lnSpc>
            <a:spcBef>
              <a:spcPct val="0"/>
            </a:spcBef>
            <a:spcAft>
              <a:spcPct val="15000"/>
            </a:spcAft>
            <a:buChar char="•"/>
          </a:pPr>
          <a:r>
            <a:rPr lang="zh-CN" sz="1500" kern="1200" dirty="0"/>
            <a:t>与之前代理变量相关，但是存在不同</a:t>
          </a:r>
          <a:endParaRPr lang="zh-CN" altLang="en-US" sz="1500" kern="1200" dirty="0"/>
        </a:p>
      </dsp:txBody>
      <dsp:txXfrm>
        <a:off x="439783" y="872116"/>
        <a:ext cx="1752044" cy="3257544"/>
      </dsp:txXfrm>
    </dsp:sp>
    <dsp:sp modelId="{66A66519-D234-4548-B8FA-87EE27A2EFC8}">
      <dsp:nvSpPr>
        <dsp:cNvPr id="0" name=""/>
        <dsp:cNvSpPr/>
      </dsp:nvSpPr>
      <dsp:spPr>
        <a:xfrm>
          <a:off x="2147286" y="350405"/>
          <a:ext cx="598116" cy="463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2147286" y="443075"/>
        <a:ext cx="459111" cy="278010"/>
      </dsp:txXfrm>
    </dsp:sp>
    <dsp:sp modelId="{EB0B17F1-6070-470B-B398-D8C1333EF9A5}">
      <dsp:nvSpPr>
        <dsp:cNvPr id="0" name=""/>
        <dsp:cNvSpPr/>
      </dsp:nvSpPr>
      <dsp:spPr>
        <a:xfrm>
          <a:off x="2993677" y="346554"/>
          <a:ext cx="1861062" cy="70657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marL="0" lvl="0" indent="0" algn="l" defTabSz="666750">
            <a:lnSpc>
              <a:spcPct val="90000"/>
            </a:lnSpc>
            <a:spcBef>
              <a:spcPct val="0"/>
            </a:spcBef>
            <a:spcAft>
              <a:spcPct val="35000"/>
            </a:spcAft>
            <a:buNone/>
          </a:pPr>
          <a:r>
            <a:rPr lang="en-US" altLang="zh-CN" sz="1500" kern="1200" dirty="0"/>
            <a:t>SVI</a:t>
          </a:r>
          <a:r>
            <a:rPr lang="zh-CN" altLang="en-US" sz="1500" kern="1200" dirty="0"/>
            <a:t>和个人投资者</a:t>
          </a:r>
        </a:p>
      </dsp:txBody>
      <dsp:txXfrm>
        <a:off x="2993677" y="346554"/>
        <a:ext cx="1861062" cy="471053"/>
      </dsp:txXfrm>
    </dsp:sp>
    <dsp:sp modelId="{D3DE54C5-17EE-4551-BD22-58734036B542}">
      <dsp:nvSpPr>
        <dsp:cNvPr id="0" name=""/>
        <dsp:cNvSpPr/>
      </dsp:nvSpPr>
      <dsp:spPr>
        <a:xfrm>
          <a:off x="3374859" y="817607"/>
          <a:ext cx="1861062" cy="336656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altLang="zh-CN" sz="1500" kern="1200" dirty="0"/>
            <a:t>SVI</a:t>
          </a:r>
          <a:r>
            <a:rPr lang="zh-CN" altLang="en-US" sz="1500" kern="1200" dirty="0"/>
            <a:t>来自个人投资者</a:t>
          </a:r>
        </a:p>
        <a:p>
          <a:pPr marL="114300" lvl="1" indent="-114300" algn="l" defTabSz="666750">
            <a:lnSpc>
              <a:spcPct val="90000"/>
            </a:lnSpc>
            <a:spcBef>
              <a:spcPct val="0"/>
            </a:spcBef>
            <a:spcAft>
              <a:spcPct val="15000"/>
            </a:spcAft>
            <a:buChar char="•"/>
          </a:pPr>
          <a:r>
            <a:rPr lang="zh-CN" sz="1500" kern="1200" dirty="0"/>
            <a:t>能够更加及时的捕捉到投资者注意力</a:t>
          </a:r>
          <a:endParaRPr lang="zh-CN" altLang="en-US" sz="1500" kern="1200" dirty="0"/>
        </a:p>
      </dsp:txBody>
      <dsp:txXfrm>
        <a:off x="3429368" y="872116"/>
        <a:ext cx="1752044" cy="3257544"/>
      </dsp:txXfrm>
    </dsp:sp>
    <dsp:sp modelId="{F8899F4A-1B17-4AC5-B429-6FB1D7DD634E}">
      <dsp:nvSpPr>
        <dsp:cNvPr id="0" name=""/>
        <dsp:cNvSpPr/>
      </dsp:nvSpPr>
      <dsp:spPr>
        <a:xfrm>
          <a:off x="5136871" y="350405"/>
          <a:ext cx="598116" cy="463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5136871" y="443075"/>
        <a:ext cx="459111" cy="278010"/>
      </dsp:txXfrm>
    </dsp:sp>
    <dsp:sp modelId="{B9D49413-2443-4F79-8094-FF9673794B7E}">
      <dsp:nvSpPr>
        <dsp:cNvPr id="0" name=""/>
        <dsp:cNvSpPr/>
      </dsp:nvSpPr>
      <dsp:spPr>
        <a:xfrm>
          <a:off x="5983262" y="346554"/>
          <a:ext cx="1861062" cy="70657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marL="0" lvl="0" indent="0" algn="l" defTabSz="666750">
            <a:lnSpc>
              <a:spcPct val="90000"/>
            </a:lnSpc>
            <a:spcBef>
              <a:spcPct val="0"/>
            </a:spcBef>
            <a:spcAft>
              <a:spcPct val="35000"/>
            </a:spcAft>
            <a:buNone/>
          </a:pPr>
          <a:r>
            <a:rPr lang="en-US" altLang="zh-CN" sz="1500" kern="1200" dirty="0"/>
            <a:t>SVI</a:t>
          </a:r>
          <a:r>
            <a:rPr lang="zh-CN" altLang="en-US" sz="1500" kern="1200" dirty="0"/>
            <a:t>与未来股价</a:t>
          </a:r>
        </a:p>
      </dsp:txBody>
      <dsp:txXfrm>
        <a:off x="5983262" y="346554"/>
        <a:ext cx="1861062" cy="471053"/>
      </dsp:txXfrm>
    </dsp:sp>
    <dsp:sp modelId="{E18A9A34-D7B5-4258-BA33-EF4D472AB13C}">
      <dsp:nvSpPr>
        <dsp:cNvPr id="0" name=""/>
        <dsp:cNvSpPr/>
      </dsp:nvSpPr>
      <dsp:spPr>
        <a:xfrm>
          <a:off x="6364443" y="817607"/>
          <a:ext cx="1861062" cy="336656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SVI</a:t>
          </a:r>
          <a:r>
            <a:rPr lang="zh-CN" sz="1500" kern="1200" dirty="0"/>
            <a:t>的上升能够预测未来</a:t>
          </a:r>
          <a:r>
            <a:rPr lang="en-US" sz="1500" kern="1200" dirty="0"/>
            <a:t>2</a:t>
          </a:r>
          <a:r>
            <a:rPr lang="zh-CN" sz="1500" kern="1200" dirty="0"/>
            <a:t>周股票价格的上升，但是价格会在长期</a:t>
          </a:r>
          <a:r>
            <a:rPr lang="en-US" sz="1500" kern="1200" dirty="0"/>
            <a:t>1</a:t>
          </a:r>
          <a:r>
            <a:rPr lang="zh-CN" sz="1500" kern="1200" dirty="0"/>
            <a:t>年反转。</a:t>
          </a:r>
          <a:endParaRPr lang="zh-CN" altLang="en-US" sz="1500" kern="1200" dirty="0"/>
        </a:p>
        <a:p>
          <a:pPr marL="114300" lvl="1" indent="-114300" algn="l" defTabSz="666750">
            <a:lnSpc>
              <a:spcPct val="90000"/>
            </a:lnSpc>
            <a:spcBef>
              <a:spcPct val="0"/>
            </a:spcBef>
            <a:spcAft>
              <a:spcPct val="15000"/>
            </a:spcAft>
            <a:buChar char="•"/>
          </a:pPr>
          <a:r>
            <a:rPr lang="en-US" sz="1500" kern="1200" dirty="0"/>
            <a:t>SVI</a:t>
          </a:r>
          <a:r>
            <a:rPr lang="zh-CN" sz="1500" kern="1200" dirty="0"/>
            <a:t>的上升也预测了</a:t>
          </a:r>
          <a:r>
            <a:rPr lang="en-US" sz="1500" kern="1200" dirty="0"/>
            <a:t>IPO</a:t>
          </a:r>
          <a:r>
            <a:rPr lang="zh-CN" sz="1500" kern="1200" dirty="0"/>
            <a:t>发行第一天的大幅上升和长期的弱势表现。</a:t>
          </a:r>
          <a:endParaRPr lang="zh-CN" altLang="en-US" sz="1500" kern="1200" dirty="0"/>
        </a:p>
      </dsp:txBody>
      <dsp:txXfrm>
        <a:off x="6418952" y="872116"/>
        <a:ext cx="1752044" cy="3257544"/>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1" y="2"/>
            <a:ext cx="2945955" cy="495754"/>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lvl1pPr algn="l" defTabSz="931780">
              <a:defRPr sz="1300">
                <a:latin typeface="Times New Roman" pitchFamily="18" charset="0"/>
              </a:defRPr>
            </a:lvl1pPr>
          </a:lstStyle>
          <a:p>
            <a:pPr>
              <a:defRPr/>
            </a:pPr>
            <a:endParaRPr lang="en-US"/>
          </a:p>
        </p:txBody>
      </p:sp>
      <p:sp>
        <p:nvSpPr>
          <p:cNvPr id="76803" name="Rectangle 3"/>
          <p:cNvSpPr>
            <a:spLocks noGrp="1" noChangeArrowheads="1"/>
          </p:cNvSpPr>
          <p:nvPr>
            <p:ph type="dt" sz="quarter" idx="1"/>
          </p:nvPr>
        </p:nvSpPr>
        <p:spPr bwMode="auto">
          <a:xfrm>
            <a:off x="3851723" y="2"/>
            <a:ext cx="2945954" cy="495754"/>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lvl1pPr algn="r" defTabSz="931780">
              <a:defRPr sz="1300">
                <a:latin typeface="Times New Roman" pitchFamily="18" charset="0"/>
              </a:defRPr>
            </a:lvl1pPr>
          </a:lstStyle>
          <a:p>
            <a:pPr>
              <a:defRPr/>
            </a:pPr>
            <a:endParaRPr lang="en-US"/>
          </a:p>
        </p:txBody>
      </p:sp>
      <p:sp>
        <p:nvSpPr>
          <p:cNvPr id="76804" name="Rectangle 4"/>
          <p:cNvSpPr>
            <a:spLocks noGrp="1" noChangeArrowheads="1"/>
          </p:cNvSpPr>
          <p:nvPr>
            <p:ph type="ftr" sz="quarter" idx="2"/>
          </p:nvPr>
        </p:nvSpPr>
        <p:spPr bwMode="auto">
          <a:xfrm>
            <a:off x="1" y="9432472"/>
            <a:ext cx="2945955" cy="495754"/>
          </a:xfrm>
          <a:prstGeom prst="rect">
            <a:avLst/>
          </a:prstGeom>
          <a:noFill/>
          <a:ln w="9525">
            <a:noFill/>
            <a:miter lim="800000"/>
            <a:headEnd/>
            <a:tailEnd/>
          </a:ln>
          <a:effectLst/>
        </p:spPr>
        <p:txBody>
          <a:bodyPr vert="horz" wrap="square" lIns="93161" tIns="46580" rIns="93161" bIns="46580" numCol="1" anchor="b" anchorCtr="0" compatLnSpc="1">
            <a:prstTxWarp prst="textNoShape">
              <a:avLst/>
            </a:prstTxWarp>
          </a:bodyPr>
          <a:lstStyle>
            <a:lvl1pPr algn="l" defTabSz="931780">
              <a:defRPr sz="1300">
                <a:latin typeface="Times New Roman" pitchFamily="18" charset="0"/>
              </a:defRPr>
            </a:lvl1pPr>
          </a:lstStyle>
          <a:p>
            <a:pPr>
              <a:defRPr/>
            </a:pPr>
            <a:endParaRPr lang="en-US"/>
          </a:p>
        </p:txBody>
      </p:sp>
      <p:sp>
        <p:nvSpPr>
          <p:cNvPr id="76805" name="Rectangle 5"/>
          <p:cNvSpPr>
            <a:spLocks noGrp="1" noChangeArrowheads="1"/>
          </p:cNvSpPr>
          <p:nvPr>
            <p:ph type="sldNum" sz="quarter" idx="3"/>
          </p:nvPr>
        </p:nvSpPr>
        <p:spPr bwMode="auto">
          <a:xfrm>
            <a:off x="3851723" y="9432472"/>
            <a:ext cx="2945954" cy="495754"/>
          </a:xfrm>
          <a:prstGeom prst="rect">
            <a:avLst/>
          </a:prstGeom>
          <a:noFill/>
          <a:ln w="9525">
            <a:noFill/>
            <a:miter lim="800000"/>
            <a:headEnd/>
            <a:tailEnd/>
          </a:ln>
          <a:effectLst/>
        </p:spPr>
        <p:txBody>
          <a:bodyPr vert="horz" wrap="square" lIns="93161" tIns="46580" rIns="93161" bIns="46580" numCol="1" anchor="b" anchorCtr="0" compatLnSpc="1">
            <a:prstTxWarp prst="textNoShape">
              <a:avLst/>
            </a:prstTxWarp>
          </a:bodyPr>
          <a:lstStyle>
            <a:lvl1pPr algn="r" defTabSz="931780">
              <a:defRPr sz="1300">
                <a:latin typeface="Times New Roman" pitchFamily="18" charset="0"/>
              </a:defRPr>
            </a:lvl1pPr>
          </a:lstStyle>
          <a:p>
            <a:pPr>
              <a:defRPr/>
            </a:pPr>
            <a:fld id="{2782A948-6866-45A0-A775-15670DAC7CF0}" type="slidenum">
              <a:rPr lang="en-US"/>
              <a:pPr>
                <a:defRPr/>
              </a:pPr>
              <a:t>‹#›</a:t>
            </a:fld>
            <a:endParaRPr lang="en-US"/>
          </a:p>
        </p:txBody>
      </p:sp>
    </p:spTree>
    <p:extLst>
      <p:ext uri="{BB962C8B-B14F-4D97-AF65-F5344CB8AC3E}">
        <p14:creationId xmlns:p14="http://schemas.microsoft.com/office/powerpoint/2010/main" val="41683063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1" y="2"/>
            <a:ext cx="2945955" cy="495754"/>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lvl1pPr algn="l" defTabSz="931780">
              <a:defRPr sz="1300">
                <a:latin typeface="Arial" pitchFamily="34" charset="0"/>
              </a:defRPr>
            </a:lvl1pPr>
          </a:lstStyle>
          <a:p>
            <a:pPr>
              <a:defRPr/>
            </a:pPr>
            <a:endParaRPr lang="en-US"/>
          </a:p>
        </p:txBody>
      </p:sp>
      <p:sp>
        <p:nvSpPr>
          <p:cNvPr id="215043" name="Rectangle 3"/>
          <p:cNvSpPr>
            <a:spLocks noGrp="1" noChangeArrowheads="1"/>
          </p:cNvSpPr>
          <p:nvPr>
            <p:ph type="dt" idx="1"/>
          </p:nvPr>
        </p:nvSpPr>
        <p:spPr bwMode="auto">
          <a:xfrm>
            <a:off x="3850246" y="2"/>
            <a:ext cx="2945955" cy="495754"/>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lvl1pPr algn="r" defTabSz="931780">
              <a:defRPr sz="1300">
                <a:latin typeface="Arial" pitchFamily="34" charset="0"/>
              </a:defRPr>
            </a:lvl1pPr>
          </a:lstStyle>
          <a:p>
            <a:pPr>
              <a:defRPr/>
            </a:pPr>
            <a:endParaRPr lang="en-US"/>
          </a:p>
        </p:txBody>
      </p:sp>
      <p:sp>
        <p:nvSpPr>
          <p:cNvPr id="16388" name="Rectangle 4"/>
          <p:cNvSpPr>
            <a:spLocks noGrp="1" noRot="1" noChangeAspect="1" noChangeArrowheads="1" noTextEdit="1"/>
          </p:cNvSpPr>
          <p:nvPr>
            <p:ph type="sldImg" idx="2"/>
          </p:nvPr>
        </p:nvSpPr>
        <p:spPr bwMode="auto">
          <a:xfrm>
            <a:off x="919163" y="746125"/>
            <a:ext cx="4960937" cy="3722688"/>
          </a:xfrm>
          <a:prstGeom prst="rect">
            <a:avLst/>
          </a:prstGeom>
          <a:noFill/>
          <a:ln w="9525">
            <a:solidFill>
              <a:srgbClr val="000000"/>
            </a:solidFill>
            <a:miter lim="800000"/>
            <a:headEnd/>
            <a:tailEnd/>
          </a:ln>
        </p:spPr>
      </p:sp>
      <p:sp>
        <p:nvSpPr>
          <p:cNvPr id="215045" name="Rectangle 5"/>
          <p:cNvSpPr>
            <a:spLocks noGrp="1" noChangeArrowheads="1"/>
          </p:cNvSpPr>
          <p:nvPr>
            <p:ph type="body" sz="quarter" idx="3"/>
          </p:nvPr>
        </p:nvSpPr>
        <p:spPr bwMode="auto">
          <a:xfrm>
            <a:off x="680066" y="4716237"/>
            <a:ext cx="5437549" cy="4466716"/>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5046" name="Rectangle 6"/>
          <p:cNvSpPr>
            <a:spLocks noGrp="1" noChangeArrowheads="1"/>
          </p:cNvSpPr>
          <p:nvPr>
            <p:ph type="ftr" sz="quarter" idx="4"/>
          </p:nvPr>
        </p:nvSpPr>
        <p:spPr bwMode="auto">
          <a:xfrm>
            <a:off x="1" y="9430831"/>
            <a:ext cx="2945955" cy="495754"/>
          </a:xfrm>
          <a:prstGeom prst="rect">
            <a:avLst/>
          </a:prstGeom>
          <a:noFill/>
          <a:ln w="9525">
            <a:noFill/>
            <a:miter lim="800000"/>
            <a:headEnd/>
            <a:tailEnd/>
          </a:ln>
          <a:effectLst/>
        </p:spPr>
        <p:txBody>
          <a:bodyPr vert="horz" wrap="square" lIns="93161" tIns="46580" rIns="93161" bIns="46580" numCol="1" anchor="b" anchorCtr="0" compatLnSpc="1">
            <a:prstTxWarp prst="textNoShape">
              <a:avLst/>
            </a:prstTxWarp>
          </a:bodyPr>
          <a:lstStyle>
            <a:lvl1pPr algn="l" defTabSz="931780">
              <a:defRPr sz="1300">
                <a:latin typeface="Arial" pitchFamily="34" charset="0"/>
              </a:defRPr>
            </a:lvl1pPr>
          </a:lstStyle>
          <a:p>
            <a:pPr>
              <a:defRPr/>
            </a:pPr>
            <a:endParaRPr lang="en-US"/>
          </a:p>
        </p:txBody>
      </p:sp>
      <p:sp>
        <p:nvSpPr>
          <p:cNvPr id="215047" name="Rectangle 7"/>
          <p:cNvSpPr>
            <a:spLocks noGrp="1" noChangeArrowheads="1"/>
          </p:cNvSpPr>
          <p:nvPr>
            <p:ph type="sldNum" sz="quarter" idx="5"/>
          </p:nvPr>
        </p:nvSpPr>
        <p:spPr bwMode="auto">
          <a:xfrm>
            <a:off x="3850246" y="9430831"/>
            <a:ext cx="2945955" cy="495754"/>
          </a:xfrm>
          <a:prstGeom prst="rect">
            <a:avLst/>
          </a:prstGeom>
          <a:noFill/>
          <a:ln w="9525">
            <a:noFill/>
            <a:miter lim="800000"/>
            <a:headEnd/>
            <a:tailEnd/>
          </a:ln>
          <a:effectLst/>
        </p:spPr>
        <p:txBody>
          <a:bodyPr vert="horz" wrap="square" lIns="93161" tIns="46580" rIns="93161" bIns="46580" numCol="1" anchor="b" anchorCtr="0" compatLnSpc="1">
            <a:prstTxWarp prst="textNoShape">
              <a:avLst/>
            </a:prstTxWarp>
          </a:bodyPr>
          <a:lstStyle>
            <a:lvl1pPr algn="r" defTabSz="931780">
              <a:defRPr sz="1300">
                <a:latin typeface="Arial" pitchFamily="34" charset="0"/>
              </a:defRPr>
            </a:lvl1pPr>
          </a:lstStyle>
          <a:p>
            <a:pPr>
              <a:defRPr/>
            </a:pPr>
            <a:fld id="{B305DB55-DB0C-48E8-866F-9600CE0850E0}" type="slidenum">
              <a:rPr lang="en-US"/>
              <a:pPr>
                <a:defRPr/>
              </a:pPr>
              <a:t>‹#›</a:t>
            </a:fld>
            <a:endParaRPr lang="en-US"/>
          </a:p>
        </p:txBody>
      </p:sp>
    </p:spTree>
    <p:extLst>
      <p:ext uri="{BB962C8B-B14F-4D97-AF65-F5344CB8AC3E}">
        <p14:creationId xmlns:p14="http://schemas.microsoft.com/office/powerpoint/2010/main" val="2633985024"/>
      </p:ext>
    </p:extLst>
  </p:cSld>
  <p:clrMap bg1="lt1" tx1="dk1" bg2="lt2" tx2="dk2" accent1="accent1" accent2="accent2" accent3="accent3" accent4="accent4" accent5="accent5" accent6="accent6" hlink="hlink" folHlink="folHlink"/>
  <p:notesStyle>
    <a:lvl1pPr marL="2286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1pPr>
    <a:lvl2pPr marL="6858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2pPr>
    <a:lvl3pPr marL="11430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3pPr>
    <a:lvl4pPr marL="16002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4pPr>
    <a:lvl5pPr marL="20574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06734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kumimoji="1" lang="zh-CN" altLang="en-US" sz="1000" b="0" i="0" kern="1200" dirty="0">
                <a:solidFill>
                  <a:schemeClr val="tx1"/>
                </a:solidFill>
                <a:effectLst/>
                <a:latin typeface="Arial" charset="0"/>
                <a:ea typeface="+mn-ea"/>
                <a:cs typeface="+mn-cs"/>
              </a:rPr>
              <a:t>笪治</a:t>
            </a:r>
            <a:endParaRPr kumimoji="1" lang="en-US" altLang="zh-CN" sz="1000" u="sng" kern="1200" dirty="0">
              <a:solidFill>
                <a:schemeClr val="tx1"/>
              </a:solidFill>
              <a:effectLst/>
              <a:latin typeface="Arial" charset="0"/>
              <a:ea typeface="+mn-ea"/>
              <a:cs typeface="+mn-cs"/>
            </a:endParaRPr>
          </a:p>
        </p:txBody>
      </p:sp>
      <p:sp>
        <p:nvSpPr>
          <p:cNvPr id="4" name="灯片编号占位符 3"/>
          <p:cNvSpPr>
            <a:spLocks noGrp="1"/>
          </p:cNvSpPr>
          <p:nvPr>
            <p:ph type="sldNum" sz="quarter" idx="10"/>
          </p:nvPr>
        </p:nvSpPr>
        <p:spPr/>
        <p:txBody>
          <a:bodyPr/>
          <a:lstStyle/>
          <a:p>
            <a:pPr>
              <a:defRPr/>
            </a:pPr>
            <a:fld id="{B305DB55-DB0C-48E8-866F-9600CE0850E0}"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pPr>
              <a:defRPr/>
            </a:pPr>
            <a:fld id="{B305DB55-DB0C-48E8-866F-9600CE0850E0}"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kumimoji="1" lang="en-US" altLang="zh-CN" sz="1000" u="sng" kern="1200" dirty="0">
                <a:solidFill>
                  <a:schemeClr val="tx1"/>
                </a:solidFill>
                <a:effectLst/>
                <a:latin typeface="Arial" charset="0"/>
                <a:ea typeface="+mn-ea"/>
                <a:cs typeface="+mn-cs"/>
              </a:rPr>
              <a:t>Done.</a:t>
            </a:r>
          </a:p>
        </p:txBody>
      </p:sp>
      <p:sp>
        <p:nvSpPr>
          <p:cNvPr id="4" name="灯片编号占位符 3"/>
          <p:cNvSpPr>
            <a:spLocks noGrp="1"/>
          </p:cNvSpPr>
          <p:nvPr>
            <p:ph type="sldNum" sz="quarter" idx="10"/>
          </p:nvPr>
        </p:nvSpPr>
        <p:spPr/>
        <p:txBody>
          <a:bodyPr/>
          <a:lstStyle/>
          <a:p>
            <a:pPr>
              <a:defRPr/>
            </a:pPr>
            <a:fld id="{B305DB55-DB0C-48E8-866F-9600CE0850E0}" type="slidenum">
              <a:rPr lang="en-US" smtClean="0"/>
              <a:t>4</a:t>
            </a:fld>
            <a:endParaRPr lang="en-US"/>
          </a:p>
        </p:txBody>
      </p:sp>
    </p:spTree>
    <p:extLst>
      <p:ext uri="{BB962C8B-B14F-4D97-AF65-F5344CB8AC3E}">
        <p14:creationId xmlns:p14="http://schemas.microsoft.com/office/powerpoint/2010/main" val="417010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kumimoji="1" lang="en-US" altLang="zh-CN" sz="1000" u="sng" kern="1200" dirty="0">
                <a:solidFill>
                  <a:schemeClr val="tx1"/>
                </a:solidFill>
                <a:effectLst/>
                <a:latin typeface="Arial" charset="0"/>
                <a:ea typeface="+mn-ea"/>
                <a:cs typeface="+mn-cs"/>
              </a:rPr>
              <a:t>Done.</a:t>
            </a:r>
          </a:p>
        </p:txBody>
      </p:sp>
      <p:sp>
        <p:nvSpPr>
          <p:cNvPr id="4" name="Slide Number Placeholder 3"/>
          <p:cNvSpPr>
            <a:spLocks noGrp="1"/>
          </p:cNvSpPr>
          <p:nvPr>
            <p:ph type="sldNum" sz="quarter" idx="10"/>
          </p:nvPr>
        </p:nvSpPr>
        <p:spPr/>
        <p:txBody>
          <a:bodyPr/>
          <a:lstStyle/>
          <a:p>
            <a:pPr>
              <a:defRPr/>
            </a:pPr>
            <a:fld id="{B305DB55-DB0C-48E8-866F-9600CE0850E0}" type="slidenum">
              <a:rPr lang="en-US" smtClean="0"/>
              <a:t>5</a:t>
            </a:fld>
            <a:endParaRPr lang="en-US"/>
          </a:p>
        </p:txBody>
      </p:sp>
    </p:spTree>
    <p:extLst>
      <p:ext uri="{BB962C8B-B14F-4D97-AF65-F5344CB8AC3E}">
        <p14:creationId xmlns:p14="http://schemas.microsoft.com/office/powerpoint/2010/main" val="1826267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kumimoji="1" lang="en-US" altLang="zh-CN" sz="1000" u="sng" kern="1200" dirty="0">
                <a:solidFill>
                  <a:schemeClr val="tx1"/>
                </a:solidFill>
                <a:effectLst/>
                <a:latin typeface="Arial" charset="0"/>
                <a:ea typeface="+mn-ea"/>
                <a:cs typeface="+mn-cs"/>
              </a:rPr>
              <a:t>Done.</a:t>
            </a:r>
          </a:p>
          <a:p>
            <a:pPr marL="228600" indent="-228600">
              <a:buAutoNum type="arabicPeriod"/>
            </a:pPr>
            <a:endParaRPr kumimoji="1" lang="en-US" altLang="zh-CN" sz="1000" u="sng" kern="1200" dirty="0">
              <a:solidFill>
                <a:schemeClr val="tx1"/>
              </a:solidFill>
              <a:effectLst/>
              <a:latin typeface="Arial" charset="0"/>
              <a:ea typeface="+mn-ea"/>
              <a:cs typeface="+mn-cs"/>
            </a:endParaRPr>
          </a:p>
        </p:txBody>
      </p:sp>
      <p:sp>
        <p:nvSpPr>
          <p:cNvPr id="4" name="灯片编号占位符 3"/>
          <p:cNvSpPr>
            <a:spLocks noGrp="1"/>
          </p:cNvSpPr>
          <p:nvPr>
            <p:ph type="sldNum" sz="quarter" idx="10"/>
          </p:nvPr>
        </p:nvSpPr>
        <p:spPr/>
        <p:txBody>
          <a:bodyPr/>
          <a:lstStyle/>
          <a:p>
            <a:pPr>
              <a:defRPr/>
            </a:pPr>
            <a:fld id="{B305DB55-DB0C-48E8-866F-9600CE0850E0}" type="slidenum">
              <a:rPr lang="en-US" smtClean="0"/>
              <a:t>6</a:t>
            </a:fld>
            <a:endParaRPr lang="en-US"/>
          </a:p>
        </p:txBody>
      </p:sp>
    </p:spTree>
    <p:extLst>
      <p:ext uri="{BB962C8B-B14F-4D97-AF65-F5344CB8AC3E}">
        <p14:creationId xmlns:p14="http://schemas.microsoft.com/office/powerpoint/2010/main" val="674576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kumimoji="1" lang="en-US" altLang="zh-CN" sz="1000" u="sng" kern="1200" dirty="0">
                <a:solidFill>
                  <a:schemeClr val="tx1"/>
                </a:solidFill>
                <a:effectLst/>
                <a:latin typeface="Arial" charset="0"/>
                <a:ea typeface="+mn-ea"/>
                <a:cs typeface="+mn-cs"/>
              </a:rPr>
              <a:t>Done.</a:t>
            </a:r>
          </a:p>
          <a:p>
            <a:pPr marL="228600" indent="-228600">
              <a:buAutoNum type="arabicPeriod"/>
            </a:pPr>
            <a:endParaRPr kumimoji="1" lang="en-US" altLang="zh-CN" sz="1000" u="sng" kern="1200" dirty="0">
              <a:solidFill>
                <a:schemeClr val="tx1"/>
              </a:solidFill>
              <a:effectLst/>
              <a:latin typeface="Arial" charset="0"/>
              <a:ea typeface="+mn-ea"/>
              <a:cs typeface="+mn-cs"/>
            </a:endParaRPr>
          </a:p>
          <a:p>
            <a:pPr marL="0" indent="0">
              <a:buNone/>
            </a:pPr>
            <a:endParaRPr lang="en-US" dirty="0"/>
          </a:p>
        </p:txBody>
      </p:sp>
      <p:sp>
        <p:nvSpPr>
          <p:cNvPr id="4" name="Slide Number Placeholder 3"/>
          <p:cNvSpPr>
            <a:spLocks noGrp="1"/>
          </p:cNvSpPr>
          <p:nvPr>
            <p:ph type="sldNum" sz="quarter" idx="10"/>
          </p:nvPr>
        </p:nvSpPr>
        <p:spPr/>
        <p:txBody>
          <a:bodyPr/>
          <a:lstStyle/>
          <a:p>
            <a:pPr>
              <a:defRPr/>
            </a:pPr>
            <a:fld id="{B305DB55-DB0C-48E8-866F-9600CE0850E0}" type="slidenum">
              <a:rPr lang="en-US" smtClean="0"/>
              <a:t>7</a:t>
            </a:fld>
            <a:endParaRPr lang="en-US"/>
          </a:p>
        </p:txBody>
      </p:sp>
    </p:spTree>
    <p:extLst>
      <p:ext uri="{BB962C8B-B14F-4D97-AF65-F5344CB8AC3E}">
        <p14:creationId xmlns:p14="http://schemas.microsoft.com/office/powerpoint/2010/main" val="19166558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完成</a:t>
            </a:r>
            <a:endParaRPr lang="en-US" dirty="0"/>
          </a:p>
        </p:txBody>
      </p:sp>
      <p:sp>
        <p:nvSpPr>
          <p:cNvPr id="4" name="灯片编号占位符 3"/>
          <p:cNvSpPr>
            <a:spLocks noGrp="1"/>
          </p:cNvSpPr>
          <p:nvPr>
            <p:ph type="sldNum" sz="quarter" idx="10"/>
          </p:nvPr>
        </p:nvSpPr>
        <p:spPr/>
        <p:txBody>
          <a:bodyPr/>
          <a:lstStyle/>
          <a:p>
            <a:pPr>
              <a:defRPr/>
            </a:pPr>
            <a:fld id="{B305DB55-DB0C-48E8-866F-9600CE0850E0}"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pPr algn="l" rtl="0">
              <a:defRPr/>
            </a:pPr>
            <a:fld id="{B305DB55-DB0C-48E8-866F-9600CE0850E0}" type="slidenum">
              <a:rPr lang="en-US" smtClean="0"/>
              <a:pPr algn="l" rtl="0">
                <a:defRPr/>
              </a:pPr>
              <a:t>9</a:t>
            </a:fld>
            <a:endParaRPr lang="en-US"/>
          </a:p>
        </p:txBody>
      </p:sp>
    </p:spTree>
    <p:extLst>
      <p:ext uri="{BB962C8B-B14F-4D97-AF65-F5344CB8AC3E}">
        <p14:creationId xmlns:p14="http://schemas.microsoft.com/office/powerpoint/2010/main" val="4109749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en-US"/>
          </a:p>
        </p:txBody>
      </p:sp>
      <p:sp>
        <p:nvSpPr>
          <p:cNvPr id="122882"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122883"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8" name="Rectangle 6"/>
          <p:cNvSpPr>
            <a:spLocks noGrp="1" noChangeArrowheads="1"/>
          </p:cNvSpPr>
          <p:nvPr>
            <p:ph type="sldNum" sz="quarter" idx="12"/>
          </p:nvPr>
        </p:nvSpPr>
        <p:spPr/>
        <p:txBody>
          <a:bodyPr/>
          <a:lstStyle>
            <a:lvl1pPr>
              <a:defRPr/>
            </a:lvl1pPr>
          </a:lstStyle>
          <a:p>
            <a:pPr>
              <a:defRPr/>
            </a:pPr>
            <a:fld id="{81A0D209-73B9-4BF8-BC1D-BE4AB6CE906E}"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b="1"/>
            </a:lvl1pPr>
          </a:lstStyle>
          <a:p>
            <a:r>
              <a:rPr lang="en-US" dirty="0"/>
              <a:t>Click to edit Master title style</a:t>
            </a:r>
          </a:p>
        </p:txBody>
      </p:sp>
      <p:sp>
        <p:nvSpPr>
          <p:cNvPr id="3" name="Content Placeholder 2"/>
          <p:cNvSpPr>
            <a:spLocks noGrp="1"/>
          </p:cNvSpPr>
          <p:nvPr>
            <p:ph idx="1"/>
          </p:nvPr>
        </p:nvSpPr>
        <p:spPr/>
        <p:txBody>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B63FD403-76C1-42C8-ACBB-2D07262FC14A}"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969EF43C-4D06-4F1E-AC16-88A34303270D}"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D2AACBDD-F4C5-4CD8-A728-2C20F9D9A3A1}"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09D7BBDB-4753-4FB1-98F2-7697D7A350E8}"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9F93618F-91F7-42F7-B77F-29E12DA950F8}"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245D7909-19AB-4E6A-A548-E6F67C3732A9}"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C12C31FF-E866-4B36-BF2B-61AC7A6CA92C}"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77564B63-4791-457E-BF61-A6D8153AF59E}"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BFC79E24-515A-4BCF-85F2-41275908CD09}"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43389184-2B4D-4E2D-B079-E37FBBC42C9A}"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B8E77569-4F13-44DF-A6CF-97FB7365F520}" type="slidenum">
              <a:rPr lang="en-US" altLang="en-US"/>
              <a:pPr>
                <a:defRPr/>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76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5791200" y="6248400"/>
            <a:ext cx="2667000" cy="457200"/>
          </a:xfrm>
        </p:spPr>
        <p:txBody>
          <a:bodyPr/>
          <a:lstStyle>
            <a:lvl1pPr>
              <a:defRPr/>
            </a:lvl1pPr>
          </a:lstStyle>
          <a:p>
            <a:r>
              <a:rPr lang="en-US" altLang="en-US"/>
              <a:t>Ang, Hodrick, Xing and Zhang / </a:t>
            </a:r>
            <a:fld id="{F9B2D81C-CB1C-4F2D-8733-816F0F29DE1D}" type="slidenum">
              <a:rPr lang="en-US" altLang="en-US"/>
              <a:pPr/>
              <a:t>‹#›</a:t>
            </a:fld>
            <a:endParaRPr lang="en-US" altLang="en-US"/>
          </a:p>
        </p:txBody>
      </p:sp>
    </p:spTree>
    <p:extLst>
      <p:ext uri="{BB962C8B-B14F-4D97-AF65-F5344CB8AC3E}">
        <p14:creationId xmlns:p14="http://schemas.microsoft.com/office/powerpoint/2010/main" val="9486716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en-US"/>
              <a:t>Click to edit Master title style</a:t>
            </a:r>
          </a:p>
        </p:txBody>
      </p:sp>
      <p:sp>
        <p:nvSpPr>
          <p:cNvPr id="3" name="Content Placeholder 2"/>
          <p:cNvSpPr>
            <a:spLocks noGrp="1"/>
          </p:cNvSpPr>
          <p:nvPr>
            <p:ph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76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5791200" y="6248400"/>
            <a:ext cx="2667000" cy="457200"/>
          </a:xfrm>
        </p:spPr>
        <p:txBody>
          <a:bodyPr/>
          <a:lstStyle>
            <a:lvl1pPr>
              <a:defRPr/>
            </a:lvl1pPr>
          </a:lstStyle>
          <a:p>
            <a:r>
              <a:rPr lang="en-US" altLang="en-US"/>
              <a:t>Ang, Hodrick, Xing and Zhang / </a:t>
            </a:r>
            <a:fld id="{AA376174-3CA6-462E-B643-5A7A607E20EB}" type="slidenum">
              <a:rPr lang="en-US" altLang="en-US"/>
              <a:pPr/>
              <a:t>‹#›</a:t>
            </a:fld>
            <a:endParaRPr lang="en-US" altLang="en-US"/>
          </a:p>
        </p:txBody>
      </p:sp>
    </p:spTree>
    <p:extLst>
      <p:ext uri="{BB962C8B-B14F-4D97-AF65-F5344CB8AC3E}">
        <p14:creationId xmlns:p14="http://schemas.microsoft.com/office/powerpoint/2010/main" val="127897948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85800" y="1676400"/>
            <a:ext cx="77724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3962400"/>
            <a:ext cx="77724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5791200" y="6248400"/>
            <a:ext cx="2667000" cy="457200"/>
          </a:xfrm>
        </p:spPr>
        <p:txBody>
          <a:bodyPr/>
          <a:lstStyle>
            <a:lvl1pPr>
              <a:defRPr/>
            </a:lvl1pPr>
          </a:lstStyle>
          <a:p>
            <a:r>
              <a:rPr lang="en-US" altLang="en-US"/>
              <a:t>Ang, Hodrick, Xing and Zhang / </a:t>
            </a:r>
            <a:fld id="{BB191DA7-EAC9-4F7B-AF34-4F230CB2200A}" type="slidenum">
              <a:rPr lang="en-US" altLang="en-US"/>
              <a:pPr/>
              <a:t>‹#›</a:t>
            </a:fld>
            <a:endParaRPr lang="en-US" altLang="en-US"/>
          </a:p>
        </p:txBody>
      </p:sp>
    </p:spTree>
    <p:extLst>
      <p:ext uri="{BB962C8B-B14F-4D97-AF65-F5344CB8AC3E}">
        <p14:creationId xmlns:p14="http://schemas.microsoft.com/office/powerpoint/2010/main" val="1565164205"/>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5791200" y="6248400"/>
            <a:ext cx="2667000" cy="457200"/>
          </a:xfrm>
        </p:spPr>
        <p:txBody>
          <a:bodyPr/>
          <a:lstStyle>
            <a:lvl1pPr>
              <a:defRPr/>
            </a:lvl1pPr>
          </a:lstStyle>
          <a:p>
            <a:r>
              <a:rPr lang="en-US" altLang="en-US"/>
              <a:t>Ang, Hodrick, Xing and Zhang / </a:t>
            </a:r>
            <a:fld id="{09535161-ACE8-4D42-8FE0-8DA3E03B2ABE}" type="slidenum">
              <a:rPr lang="en-US" altLang="en-US"/>
              <a:pPr/>
              <a:t>‹#›</a:t>
            </a:fld>
            <a:endParaRPr lang="en-US" altLang="en-US"/>
          </a:p>
        </p:txBody>
      </p:sp>
    </p:spTree>
    <p:extLst>
      <p:ext uri="{BB962C8B-B14F-4D97-AF65-F5344CB8AC3E}">
        <p14:creationId xmlns:p14="http://schemas.microsoft.com/office/powerpoint/2010/main" val="335887432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21860"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Garamond" pitchFamily="18" charset="0"/>
              </a:defRPr>
            </a:lvl1pPr>
          </a:lstStyle>
          <a:p>
            <a:pPr>
              <a:defRPr/>
            </a:pPr>
            <a:endParaRPr lang="en-US" altLang="en-US"/>
          </a:p>
        </p:txBody>
      </p:sp>
      <p:sp>
        <p:nvSpPr>
          <p:cNvPr id="1218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Garamond" pitchFamily="18" charset="0"/>
              </a:defRPr>
            </a:lvl1pPr>
          </a:lstStyle>
          <a:p>
            <a:pPr>
              <a:defRPr/>
            </a:pPr>
            <a:endParaRPr lang="en-US" altLang="en-US"/>
          </a:p>
        </p:txBody>
      </p:sp>
      <p:sp>
        <p:nvSpPr>
          <p:cNvPr id="121862"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Garamond" pitchFamily="18" charset="0"/>
              </a:defRPr>
            </a:lvl1pPr>
          </a:lstStyle>
          <a:p>
            <a:pPr>
              <a:defRPr/>
            </a:pPr>
            <a:fld id="{65F27244-0A50-4C0D-A58A-F9E6A0E13F05}" type="slidenum">
              <a:rPr lang="en-US" altLang="en-US"/>
              <a:pPr>
                <a:defRPr/>
              </a:pPr>
              <a:t>‹#›</a:t>
            </a:fld>
            <a:endParaRPr lang="en-US" altLang="en-US"/>
          </a:p>
        </p:txBody>
      </p:sp>
      <p:sp>
        <p:nvSpPr>
          <p:cNvPr id="121863"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en-US"/>
          </a:p>
        </p:txBody>
      </p:sp>
      <p:sp>
        <p:nvSpPr>
          <p:cNvPr id="121864"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a:defRPr/>
            </a:pPr>
            <a:endParaRPr lang="en-US"/>
          </a:p>
        </p:txBody>
      </p:sp>
    </p:spTree>
  </p:cSld>
  <p:clrMap bg1="lt1" tx1="dk1" bg2="lt2" tx2="dk2" accent1="accent1" accent2="accent2" accent3="accent3" accent4="accent4" accent5="accent5" accent6="accent6" hlink="hlink" folHlink="folHlink"/>
  <p:sldLayoutIdLst>
    <p:sldLayoutId id="2147483776"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7" r:id="rId13"/>
    <p:sldLayoutId id="2147483778" r:id="rId14"/>
    <p:sldLayoutId id="2147483779" r:id="rId15"/>
    <p:sldLayoutId id="2147483780" r:id="rId16"/>
  </p:sldLayoutIdLst>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Palatino Linotype" pitchFamily="18" charset="0"/>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Palatino Linotype" pitchFamily="18" charset="0"/>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Palatino Linotype" pitchFamily="18" charset="0"/>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Palatino Linotype" pitchFamily="18" charset="0"/>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Palatino Linotype" pitchFamily="18" charset="0"/>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62000" y="1371600"/>
            <a:ext cx="8001000" cy="2209800"/>
          </a:xfrm>
        </p:spPr>
        <p:txBody>
          <a:bodyPr/>
          <a:lstStyle/>
          <a:p>
            <a:pPr algn="ctr"/>
            <a:br>
              <a:rPr lang="en-US" altLang="zh-CN" sz="3600" b="1" dirty="0"/>
            </a:br>
            <a:r>
              <a:rPr lang="en-US" altLang="zh-CN" sz="3600" b="1" dirty="0"/>
              <a:t>In Search of Attention</a:t>
            </a:r>
            <a:endParaRPr lang="en-US" sz="2000" dirty="0"/>
          </a:p>
        </p:txBody>
      </p:sp>
      <p:sp>
        <p:nvSpPr>
          <p:cNvPr id="3075" name="Rectangle 3"/>
          <p:cNvSpPr>
            <a:spLocks noGrp="1" noChangeArrowheads="1"/>
          </p:cNvSpPr>
          <p:nvPr>
            <p:ph type="subTitle" idx="1"/>
          </p:nvPr>
        </p:nvSpPr>
        <p:spPr>
          <a:xfrm>
            <a:off x="1295400" y="4114800"/>
            <a:ext cx="6400800" cy="2400300"/>
          </a:xfrm>
        </p:spPr>
        <p:txBody>
          <a:bodyPr/>
          <a:lstStyle/>
          <a:p>
            <a:pPr algn="ctr" eaLnBrk="1" hangingPunct="1"/>
            <a:r>
              <a:rPr lang="en-US" sz="2400" dirty="0"/>
              <a:t>The Journal of Finance, 2011</a:t>
            </a:r>
          </a:p>
          <a:p>
            <a:pPr algn="ctr" eaLnBrk="1" hangingPunct="1"/>
            <a:endParaRPr lang="en-US" sz="2400" dirty="0"/>
          </a:p>
          <a:p>
            <a:pPr algn="ctr" eaLnBrk="1" hangingPunct="1"/>
            <a:r>
              <a:rPr lang="en-US" sz="2400" dirty="0" err="1"/>
              <a:t>Zhi</a:t>
            </a:r>
            <a:r>
              <a:rPr lang="en-US" sz="2400" dirty="0"/>
              <a:t> Da </a:t>
            </a:r>
            <a:r>
              <a:rPr lang="zh-CN" altLang="en-US" sz="2400" dirty="0"/>
              <a:t>（圣母大学）</a:t>
            </a:r>
            <a:endParaRPr lang="en-US" sz="2400" dirty="0"/>
          </a:p>
          <a:p>
            <a:pPr algn="ctr" eaLnBrk="1" hangingPunct="1"/>
            <a:r>
              <a:rPr lang="en-US" sz="2400" dirty="0"/>
              <a:t>Joseph </a:t>
            </a:r>
            <a:r>
              <a:rPr lang="en-US" sz="2400" dirty="0" err="1"/>
              <a:t>Engelberg</a:t>
            </a:r>
            <a:r>
              <a:rPr lang="en-US" sz="2400" dirty="0"/>
              <a:t> </a:t>
            </a:r>
            <a:r>
              <a:rPr lang="zh-CN" altLang="en-US" sz="2400" dirty="0"/>
              <a:t>（加州大学圣地亚哥分校）</a:t>
            </a:r>
            <a:r>
              <a:rPr lang="en-US" sz="2400" dirty="0"/>
              <a:t> </a:t>
            </a:r>
          </a:p>
          <a:p>
            <a:pPr algn="ctr" eaLnBrk="1" hangingPunct="1"/>
            <a:r>
              <a:rPr lang="en-US" sz="2400" dirty="0" err="1"/>
              <a:t>Pengjie</a:t>
            </a:r>
            <a:r>
              <a:rPr lang="en-US" sz="2400" dirty="0"/>
              <a:t> Gao</a:t>
            </a:r>
            <a:r>
              <a:rPr lang="zh-CN" altLang="en-US" sz="2400" dirty="0"/>
              <a:t>（圣母大学）</a:t>
            </a:r>
            <a:endParaRPr lang="en-US" sz="2400" dirty="0"/>
          </a:p>
          <a:p>
            <a:pPr algn="ctr" eaLnBrk="1" hangingPunct="1"/>
            <a:endParaRPr lang="en-US" sz="2400" dirty="0"/>
          </a:p>
          <a:p>
            <a:pPr algn="ctr" eaLnBrk="1" hangingPunct="1"/>
            <a:endParaRPr lang="en-US" sz="2400" dirty="0"/>
          </a:p>
        </p:txBody>
      </p:sp>
    </p:spTree>
  </p:cSld>
  <p:clrMapOvr>
    <a:masterClrMapping/>
  </p:clrMapOvr>
  <p:transition advTm="875"/>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dirty="0" err="1"/>
              <a:t>Zhi</a:t>
            </a:r>
            <a:r>
              <a:rPr lang="en-US" dirty="0"/>
              <a:t> Da </a:t>
            </a:r>
          </a:p>
        </p:txBody>
      </p:sp>
      <p:sp>
        <p:nvSpPr>
          <p:cNvPr id="3" name="Content Placeholder 2"/>
          <p:cNvSpPr>
            <a:spLocks noGrp="1"/>
          </p:cNvSpPr>
          <p:nvPr>
            <p:ph idx="1"/>
          </p:nvPr>
        </p:nvSpPr>
        <p:spPr>
          <a:xfrm>
            <a:off x="4648200" y="1600200"/>
            <a:ext cx="4038600" cy="4530725"/>
          </a:xfrm>
        </p:spPr>
        <p:txBody>
          <a:bodyPr/>
          <a:lstStyle/>
          <a:p>
            <a:r>
              <a:rPr lang="en-US" altLang="zh-CN" dirty="0"/>
              <a:t>2006</a:t>
            </a:r>
            <a:r>
              <a:rPr lang="zh-CN" altLang="en-US" dirty="0"/>
              <a:t>年获西北大学</a:t>
            </a:r>
            <a:r>
              <a:rPr lang="en-US" altLang="zh-CN" dirty="0"/>
              <a:t>Kellogg</a:t>
            </a:r>
            <a:r>
              <a:rPr lang="zh-CN" altLang="en-US" dirty="0"/>
              <a:t>管理学院金融学博士学位</a:t>
            </a:r>
            <a:endParaRPr lang="en-US" altLang="zh-CN" dirty="0"/>
          </a:p>
          <a:p>
            <a:endParaRPr lang="en-US" dirty="0"/>
          </a:p>
          <a:p>
            <a:r>
              <a:rPr lang="zh-CN" altLang="en-US" dirty="0"/>
              <a:t>任职经历：圣母大学</a:t>
            </a:r>
            <a:endParaRPr lang="en-US" altLang="zh-CN" dirty="0"/>
          </a:p>
          <a:p>
            <a:pPr lvl="1"/>
            <a:r>
              <a:rPr lang="en-US" dirty="0"/>
              <a:t>Howard J. and Geraldine F. </a:t>
            </a:r>
            <a:r>
              <a:rPr lang="en-US" dirty="0" err="1"/>
              <a:t>Korth</a:t>
            </a:r>
            <a:r>
              <a:rPr lang="zh-CN" altLang="en-US" dirty="0"/>
              <a:t>讲席教授</a:t>
            </a:r>
            <a:endParaRPr lang="en-US" altLang="zh-CN" dirty="0"/>
          </a:p>
          <a:p>
            <a:endParaRPr lang="en-US" dirty="0"/>
          </a:p>
          <a:p>
            <a:r>
              <a:rPr lang="zh-CN" altLang="en-US" dirty="0"/>
              <a:t>研究领域：</a:t>
            </a:r>
            <a:r>
              <a:rPr lang="en-US" dirty="0"/>
              <a:t> </a:t>
            </a:r>
          </a:p>
          <a:p>
            <a:pPr lvl="1"/>
            <a:r>
              <a:rPr lang="zh-CN" altLang="en-US" dirty="0"/>
              <a:t>资产定价</a:t>
            </a:r>
            <a:endParaRPr 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600200"/>
            <a:ext cx="3124200" cy="3124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dirty="0" err="1"/>
              <a:t>Zhi</a:t>
            </a:r>
            <a:r>
              <a:rPr lang="en-US" dirty="0"/>
              <a:t> Da </a:t>
            </a:r>
          </a:p>
        </p:txBody>
      </p:sp>
      <p:sp>
        <p:nvSpPr>
          <p:cNvPr id="3" name="Content Placeholder 2"/>
          <p:cNvSpPr>
            <a:spLocks noGrp="1"/>
          </p:cNvSpPr>
          <p:nvPr>
            <p:ph idx="1"/>
          </p:nvPr>
        </p:nvSpPr>
        <p:spPr>
          <a:xfrm>
            <a:off x="457200" y="1336675"/>
            <a:ext cx="8229600" cy="4530725"/>
          </a:xfrm>
        </p:spPr>
        <p:txBody>
          <a:bodyPr/>
          <a:lstStyle/>
          <a:p>
            <a:r>
              <a:rPr lang="zh-CN" altLang="en-US" dirty="0"/>
              <a:t>其他需要了解的重要事项：</a:t>
            </a:r>
            <a:endParaRPr lang="en-US" dirty="0"/>
          </a:p>
          <a:p>
            <a:pPr lvl="1" algn="just"/>
            <a:r>
              <a:rPr lang="en-US" dirty="0"/>
              <a:t>Journal of Finance</a:t>
            </a:r>
            <a:r>
              <a:rPr lang="zh-CN" altLang="en-US" dirty="0"/>
              <a:t>副主编，</a:t>
            </a:r>
            <a:r>
              <a:rPr lang="en-US" dirty="0"/>
              <a:t>Review of Financial Studies</a:t>
            </a:r>
            <a:r>
              <a:rPr lang="zh-CN" altLang="en-US" dirty="0"/>
              <a:t>副主编，</a:t>
            </a:r>
            <a:br>
              <a:rPr lang="en-US" dirty="0"/>
            </a:br>
            <a:r>
              <a:rPr lang="en-US" dirty="0"/>
              <a:t>Management Science</a:t>
            </a:r>
            <a:r>
              <a:rPr lang="zh-CN" altLang="en-US" dirty="0"/>
              <a:t>副主编，</a:t>
            </a:r>
            <a:r>
              <a:rPr lang="en-US" dirty="0"/>
              <a:t>Journal of Financial and Quantitative Analysis</a:t>
            </a:r>
            <a:r>
              <a:rPr lang="zh-CN" altLang="en-US" dirty="0"/>
              <a:t>副主编，</a:t>
            </a:r>
            <a:r>
              <a:rPr lang="en-US" dirty="0"/>
              <a:t>Critical Finance Review</a:t>
            </a:r>
            <a:r>
              <a:rPr lang="zh-CN" altLang="en-US" dirty="0"/>
              <a:t>副主编，</a:t>
            </a:r>
            <a:r>
              <a:rPr lang="en-US" dirty="0"/>
              <a:t> Journal of Banking and Finance</a:t>
            </a:r>
            <a:r>
              <a:rPr lang="zh-CN" altLang="en-US" dirty="0"/>
              <a:t>副主编</a:t>
            </a:r>
            <a:r>
              <a:rPr lang="en-US" dirty="0"/>
              <a:t>, International Review of Finance</a:t>
            </a:r>
            <a:r>
              <a:rPr lang="zh-CN" altLang="en-US" dirty="0"/>
              <a:t>副主编，</a:t>
            </a:r>
            <a:r>
              <a:rPr lang="en-US" dirty="0"/>
              <a:t>Pacific-Basin Finance Journal</a:t>
            </a:r>
            <a:r>
              <a:rPr lang="zh-CN" altLang="en-US" dirty="0"/>
              <a:t>副主编，</a:t>
            </a:r>
            <a:r>
              <a:rPr lang="en-US" dirty="0"/>
              <a:t>Finance Research Letters</a:t>
            </a:r>
            <a:r>
              <a:rPr lang="zh-CN" altLang="en-US" dirty="0"/>
              <a:t>联合主编</a:t>
            </a:r>
            <a:endParaRPr lang="en-US" altLang="zh-CN" dirty="0"/>
          </a:p>
          <a:p>
            <a:pPr lvl="1" algn="just"/>
            <a:endParaRPr lang="en-US" altLang="zh-CN" dirty="0"/>
          </a:p>
          <a:p>
            <a:pPr lvl="1" algn="just"/>
            <a:r>
              <a:rPr lang="zh-CN" altLang="en-US" dirty="0">
                <a:ea typeface="+mn-ea"/>
                <a:cs typeface="+mn-cs"/>
              </a:rPr>
              <a:t>美国金融协会（</a:t>
            </a:r>
            <a:r>
              <a:rPr lang="en-US" altLang="zh-CN" dirty="0">
                <a:ea typeface="+mn-ea"/>
                <a:cs typeface="+mn-cs"/>
              </a:rPr>
              <a:t>AFA</a:t>
            </a:r>
            <a:r>
              <a:rPr lang="zh-CN" altLang="en-US" dirty="0">
                <a:ea typeface="+mn-ea"/>
                <a:cs typeface="+mn-cs"/>
              </a:rPr>
              <a:t>）提名委员会成员，香港研究基金外审专家，为多所大学的</a:t>
            </a:r>
            <a:r>
              <a:rPr lang="en-US" altLang="zh-CN" dirty="0">
                <a:ea typeface="+mn-ea"/>
                <a:cs typeface="+mn-cs"/>
              </a:rPr>
              <a:t>tenure</a:t>
            </a:r>
            <a:r>
              <a:rPr lang="zh-CN" altLang="en-US" dirty="0">
                <a:ea typeface="+mn-ea"/>
                <a:cs typeface="+mn-cs"/>
              </a:rPr>
              <a:t>考核提供外部审核，为美国和中国的一些私募基金提供咨询服务</a:t>
            </a:r>
            <a:endParaRPr lang="en-US" altLang="zh-CN" dirty="0">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dirty="0"/>
              <a:t> Joseph </a:t>
            </a:r>
            <a:r>
              <a:rPr lang="en-US" dirty="0" err="1"/>
              <a:t>Engelberg</a:t>
            </a:r>
            <a:r>
              <a:rPr lang="en-US" dirty="0"/>
              <a:t> </a:t>
            </a:r>
          </a:p>
        </p:txBody>
      </p:sp>
      <p:sp>
        <p:nvSpPr>
          <p:cNvPr id="3" name="Content Placeholder 2"/>
          <p:cNvSpPr>
            <a:spLocks noGrp="1"/>
          </p:cNvSpPr>
          <p:nvPr>
            <p:ph idx="1"/>
          </p:nvPr>
        </p:nvSpPr>
        <p:spPr>
          <a:xfrm>
            <a:off x="5105400" y="1600200"/>
            <a:ext cx="3581400" cy="4530725"/>
          </a:xfrm>
        </p:spPr>
        <p:txBody>
          <a:bodyPr/>
          <a:lstStyle/>
          <a:p>
            <a:r>
              <a:rPr lang="en-US" altLang="zh-CN" dirty="0"/>
              <a:t>2009</a:t>
            </a:r>
            <a:r>
              <a:rPr lang="zh-CN" altLang="en-US" dirty="0"/>
              <a:t>年获西北大学</a:t>
            </a:r>
            <a:r>
              <a:rPr lang="en-US" altLang="zh-CN" dirty="0"/>
              <a:t>Kellogg</a:t>
            </a:r>
            <a:r>
              <a:rPr lang="zh-CN" altLang="en-US" dirty="0"/>
              <a:t>管理学院金融学博士学位</a:t>
            </a:r>
            <a:endParaRPr lang="en-US" altLang="zh-CN" dirty="0"/>
          </a:p>
          <a:p>
            <a:endParaRPr lang="en-US" dirty="0"/>
          </a:p>
          <a:p>
            <a:r>
              <a:rPr lang="zh-CN" altLang="en-US" dirty="0"/>
              <a:t>任职经历：加州大学圣地亚哥分校</a:t>
            </a:r>
            <a:endParaRPr lang="en-US" altLang="zh-CN" dirty="0"/>
          </a:p>
          <a:p>
            <a:endParaRPr lang="en-US" dirty="0"/>
          </a:p>
          <a:p>
            <a:r>
              <a:rPr lang="zh-CN" altLang="en-US" dirty="0"/>
              <a:t>研究领域：</a:t>
            </a:r>
            <a:r>
              <a:rPr lang="en-US" dirty="0"/>
              <a:t> </a:t>
            </a:r>
          </a:p>
          <a:p>
            <a:pPr lvl="1"/>
            <a:r>
              <a:rPr lang="zh-CN" altLang="en-US" dirty="0"/>
              <a:t>信息在市场参与者之间传播的方式，尤其是通过金融媒体和社交网络</a:t>
            </a:r>
            <a:endParaRPr lang="en-US" dirty="0">
              <a:ea typeface="+mn-ea"/>
              <a:cs typeface="+mn-cs"/>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417638"/>
            <a:ext cx="3200400" cy="3200400"/>
          </a:xfrm>
          <a:prstGeom prst="rect">
            <a:avLst/>
          </a:prstGeom>
        </p:spPr>
      </p:pic>
    </p:spTree>
    <p:extLst>
      <p:ext uri="{BB962C8B-B14F-4D97-AF65-F5344CB8AC3E}">
        <p14:creationId xmlns:p14="http://schemas.microsoft.com/office/powerpoint/2010/main" val="938464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dirty="0"/>
              <a:t> Joseph </a:t>
            </a:r>
            <a:r>
              <a:rPr lang="en-US" dirty="0" err="1"/>
              <a:t>Engelberg</a:t>
            </a:r>
            <a:r>
              <a:rPr lang="en-US" dirty="0"/>
              <a:t> </a:t>
            </a:r>
          </a:p>
        </p:txBody>
      </p:sp>
      <p:sp>
        <p:nvSpPr>
          <p:cNvPr id="3" name="Content Placeholder 2"/>
          <p:cNvSpPr>
            <a:spLocks noGrp="1"/>
          </p:cNvSpPr>
          <p:nvPr>
            <p:ph idx="1"/>
          </p:nvPr>
        </p:nvSpPr>
        <p:spPr>
          <a:xfrm>
            <a:off x="457200" y="1336675"/>
            <a:ext cx="8229600" cy="4530725"/>
          </a:xfrm>
        </p:spPr>
        <p:txBody>
          <a:bodyPr/>
          <a:lstStyle/>
          <a:p>
            <a:r>
              <a:rPr lang="zh-CN" altLang="en-US" dirty="0"/>
              <a:t>其他需要了解的重要事项：</a:t>
            </a:r>
            <a:endParaRPr lang="en-US" dirty="0"/>
          </a:p>
          <a:p>
            <a:pPr lvl="1" algn="just"/>
            <a:endParaRPr lang="en-US" altLang="zh-CN" dirty="0"/>
          </a:p>
          <a:p>
            <a:pPr lvl="1" algn="just"/>
            <a:r>
              <a:rPr lang="en-US" dirty="0"/>
              <a:t>American Economic Review, Journal of Political Economy, Science, Quarterly Journal of Economics, Journal of Finance, Journal of Financial Economics, Review of Financial Studies, Review of Accounting Studies, Journal of Monetary Economics, Management Science</a:t>
            </a:r>
            <a:r>
              <a:rPr lang="zh-CN" altLang="en-US" dirty="0"/>
              <a:t>等期刊的审稿人</a:t>
            </a:r>
            <a:endParaRPr lang="en-US" dirty="0"/>
          </a:p>
          <a:p>
            <a:pPr lvl="1" algn="just"/>
            <a:endParaRPr lang="en-US" altLang="zh-CN" dirty="0">
              <a:ea typeface="+mn-ea"/>
              <a:cs typeface="+mn-cs"/>
            </a:endParaRPr>
          </a:p>
          <a:p>
            <a:pPr lvl="1" algn="just"/>
            <a:r>
              <a:rPr lang="zh-CN" altLang="en-US" dirty="0">
                <a:ea typeface="+mn-ea"/>
                <a:cs typeface="+mn-cs"/>
              </a:rPr>
              <a:t>接受</a:t>
            </a:r>
            <a:r>
              <a:rPr lang="en-US" altLang="zh-CN" dirty="0">
                <a:ea typeface="+mn-ea"/>
                <a:cs typeface="+mn-cs"/>
              </a:rPr>
              <a:t>Bloomberg</a:t>
            </a:r>
            <a:r>
              <a:rPr lang="zh-CN" altLang="en-US" dirty="0">
                <a:ea typeface="+mn-ea"/>
                <a:cs typeface="+mn-cs"/>
              </a:rPr>
              <a:t>，纽约时报，</a:t>
            </a:r>
            <a:r>
              <a:rPr lang="en-US" altLang="zh-CN" dirty="0">
                <a:ea typeface="+mn-ea"/>
                <a:cs typeface="+mn-cs"/>
              </a:rPr>
              <a:t>ABC</a:t>
            </a:r>
            <a:r>
              <a:rPr lang="zh-CN" altLang="en-US" dirty="0">
                <a:ea typeface="+mn-ea"/>
                <a:cs typeface="+mn-cs"/>
              </a:rPr>
              <a:t>新闻，华尔街日报，金融时报等采访</a:t>
            </a:r>
            <a:endParaRPr lang="en-US" altLang="zh-CN" dirty="0">
              <a:ea typeface="+mn-ea"/>
              <a:cs typeface="+mn-cs"/>
            </a:endParaRPr>
          </a:p>
          <a:p>
            <a:pPr lvl="1" algn="just"/>
            <a:endParaRPr lang="en-US" altLang="zh-CN" dirty="0">
              <a:ea typeface="+mn-ea"/>
              <a:cs typeface="+mn-cs"/>
            </a:endParaRPr>
          </a:p>
          <a:p>
            <a:pPr lvl="1" algn="just"/>
            <a:r>
              <a:rPr lang="zh-CN" altLang="en-US" dirty="0">
                <a:ea typeface="+mn-ea"/>
                <a:cs typeface="+mn-cs"/>
              </a:rPr>
              <a:t>业界：</a:t>
            </a:r>
            <a:r>
              <a:rPr lang="en-US" dirty="0"/>
              <a:t>Fuller </a:t>
            </a:r>
            <a:r>
              <a:rPr lang="en-US" dirty="0" err="1"/>
              <a:t>Thaler</a:t>
            </a:r>
            <a:r>
              <a:rPr lang="en-US" dirty="0"/>
              <a:t> Asset Management</a:t>
            </a:r>
            <a:r>
              <a:rPr lang="zh-CN" altLang="en-US" dirty="0"/>
              <a:t>提供学术咨询，</a:t>
            </a:r>
            <a:r>
              <a:rPr lang="en-US" dirty="0"/>
              <a:t>Counterpoint Mutual Funds</a:t>
            </a:r>
            <a:r>
              <a:rPr lang="zh-CN" altLang="en-US" dirty="0"/>
              <a:t>的首席研究官</a:t>
            </a:r>
            <a:endParaRPr lang="en-US" altLang="zh-CN" dirty="0">
              <a:ea typeface="+mn-ea"/>
              <a:cs typeface="+mn-cs"/>
            </a:endParaRPr>
          </a:p>
        </p:txBody>
      </p:sp>
    </p:spTree>
    <p:extLst>
      <p:ext uri="{BB962C8B-B14F-4D97-AF65-F5344CB8AC3E}">
        <p14:creationId xmlns:p14="http://schemas.microsoft.com/office/powerpoint/2010/main" val="2356923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dirty="0"/>
              <a:t> </a:t>
            </a:r>
            <a:r>
              <a:rPr lang="en-US" dirty="0" err="1"/>
              <a:t>Pengjie</a:t>
            </a:r>
            <a:r>
              <a:rPr lang="en-US" dirty="0"/>
              <a:t> Gao</a:t>
            </a:r>
          </a:p>
        </p:txBody>
      </p:sp>
      <p:sp>
        <p:nvSpPr>
          <p:cNvPr id="3" name="Content Placeholder 2"/>
          <p:cNvSpPr>
            <a:spLocks noGrp="1"/>
          </p:cNvSpPr>
          <p:nvPr>
            <p:ph idx="1"/>
          </p:nvPr>
        </p:nvSpPr>
        <p:spPr>
          <a:xfrm>
            <a:off x="5105400" y="1600200"/>
            <a:ext cx="3581400" cy="4530725"/>
          </a:xfrm>
        </p:spPr>
        <p:txBody>
          <a:bodyPr/>
          <a:lstStyle/>
          <a:p>
            <a:r>
              <a:rPr lang="en-US" altLang="zh-CN" dirty="0"/>
              <a:t>2007</a:t>
            </a:r>
            <a:r>
              <a:rPr lang="zh-CN" altLang="en-US" dirty="0"/>
              <a:t>年获西北大学</a:t>
            </a:r>
            <a:r>
              <a:rPr lang="en-US" altLang="zh-CN" dirty="0"/>
              <a:t>Kellogg</a:t>
            </a:r>
            <a:r>
              <a:rPr lang="zh-CN" altLang="en-US" dirty="0"/>
              <a:t>管理学院金融学博士学位</a:t>
            </a:r>
            <a:endParaRPr lang="en-US" altLang="zh-CN" dirty="0"/>
          </a:p>
          <a:p>
            <a:endParaRPr lang="en-US" dirty="0"/>
          </a:p>
          <a:p>
            <a:r>
              <a:rPr lang="zh-CN" altLang="en-US" dirty="0"/>
              <a:t>任职经历：圣母大学</a:t>
            </a:r>
            <a:endParaRPr lang="en-US" altLang="zh-CN" dirty="0"/>
          </a:p>
          <a:p>
            <a:endParaRPr lang="en-US" dirty="0"/>
          </a:p>
          <a:p>
            <a:r>
              <a:rPr lang="zh-CN" altLang="en-US" dirty="0"/>
              <a:t>研究领域：</a:t>
            </a:r>
            <a:r>
              <a:rPr lang="en-US" dirty="0"/>
              <a:t> </a:t>
            </a:r>
          </a:p>
          <a:p>
            <a:pPr lvl="1"/>
            <a:r>
              <a:rPr lang="zh-CN" altLang="en-US" dirty="0">
                <a:ea typeface="+mn-ea"/>
                <a:cs typeface="+mn-cs"/>
              </a:rPr>
              <a:t>资产定价、行为金融、对冲基金等</a:t>
            </a:r>
            <a:endParaRPr lang="en-US" dirty="0">
              <a:ea typeface="+mn-ea"/>
              <a:cs typeface="+mn-cs"/>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402397"/>
            <a:ext cx="3048000" cy="4188663"/>
          </a:xfrm>
          <a:prstGeom prst="rect">
            <a:avLst/>
          </a:prstGeom>
        </p:spPr>
      </p:pic>
    </p:spTree>
    <p:extLst>
      <p:ext uri="{BB962C8B-B14F-4D97-AF65-F5344CB8AC3E}">
        <p14:creationId xmlns:p14="http://schemas.microsoft.com/office/powerpoint/2010/main" val="3042383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作者：</a:t>
            </a:r>
            <a:r>
              <a:rPr lang="en-US" dirty="0"/>
              <a:t> </a:t>
            </a:r>
            <a:r>
              <a:rPr lang="en-US" dirty="0" err="1"/>
              <a:t>Pengjie</a:t>
            </a:r>
            <a:r>
              <a:rPr lang="en-US" dirty="0"/>
              <a:t> Gao</a:t>
            </a:r>
          </a:p>
        </p:txBody>
      </p:sp>
      <p:sp>
        <p:nvSpPr>
          <p:cNvPr id="3" name="Content Placeholder 2"/>
          <p:cNvSpPr>
            <a:spLocks noGrp="1"/>
          </p:cNvSpPr>
          <p:nvPr>
            <p:ph idx="1"/>
          </p:nvPr>
        </p:nvSpPr>
        <p:spPr>
          <a:xfrm>
            <a:off x="457200" y="1336675"/>
            <a:ext cx="8229600" cy="4530725"/>
          </a:xfrm>
        </p:spPr>
        <p:txBody>
          <a:bodyPr/>
          <a:lstStyle/>
          <a:p>
            <a:r>
              <a:rPr lang="zh-CN" altLang="en-US" dirty="0"/>
              <a:t>其他需要了解的重要事项：</a:t>
            </a:r>
            <a:endParaRPr lang="en-US" dirty="0"/>
          </a:p>
          <a:p>
            <a:pPr lvl="1" algn="just"/>
            <a:r>
              <a:rPr lang="en-US" dirty="0"/>
              <a:t>Financial Management, Associate Editor</a:t>
            </a:r>
            <a:r>
              <a:rPr lang="zh-CN" altLang="en-US" dirty="0"/>
              <a:t>和</a:t>
            </a:r>
            <a:r>
              <a:rPr lang="en-US" dirty="0"/>
              <a:t>Pacific-Basin Finance Journal, Associate Editor</a:t>
            </a:r>
            <a:r>
              <a:rPr lang="zh-CN" altLang="en-US" dirty="0"/>
              <a:t>的副主编</a:t>
            </a:r>
            <a:endParaRPr lang="en-US" altLang="zh-CN" dirty="0"/>
          </a:p>
          <a:p>
            <a:pPr lvl="1" algn="just"/>
            <a:endParaRPr lang="en-US" altLang="zh-CN" dirty="0">
              <a:ea typeface="+mn-ea"/>
              <a:cs typeface="+mn-cs"/>
            </a:endParaRPr>
          </a:p>
          <a:p>
            <a:pPr lvl="1" algn="just"/>
            <a:r>
              <a:rPr lang="en-US" dirty="0"/>
              <a:t>American Economic Review, Journal of Finance Journal of Financial Economics, Review of Financial Studies, Management Science</a:t>
            </a:r>
            <a:r>
              <a:rPr lang="zh-CN" altLang="en-US" dirty="0"/>
              <a:t>等期刊的审稿人</a:t>
            </a:r>
            <a:endParaRPr lang="en-US" altLang="zh-CN" dirty="0"/>
          </a:p>
          <a:p>
            <a:pPr lvl="1" algn="just"/>
            <a:endParaRPr lang="en-US" altLang="zh-CN" dirty="0">
              <a:ea typeface="+mn-ea"/>
              <a:cs typeface="+mn-cs"/>
            </a:endParaRPr>
          </a:p>
          <a:p>
            <a:pPr lvl="1" algn="just"/>
            <a:r>
              <a:rPr lang="zh-CN" altLang="en-US" dirty="0">
                <a:ea typeface="+mn-ea"/>
                <a:cs typeface="+mn-cs"/>
              </a:rPr>
              <a:t>上海证券交易所 高级访问学者 </a:t>
            </a:r>
            <a:r>
              <a:rPr lang="en-US" altLang="zh-CN" dirty="0">
                <a:ea typeface="+mn-ea"/>
                <a:cs typeface="+mn-cs"/>
              </a:rPr>
              <a:t>2012-2013 </a:t>
            </a:r>
            <a:r>
              <a:rPr lang="zh-CN" altLang="en-US" dirty="0">
                <a:ea typeface="+mn-ea"/>
                <a:cs typeface="+mn-cs"/>
              </a:rPr>
              <a:t>研究</a:t>
            </a:r>
            <a:r>
              <a:rPr lang="en-US" altLang="zh-CN" dirty="0">
                <a:ea typeface="+mn-ea"/>
                <a:cs typeface="+mn-cs"/>
              </a:rPr>
              <a:t>QFII</a:t>
            </a:r>
          </a:p>
          <a:p>
            <a:pPr lvl="1" algn="just"/>
            <a:endParaRPr lang="en-US" altLang="zh-CN" dirty="0">
              <a:ea typeface="+mn-ea"/>
              <a:cs typeface="+mn-cs"/>
            </a:endParaRPr>
          </a:p>
          <a:p>
            <a:pPr lvl="1" algn="just"/>
            <a:r>
              <a:rPr lang="zh-CN" altLang="en-US" dirty="0">
                <a:ea typeface="+mn-ea"/>
                <a:cs typeface="+mn-cs"/>
              </a:rPr>
              <a:t>获得</a:t>
            </a:r>
            <a:r>
              <a:rPr lang="en-US" altLang="zh-CN" dirty="0">
                <a:ea typeface="+mn-ea"/>
                <a:cs typeface="+mn-cs"/>
              </a:rPr>
              <a:t>2007</a:t>
            </a:r>
            <a:r>
              <a:rPr lang="zh-CN" altLang="en-US" dirty="0">
                <a:ea typeface="+mn-ea"/>
                <a:cs typeface="+mn-cs"/>
              </a:rPr>
              <a:t>年</a:t>
            </a:r>
            <a:r>
              <a:rPr lang="en-US" altLang="zh-CN" dirty="0">
                <a:ea typeface="+mn-ea"/>
                <a:cs typeface="+mn-cs"/>
              </a:rPr>
              <a:t>CICF </a:t>
            </a:r>
            <a:r>
              <a:rPr lang="en-US" dirty="0" err="1"/>
              <a:t>Yihong</a:t>
            </a:r>
            <a:r>
              <a:rPr lang="en-US" dirty="0"/>
              <a:t> Xia Memorial Best Paper Award, 2009</a:t>
            </a:r>
            <a:r>
              <a:rPr lang="zh-CN" altLang="en-US" dirty="0"/>
              <a:t>年因为这篇论文，三位作者一起获得</a:t>
            </a:r>
            <a:r>
              <a:rPr lang="en-US" dirty="0"/>
              <a:t>Chicago Quantitative Alliance (CQA) Academic Competition</a:t>
            </a:r>
            <a:r>
              <a:rPr lang="zh-CN" altLang="en-US" dirty="0"/>
              <a:t>一等奖，</a:t>
            </a:r>
            <a:r>
              <a:rPr lang="en-US" dirty="0"/>
              <a:t> Crowell Memorial Prize</a:t>
            </a:r>
            <a:r>
              <a:rPr lang="zh-CN" altLang="en-US" dirty="0"/>
              <a:t>一等奖</a:t>
            </a:r>
            <a:endParaRPr lang="en-US" altLang="zh-CN" dirty="0">
              <a:ea typeface="+mn-ea"/>
              <a:cs typeface="+mn-cs"/>
            </a:endParaRPr>
          </a:p>
        </p:txBody>
      </p:sp>
    </p:spTree>
    <p:extLst>
      <p:ext uri="{BB962C8B-B14F-4D97-AF65-F5344CB8AC3E}">
        <p14:creationId xmlns:p14="http://schemas.microsoft.com/office/powerpoint/2010/main" val="2408565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出版细节</a:t>
            </a:r>
            <a:endParaRPr lang="en-US" dirty="0"/>
          </a:p>
        </p:txBody>
      </p:sp>
      <p:sp>
        <p:nvSpPr>
          <p:cNvPr id="3" name="内容占位符 2"/>
          <p:cNvSpPr>
            <a:spLocks noGrp="1"/>
          </p:cNvSpPr>
          <p:nvPr>
            <p:ph idx="1"/>
          </p:nvPr>
        </p:nvSpPr>
        <p:spPr/>
        <p:txBody>
          <a:bodyPr/>
          <a:lstStyle/>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altLang="zh-CN" dirty="0"/>
          </a:p>
          <a:p>
            <a:r>
              <a:rPr lang="en-US" altLang="zh-CN" dirty="0"/>
              <a:t>Journal of Finance</a:t>
            </a:r>
            <a:r>
              <a:rPr lang="zh-CN" altLang="en-US" dirty="0"/>
              <a:t>引用</a:t>
            </a:r>
            <a:r>
              <a:rPr lang="en-US" altLang="zh-CN" dirty="0"/>
              <a:t>: 1,416</a:t>
            </a:r>
          </a:p>
          <a:p>
            <a:r>
              <a:rPr lang="en-US" altLang="zh-CN" dirty="0"/>
              <a:t>Google Scholar </a:t>
            </a:r>
            <a:r>
              <a:rPr lang="zh-CN" altLang="en-US" dirty="0"/>
              <a:t>引用</a:t>
            </a:r>
            <a:r>
              <a:rPr lang="en-US" dirty="0"/>
              <a:t>: 2,707</a:t>
            </a:r>
          </a:p>
        </p:txBody>
      </p:sp>
      <p:pic>
        <p:nvPicPr>
          <p:cNvPr id="4" name="图片 3"/>
          <p:cNvPicPr>
            <a:picLocks noChangeAspect="1"/>
          </p:cNvPicPr>
          <p:nvPr/>
        </p:nvPicPr>
        <p:blipFill>
          <a:blip r:embed="rId3"/>
          <a:stretch>
            <a:fillRect/>
          </a:stretch>
        </p:blipFill>
        <p:spPr>
          <a:xfrm>
            <a:off x="1600200" y="914400"/>
            <a:ext cx="5867400" cy="43760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zh-CN" altLang="en-US" dirty="0"/>
              <a:t>研究</a:t>
            </a:r>
            <a:r>
              <a:rPr lang="en-US" dirty="0" err="1"/>
              <a:t>动机</a:t>
            </a:r>
            <a:endParaRPr lang="en-US" dirty="0"/>
          </a:p>
        </p:txBody>
      </p:sp>
      <p:sp>
        <p:nvSpPr>
          <p:cNvPr id="3" name="Content Placeholder 2"/>
          <p:cNvSpPr>
            <a:spLocks noGrp="1"/>
          </p:cNvSpPr>
          <p:nvPr>
            <p:ph idx="1"/>
          </p:nvPr>
        </p:nvSpPr>
        <p:spPr/>
        <p:txBody>
          <a:bodyPr/>
          <a:lstStyle/>
          <a:p>
            <a:r>
              <a:rPr lang="zh-CN" altLang="en-US" dirty="0"/>
              <a:t>传统的资产定价模型假设信息能够迅速的被包含在价格中，这个假设要求投资者能够分配足够的注意力在这个资产上</a:t>
            </a:r>
            <a:endParaRPr lang="en-US" altLang="zh-CN" dirty="0"/>
          </a:p>
          <a:p>
            <a:endParaRPr lang="en-US" dirty="0"/>
          </a:p>
          <a:p>
            <a:r>
              <a:rPr lang="zh-CN" altLang="en-US" dirty="0"/>
              <a:t>现实中，注意力是很稀缺的认知资源，投资者的注意力是有限的</a:t>
            </a:r>
            <a:endParaRPr lang="en-US" altLang="zh-CN" dirty="0"/>
          </a:p>
          <a:p>
            <a:pPr lvl="1"/>
            <a:r>
              <a:rPr lang="zh-CN" altLang="en-US" dirty="0"/>
              <a:t>理论上现有文献提出了有限注意力如何影响资产价格</a:t>
            </a:r>
            <a:endParaRPr lang="en-US" altLang="zh-CN" dirty="0"/>
          </a:p>
          <a:p>
            <a:pPr lvl="1"/>
            <a:r>
              <a:rPr lang="zh-CN" altLang="en-US" dirty="0"/>
              <a:t>实证者面临一个巨大的挑战，如何</a:t>
            </a:r>
            <a:r>
              <a:rPr lang="zh-CN" altLang="en-US" b="1" dirty="0"/>
              <a:t>直接</a:t>
            </a:r>
            <a:r>
              <a:rPr lang="zh-CN" altLang="en-US" dirty="0"/>
              <a:t>衡量投资者注意力？</a:t>
            </a:r>
            <a:endParaRPr lang="en-US" dirty="0"/>
          </a:p>
          <a:p>
            <a:pPr lvl="1"/>
            <a:endParaRPr lang="en-US" dirty="0"/>
          </a:p>
          <a:p>
            <a:r>
              <a:rPr lang="zh-CN" altLang="en-US" dirty="0"/>
              <a:t>间接衡量投资者注意力的指标：如极端的收益率，交易量，新闻，广告费用，涨跌停板等。</a:t>
            </a:r>
            <a:endParaRPr lang="en-US" altLang="zh-CN" dirty="0"/>
          </a:p>
          <a:p>
            <a:pPr lvl="1"/>
            <a:r>
              <a:rPr lang="zh-CN" altLang="en-US" dirty="0"/>
              <a:t>间接注意力指标都需要假设，当股票的收益率</a:t>
            </a:r>
            <a:r>
              <a:rPr lang="en-US" dirty="0"/>
              <a:t>/</a:t>
            </a:r>
            <a:r>
              <a:rPr lang="zh-CN" altLang="en-US" dirty="0"/>
              <a:t>交易量很极端，或者公司在新闻中被提及时，投资者需要注意到这些</a:t>
            </a:r>
            <a:endParaRPr lang="en-US" altLang="zh-CN" dirty="0"/>
          </a:p>
          <a:p>
            <a:pPr lvl="1"/>
            <a:r>
              <a:rPr lang="zh-CN" altLang="en-US" dirty="0"/>
              <a:t>但是股票的收益率</a:t>
            </a:r>
            <a:r>
              <a:rPr lang="en-US" dirty="0"/>
              <a:t>/</a:t>
            </a:r>
            <a:r>
              <a:rPr lang="zh-CN" altLang="en-US" dirty="0"/>
              <a:t>交易量会受到与注意力无关的因素的影响，而华尔街日报的新闻并不能保证投资者会阅读到它。</a:t>
            </a:r>
            <a:endParaRPr lang="en-US" dirty="0"/>
          </a:p>
          <a:p>
            <a:pPr lvl="1"/>
            <a:endParaRPr lang="en-US" dirty="0"/>
          </a:p>
        </p:txBody>
      </p:sp>
    </p:spTree>
    <p:extLst>
      <p:ext uri="{BB962C8B-B14F-4D97-AF65-F5344CB8AC3E}">
        <p14:creationId xmlns:p14="http://schemas.microsoft.com/office/powerpoint/2010/main" val="1278440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本文贡献</a:t>
            </a:r>
            <a:endParaRPr lang="en-US" dirty="0"/>
          </a:p>
        </p:txBody>
      </p:sp>
      <p:sp>
        <p:nvSpPr>
          <p:cNvPr id="3" name="内容占位符 2"/>
          <p:cNvSpPr>
            <a:spLocks noGrp="1"/>
          </p:cNvSpPr>
          <p:nvPr>
            <p:ph idx="1"/>
          </p:nvPr>
        </p:nvSpPr>
        <p:spPr/>
        <p:txBody>
          <a:bodyPr/>
          <a:lstStyle/>
          <a:p>
            <a:r>
              <a:rPr lang="zh-CN" altLang="en-US" dirty="0"/>
              <a:t>这篇论文提供了一个创新的直接衡量投资者注意力的指标：</a:t>
            </a:r>
            <a:r>
              <a:rPr lang="zh-CN" altLang="en-US" b="1" dirty="0"/>
              <a:t>谷歌搜索引擎对某个股票的总搜索量（</a:t>
            </a:r>
            <a:r>
              <a:rPr lang="en-US" altLang="zh-CN" b="1" dirty="0"/>
              <a:t>SVI</a:t>
            </a:r>
            <a:r>
              <a:rPr lang="zh-CN" altLang="en-US" b="1" dirty="0"/>
              <a:t>）</a:t>
            </a:r>
            <a:endParaRPr lang="en-US" altLang="zh-CN" dirty="0"/>
          </a:p>
          <a:p>
            <a:pPr lvl="1"/>
            <a:r>
              <a:rPr lang="zh-CN" altLang="en-US" dirty="0"/>
              <a:t>互联网用户通常使用搜索引擎搜集信息，谷歌是美国用户最常用的</a:t>
            </a:r>
            <a:endParaRPr lang="en-US" altLang="zh-CN" dirty="0"/>
          </a:p>
          <a:p>
            <a:pPr lvl="1"/>
            <a:r>
              <a:rPr lang="zh-CN" altLang="en-US" dirty="0"/>
              <a:t>搜索是一种被显示的注意力指标，搜索股票就是在关注股票</a:t>
            </a:r>
            <a:endParaRPr lang="en-US" altLang="zh-CN" dirty="0"/>
          </a:p>
          <a:p>
            <a:pPr lvl="1"/>
            <a:endParaRPr lang="en-US" dirty="0"/>
          </a:p>
          <a:p>
            <a:r>
              <a:rPr lang="en-US" altLang="zh-CN" dirty="0"/>
              <a:t>SVI</a:t>
            </a:r>
            <a:r>
              <a:rPr lang="zh-CN" altLang="en-US" dirty="0"/>
              <a:t>与现有注意力代理指标（极端收益率，换手率，新闻）的相关性为正，但是相关程度很低</a:t>
            </a:r>
            <a:endParaRPr lang="en-US" dirty="0"/>
          </a:p>
          <a:p>
            <a:endParaRPr lang="en-US" dirty="0"/>
          </a:p>
          <a:p>
            <a:r>
              <a:rPr lang="en-US" altLang="zh-CN" dirty="0"/>
              <a:t>SVI</a:t>
            </a:r>
            <a:r>
              <a:rPr lang="zh-CN" altLang="en-US" dirty="0"/>
              <a:t>代理的是个人投资者的注意力</a:t>
            </a:r>
            <a:endParaRPr lang="en-US" altLang="zh-CN" dirty="0"/>
          </a:p>
          <a:p>
            <a:endParaRPr lang="en-US" dirty="0"/>
          </a:p>
          <a:p>
            <a:r>
              <a:rPr lang="en-US" altLang="zh-CN" dirty="0"/>
              <a:t>SVI</a:t>
            </a:r>
            <a:r>
              <a:rPr lang="zh-CN" altLang="en-US" dirty="0"/>
              <a:t>与未来股票价格</a:t>
            </a:r>
            <a:endParaRPr lang="en-US" altLang="zh-CN" dirty="0"/>
          </a:p>
          <a:p>
            <a:pPr lvl="1"/>
            <a:r>
              <a:rPr lang="en-US" dirty="0"/>
              <a:t>SVI</a:t>
            </a:r>
            <a:r>
              <a:rPr lang="zh-CN" altLang="en-US" dirty="0"/>
              <a:t>上升预测未来</a:t>
            </a:r>
            <a:r>
              <a:rPr lang="en-US" dirty="0"/>
              <a:t>2</a:t>
            </a:r>
            <a:r>
              <a:rPr lang="zh-CN" altLang="en-US" dirty="0"/>
              <a:t>周股票价格的上升，但是价格会在长期</a:t>
            </a:r>
            <a:r>
              <a:rPr lang="en-US" dirty="0"/>
              <a:t>1</a:t>
            </a:r>
            <a:r>
              <a:rPr lang="zh-CN" altLang="en-US" dirty="0"/>
              <a:t>年反转</a:t>
            </a:r>
            <a:endParaRPr lang="en-US" altLang="zh-CN" dirty="0"/>
          </a:p>
          <a:p>
            <a:pPr lvl="1"/>
            <a:r>
              <a:rPr lang="en-US" dirty="0"/>
              <a:t>SVI</a:t>
            </a:r>
            <a:r>
              <a:rPr lang="zh-CN" altLang="en-US" dirty="0"/>
              <a:t>上升预测</a:t>
            </a:r>
            <a:r>
              <a:rPr lang="en-US" dirty="0"/>
              <a:t>IPO</a:t>
            </a:r>
            <a:r>
              <a:rPr lang="zh-CN" altLang="en-US" dirty="0"/>
              <a:t>发行第一天的大幅上升和长期的弱势表现</a:t>
            </a:r>
            <a:endParaRPr lang="en-US" dirty="0"/>
          </a:p>
        </p:txBody>
      </p:sp>
    </p:spTree>
    <p:extLst>
      <p:ext uri="{BB962C8B-B14F-4D97-AF65-F5344CB8AC3E}">
        <p14:creationId xmlns:p14="http://schemas.microsoft.com/office/powerpoint/2010/main" val="3280472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流程图</a:t>
            </a:r>
            <a:endParaRPr 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4112315309"/>
              </p:ext>
            </p:extLst>
          </p:nvPr>
        </p:nvGraphicFramePr>
        <p:xfrm>
          <a:off x="490537" y="1143000"/>
          <a:ext cx="8229600" cy="4530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8350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a:t>
            </a:r>
            <a:endParaRPr lang="en-US" dirty="0"/>
          </a:p>
        </p:txBody>
      </p:sp>
      <p:sp>
        <p:nvSpPr>
          <p:cNvPr id="3" name="内容占位符 2"/>
          <p:cNvSpPr>
            <a:spLocks noGrp="1"/>
          </p:cNvSpPr>
          <p:nvPr>
            <p:ph idx="1"/>
          </p:nvPr>
        </p:nvSpPr>
        <p:spPr/>
        <p:txBody>
          <a:bodyPr/>
          <a:lstStyle/>
          <a:p>
            <a:r>
              <a:rPr lang="zh-CN" altLang="en-US" dirty="0"/>
              <a:t>谷歌在</a:t>
            </a:r>
            <a:r>
              <a:rPr lang="en-US" dirty="0"/>
              <a:t>Google Trends</a:t>
            </a:r>
            <a:r>
              <a:rPr lang="zh-CN" altLang="en-US" dirty="0"/>
              <a:t>网站上公布了对关键词的搜索量指数（</a:t>
            </a:r>
            <a:r>
              <a:rPr lang="en-US" dirty="0"/>
              <a:t>Search Volume Index, SVI</a:t>
            </a:r>
            <a:r>
              <a:rPr lang="zh-CN" altLang="en-US" dirty="0"/>
              <a:t>），最早是</a:t>
            </a:r>
            <a:r>
              <a:rPr lang="en-US" altLang="zh-CN" dirty="0"/>
              <a:t>2004</a:t>
            </a:r>
            <a:r>
              <a:rPr lang="zh-CN" altLang="en-US" dirty="0"/>
              <a:t>年</a:t>
            </a:r>
            <a:r>
              <a:rPr lang="en-US" altLang="zh-CN" dirty="0"/>
              <a:t>1</a:t>
            </a:r>
            <a:r>
              <a:rPr lang="zh-CN" altLang="en-US" dirty="0"/>
              <a:t>月</a:t>
            </a:r>
            <a:endParaRPr lang="en-US" altLang="zh-CN" dirty="0"/>
          </a:p>
          <a:p>
            <a:pPr lvl="1"/>
            <a:r>
              <a:rPr lang="zh-CN" altLang="en-US" dirty="0"/>
              <a:t>样本区间：</a:t>
            </a:r>
            <a:r>
              <a:rPr lang="en-US" altLang="zh-CN" dirty="0"/>
              <a:t>2004</a:t>
            </a:r>
            <a:r>
              <a:rPr lang="zh-CN" altLang="en-US" dirty="0"/>
              <a:t>年</a:t>
            </a:r>
            <a:r>
              <a:rPr lang="en-US" altLang="zh-CN" dirty="0"/>
              <a:t>1</a:t>
            </a:r>
            <a:r>
              <a:rPr lang="zh-CN" altLang="en-US" dirty="0"/>
              <a:t>月</a:t>
            </a:r>
            <a:r>
              <a:rPr lang="en-US" altLang="zh-CN" dirty="0"/>
              <a:t>-2008</a:t>
            </a:r>
            <a:r>
              <a:rPr lang="zh-CN" altLang="en-US" dirty="0"/>
              <a:t>年</a:t>
            </a:r>
            <a:r>
              <a:rPr lang="en-US" altLang="zh-CN" dirty="0"/>
              <a:t>6</a:t>
            </a:r>
            <a:r>
              <a:rPr lang="zh-CN" altLang="en-US" dirty="0"/>
              <a:t>月</a:t>
            </a:r>
            <a:endParaRPr lang="en-US" altLang="zh-CN" dirty="0"/>
          </a:p>
          <a:p>
            <a:pPr lvl="1"/>
            <a:r>
              <a:rPr lang="zh-CN" altLang="en-US" dirty="0"/>
              <a:t>搜索罗素</a:t>
            </a:r>
            <a:r>
              <a:rPr lang="en-US" altLang="zh-CN" dirty="0"/>
              <a:t>3000</a:t>
            </a:r>
            <a:r>
              <a:rPr lang="zh-CN" altLang="en-US" dirty="0"/>
              <a:t>指数的股票，</a:t>
            </a:r>
            <a:r>
              <a:rPr lang="en-US" altLang="zh-CN" dirty="0"/>
              <a:t>3606</a:t>
            </a:r>
            <a:r>
              <a:rPr lang="zh-CN" altLang="en-US" dirty="0"/>
              <a:t>个被包含（或曾经被包含）的股票</a:t>
            </a:r>
            <a:endParaRPr lang="en-US" altLang="zh-CN" dirty="0"/>
          </a:p>
          <a:p>
            <a:pPr lvl="1"/>
            <a:r>
              <a:rPr lang="zh-CN" altLang="en-US" dirty="0"/>
              <a:t>搜索其股票代码（</a:t>
            </a:r>
            <a:r>
              <a:rPr lang="en-US" altLang="zh-CN" dirty="0"/>
              <a:t>ticker</a:t>
            </a:r>
            <a:r>
              <a:rPr lang="zh-CN" altLang="en-US" dirty="0"/>
              <a:t>，如</a:t>
            </a:r>
            <a:r>
              <a:rPr lang="en-US" altLang="zh-CN" dirty="0"/>
              <a:t>AAPL</a:t>
            </a:r>
            <a:r>
              <a:rPr lang="zh-CN" altLang="en-US" dirty="0"/>
              <a:t>）</a:t>
            </a:r>
            <a:endParaRPr lang="en-US" altLang="zh-CN" dirty="0"/>
          </a:p>
          <a:p>
            <a:endParaRPr lang="en-US" altLang="zh-CN" dirty="0"/>
          </a:p>
          <a:p>
            <a:r>
              <a:rPr lang="zh-CN" altLang="en-US" dirty="0"/>
              <a:t>每周对特定关键词的搜索指数（</a:t>
            </a:r>
            <a:r>
              <a:rPr lang="en-US" dirty="0"/>
              <a:t>Weekly SVI</a:t>
            </a:r>
            <a:r>
              <a:rPr lang="zh-CN" altLang="en-US" dirty="0"/>
              <a:t>）等于原始搜索数目，除以它的时间序列的平均值</a:t>
            </a:r>
            <a:endParaRPr lang="en-US" altLang="zh-CN" dirty="0"/>
          </a:p>
          <a:p>
            <a:endParaRPr lang="en-US" dirty="0"/>
          </a:p>
          <a:p>
            <a:r>
              <a:rPr lang="zh-CN" altLang="en-US" dirty="0"/>
              <a:t>每周异常搜索指数（</a:t>
            </a:r>
            <a:r>
              <a:rPr lang="en-US" altLang="zh-CN" dirty="0"/>
              <a:t>ASVI</a:t>
            </a:r>
            <a:r>
              <a:rPr lang="zh-CN" altLang="en-US" dirty="0"/>
              <a:t>）是本周的对数</a:t>
            </a:r>
            <a:r>
              <a:rPr lang="en-US" dirty="0"/>
              <a:t>SVI</a:t>
            </a:r>
            <a:r>
              <a:rPr lang="zh-CN" altLang="en-US" dirty="0"/>
              <a:t>减去之前八周的对数</a:t>
            </a:r>
            <a:r>
              <a:rPr lang="en-US" dirty="0"/>
              <a:t>SVI</a:t>
            </a:r>
            <a:r>
              <a:rPr lang="zh-CN" altLang="en-US" dirty="0"/>
              <a:t>的中位数，捕捉步骤</a:t>
            </a:r>
            <a:r>
              <a:rPr lang="en-US" dirty="0"/>
              <a:t>SVI</a:t>
            </a:r>
            <a:r>
              <a:rPr lang="zh-CN" altLang="en-US" dirty="0"/>
              <a:t>的新的变化</a:t>
            </a:r>
            <a:endParaRPr lang="en-US" dirty="0"/>
          </a:p>
        </p:txBody>
      </p:sp>
    </p:spTree>
    <p:extLst>
      <p:ext uri="{BB962C8B-B14F-4D97-AF65-F5344CB8AC3E}">
        <p14:creationId xmlns:p14="http://schemas.microsoft.com/office/powerpoint/2010/main" val="1832620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a:t>
            </a:r>
            <a:endParaRPr lang="en-US" dirty="0"/>
          </a:p>
        </p:txBody>
      </p:sp>
      <p:sp>
        <p:nvSpPr>
          <p:cNvPr id="3" name="内容占位符 2"/>
          <p:cNvSpPr>
            <a:spLocks noGrp="1"/>
          </p:cNvSpPr>
          <p:nvPr>
            <p:ph idx="1"/>
          </p:nvPr>
        </p:nvSpPr>
        <p:spPr/>
        <p:txBody>
          <a:bodyPr/>
          <a:lstStyle/>
          <a:p>
            <a:r>
              <a:rPr lang="zh-CN" altLang="en-US" dirty="0"/>
              <a:t>减肥（</a:t>
            </a:r>
            <a:r>
              <a:rPr lang="en-US" altLang="zh-CN" dirty="0"/>
              <a:t>Diet</a:t>
            </a:r>
            <a:r>
              <a:rPr lang="zh-CN" altLang="en-US" dirty="0"/>
              <a:t>）和 蔓越莓（</a:t>
            </a:r>
            <a:r>
              <a:rPr lang="en-US" altLang="zh-CN" dirty="0"/>
              <a:t>Cranberry)</a:t>
            </a:r>
            <a:r>
              <a:rPr lang="zh-CN" altLang="en-US" dirty="0"/>
              <a:t>的谷歌搜索指数（</a:t>
            </a:r>
            <a:r>
              <a:rPr lang="en-US" altLang="zh-CN" dirty="0"/>
              <a:t>SVI</a:t>
            </a:r>
            <a:r>
              <a:rPr lang="zh-CN" altLang="en-US" dirty="0"/>
              <a:t>）</a:t>
            </a:r>
            <a:endParaRPr lang="en-US" dirty="0"/>
          </a:p>
        </p:txBody>
      </p:sp>
      <p:pic>
        <p:nvPicPr>
          <p:cNvPr id="4" name="图片 3"/>
          <p:cNvPicPr>
            <a:picLocks noChangeAspect="1"/>
          </p:cNvPicPr>
          <p:nvPr/>
        </p:nvPicPr>
        <p:blipFill>
          <a:blip r:embed="rId2"/>
          <a:stretch>
            <a:fillRect/>
          </a:stretch>
        </p:blipFill>
        <p:spPr>
          <a:xfrm>
            <a:off x="762000" y="2068010"/>
            <a:ext cx="7315200" cy="4062915"/>
          </a:xfrm>
          <a:prstGeom prst="rect">
            <a:avLst/>
          </a:prstGeom>
        </p:spPr>
      </p:pic>
    </p:spTree>
    <p:extLst>
      <p:ext uri="{BB962C8B-B14F-4D97-AF65-F5344CB8AC3E}">
        <p14:creationId xmlns:p14="http://schemas.microsoft.com/office/powerpoint/2010/main" val="1767909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a:t>
            </a:r>
            <a:endParaRPr lang="en-US" dirty="0"/>
          </a:p>
        </p:txBody>
      </p:sp>
      <p:sp>
        <p:nvSpPr>
          <p:cNvPr id="3" name="内容占位符 2"/>
          <p:cNvSpPr>
            <a:spLocks noGrp="1"/>
          </p:cNvSpPr>
          <p:nvPr>
            <p:ph idx="1"/>
          </p:nvPr>
        </p:nvSpPr>
        <p:spPr/>
        <p:txBody>
          <a:bodyPr/>
          <a:lstStyle/>
          <a:p>
            <a:r>
              <a:rPr lang="zh-CN" altLang="en-US" dirty="0"/>
              <a:t>微软（</a:t>
            </a:r>
            <a:r>
              <a:rPr lang="en-US" altLang="zh-CN" dirty="0"/>
              <a:t>MSFT</a:t>
            </a:r>
            <a:r>
              <a:rPr lang="zh-CN" altLang="en-US" dirty="0"/>
              <a:t>）和苹果（</a:t>
            </a:r>
            <a:r>
              <a:rPr lang="en-US" altLang="zh-CN" dirty="0"/>
              <a:t>AAPL</a:t>
            </a:r>
            <a:r>
              <a:rPr lang="zh-CN" altLang="en-US" dirty="0"/>
              <a:t>）的谷歌搜索指数（</a:t>
            </a:r>
            <a:r>
              <a:rPr lang="en-US" altLang="zh-CN" dirty="0"/>
              <a:t>SVI</a:t>
            </a:r>
            <a:r>
              <a:rPr lang="zh-CN" altLang="en-US" dirty="0"/>
              <a:t>）</a:t>
            </a:r>
            <a:endParaRPr lang="en-US" dirty="0"/>
          </a:p>
        </p:txBody>
      </p:sp>
      <p:pic>
        <p:nvPicPr>
          <p:cNvPr id="4" name="图片 3"/>
          <p:cNvPicPr>
            <a:picLocks noChangeAspect="1"/>
          </p:cNvPicPr>
          <p:nvPr/>
        </p:nvPicPr>
        <p:blipFill>
          <a:blip r:embed="rId2"/>
          <a:stretch>
            <a:fillRect/>
          </a:stretch>
        </p:blipFill>
        <p:spPr>
          <a:xfrm>
            <a:off x="423862" y="2052446"/>
            <a:ext cx="8296275" cy="4078479"/>
          </a:xfrm>
          <a:prstGeom prst="rect">
            <a:avLst/>
          </a:prstGeom>
        </p:spPr>
      </p:pic>
    </p:spTree>
    <p:extLst>
      <p:ext uri="{BB962C8B-B14F-4D97-AF65-F5344CB8AC3E}">
        <p14:creationId xmlns:p14="http://schemas.microsoft.com/office/powerpoint/2010/main" val="1491875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1. </a:t>
            </a:r>
            <a:r>
              <a:rPr lang="zh-CN" altLang="en-US" dirty="0"/>
              <a:t>什么驱动了</a:t>
            </a:r>
            <a:r>
              <a:rPr lang="en-US" altLang="zh-CN" dirty="0"/>
              <a:t>SVI</a:t>
            </a:r>
            <a:r>
              <a:rPr lang="zh-CN" altLang="en-US" dirty="0"/>
              <a:t>？</a:t>
            </a:r>
            <a:endParaRPr lang="en-US" dirty="0"/>
          </a:p>
        </p:txBody>
      </p:sp>
      <p:sp>
        <p:nvSpPr>
          <p:cNvPr id="3" name="内容占位符 2"/>
          <p:cNvSpPr>
            <a:spLocks noGrp="1"/>
          </p:cNvSpPr>
          <p:nvPr>
            <p:ph idx="1"/>
          </p:nvPr>
        </p:nvSpPr>
        <p:spPr/>
        <p:txBody>
          <a:bodyPr/>
          <a:lstStyle/>
          <a:p>
            <a:r>
              <a:rPr lang="en-US" altLang="zh-CN" dirty="0"/>
              <a:t>SVI</a:t>
            </a:r>
            <a:r>
              <a:rPr lang="zh-CN" altLang="en-US" dirty="0"/>
              <a:t>与其他指标的同期相关性</a:t>
            </a:r>
            <a:endParaRPr lang="en-US" dirty="0"/>
          </a:p>
        </p:txBody>
      </p:sp>
      <p:pic>
        <p:nvPicPr>
          <p:cNvPr id="4" name="图片 3"/>
          <p:cNvPicPr>
            <a:picLocks noChangeAspect="1"/>
          </p:cNvPicPr>
          <p:nvPr/>
        </p:nvPicPr>
        <p:blipFill rotWithShape="1">
          <a:blip r:embed="rId2"/>
          <a:srcRect l="3007"/>
          <a:stretch/>
        </p:blipFill>
        <p:spPr>
          <a:xfrm>
            <a:off x="152400" y="2590800"/>
            <a:ext cx="8839200" cy="2465731"/>
          </a:xfrm>
          <a:prstGeom prst="rect">
            <a:avLst/>
          </a:prstGeom>
        </p:spPr>
      </p:pic>
    </p:spTree>
    <p:extLst>
      <p:ext uri="{BB962C8B-B14F-4D97-AF65-F5344CB8AC3E}">
        <p14:creationId xmlns:p14="http://schemas.microsoft.com/office/powerpoint/2010/main" val="928872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1. </a:t>
            </a:r>
            <a:r>
              <a:rPr lang="zh-CN" altLang="en-US" dirty="0"/>
              <a:t>什么驱动了</a:t>
            </a:r>
            <a:r>
              <a:rPr lang="en-US" altLang="zh-CN" dirty="0"/>
              <a:t>SVI</a:t>
            </a:r>
            <a:r>
              <a:rPr lang="zh-CN" altLang="en-US" dirty="0"/>
              <a:t>？</a:t>
            </a:r>
            <a:endParaRPr lang="en-US" dirty="0"/>
          </a:p>
        </p:txBody>
      </p:sp>
      <p:sp>
        <p:nvSpPr>
          <p:cNvPr id="3" name="内容占位符 2"/>
          <p:cNvSpPr>
            <a:spLocks noGrp="1"/>
          </p:cNvSpPr>
          <p:nvPr>
            <p:ph idx="1"/>
          </p:nvPr>
        </p:nvSpPr>
        <p:spPr/>
        <p:txBody>
          <a:bodyPr/>
          <a:lstStyle/>
          <a:p>
            <a:r>
              <a:rPr lang="en-US" altLang="zh-CN" dirty="0"/>
              <a:t>VAR</a:t>
            </a:r>
            <a:r>
              <a:rPr lang="zh-CN" altLang="en-US" dirty="0"/>
              <a:t>模型</a:t>
            </a:r>
            <a:endParaRPr lang="en-US" dirty="0"/>
          </a:p>
        </p:txBody>
      </p:sp>
      <p:pic>
        <p:nvPicPr>
          <p:cNvPr id="4" name="图片 3"/>
          <p:cNvPicPr>
            <a:picLocks noChangeAspect="1"/>
          </p:cNvPicPr>
          <p:nvPr/>
        </p:nvPicPr>
        <p:blipFill>
          <a:blip r:embed="rId2"/>
          <a:stretch>
            <a:fillRect/>
          </a:stretch>
        </p:blipFill>
        <p:spPr>
          <a:xfrm>
            <a:off x="1598604" y="1981200"/>
            <a:ext cx="5583662" cy="4149725"/>
          </a:xfrm>
          <a:prstGeom prst="rect">
            <a:avLst/>
          </a:prstGeom>
        </p:spPr>
      </p:pic>
      <p:sp>
        <p:nvSpPr>
          <p:cNvPr id="5" name="矩形 4"/>
          <p:cNvSpPr/>
          <p:nvPr/>
        </p:nvSpPr>
        <p:spPr bwMode="auto">
          <a:xfrm>
            <a:off x="3048000" y="4267200"/>
            <a:ext cx="685800" cy="1752600"/>
          </a:xfrm>
          <a:prstGeom prst="rect">
            <a:avLst/>
          </a:prstGeom>
          <a:noFill/>
          <a:ln w="12700" cap="sq"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734909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1. </a:t>
            </a:r>
            <a:r>
              <a:rPr lang="zh-CN" altLang="en-US" dirty="0"/>
              <a:t>什么驱动了</a:t>
            </a:r>
            <a:r>
              <a:rPr lang="en-US" altLang="zh-CN" dirty="0"/>
              <a:t>SVI</a:t>
            </a:r>
            <a:r>
              <a:rPr lang="zh-CN" altLang="en-US" dirty="0"/>
              <a:t>？</a:t>
            </a:r>
            <a:endParaRPr lang="en-US" dirty="0"/>
          </a:p>
        </p:txBody>
      </p:sp>
      <p:sp>
        <p:nvSpPr>
          <p:cNvPr id="3" name="内容占位符 2"/>
          <p:cNvSpPr>
            <a:spLocks noGrp="1"/>
          </p:cNvSpPr>
          <p:nvPr>
            <p:ph idx="1"/>
          </p:nvPr>
        </p:nvSpPr>
        <p:spPr/>
        <p:txBody>
          <a:bodyPr/>
          <a:lstStyle/>
          <a:p>
            <a:r>
              <a:rPr lang="en-US" altLang="zh-CN" dirty="0"/>
              <a:t>ASVI</a:t>
            </a:r>
            <a:r>
              <a:rPr lang="zh-CN" altLang="en-US" dirty="0"/>
              <a:t>与其他注意力指标</a:t>
            </a:r>
            <a:endParaRPr lang="en-US" dirty="0"/>
          </a:p>
        </p:txBody>
      </p:sp>
      <p:pic>
        <p:nvPicPr>
          <p:cNvPr id="4" name="图片 3"/>
          <p:cNvPicPr>
            <a:picLocks noChangeAspect="1"/>
          </p:cNvPicPr>
          <p:nvPr/>
        </p:nvPicPr>
        <p:blipFill>
          <a:blip r:embed="rId2"/>
          <a:stretch>
            <a:fillRect/>
          </a:stretch>
        </p:blipFill>
        <p:spPr>
          <a:xfrm>
            <a:off x="1981200" y="1971726"/>
            <a:ext cx="4724400" cy="4194759"/>
          </a:xfrm>
          <a:prstGeom prst="rect">
            <a:avLst/>
          </a:prstGeom>
        </p:spPr>
      </p:pic>
    </p:spTree>
    <p:extLst>
      <p:ext uri="{BB962C8B-B14F-4D97-AF65-F5344CB8AC3E}">
        <p14:creationId xmlns:p14="http://schemas.microsoft.com/office/powerpoint/2010/main" val="2757777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2. </a:t>
            </a:r>
            <a:r>
              <a:rPr lang="en-US" altLang="zh-CN" dirty="0"/>
              <a:t>SVI</a:t>
            </a:r>
            <a:r>
              <a:rPr lang="zh-CN" altLang="en-US" dirty="0"/>
              <a:t>与个人投资者</a:t>
            </a:r>
            <a:endParaRPr lang="en-US" dirty="0"/>
          </a:p>
        </p:txBody>
      </p:sp>
      <p:sp>
        <p:nvSpPr>
          <p:cNvPr id="3" name="内容占位符 2"/>
          <p:cNvSpPr>
            <a:spLocks noGrp="1"/>
          </p:cNvSpPr>
          <p:nvPr>
            <p:ph idx="1"/>
          </p:nvPr>
        </p:nvSpPr>
        <p:spPr/>
        <p:txBody>
          <a:bodyPr/>
          <a:lstStyle/>
          <a:p>
            <a:r>
              <a:rPr lang="en-US" altLang="zh-CN" dirty="0"/>
              <a:t>ASVI</a:t>
            </a:r>
            <a:r>
              <a:rPr lang="zh-CN" altLang="en-US" dirty="0"/>
              <a:t>与个人投资者交易</a:t>
            </a:r>
            <a:endParaRPr lang="en-US" altLang="zh-CN" dirty="0"/>
          </a:p>
          <a:p>
            <a:pPr lvl="1"/>
            <a:r>
              <a:rPr lang="zh-CN" altLang="en-US" dirty="0"/>
              <a:t>个人投资者：在谷歌上搜索股票相关信息</a:t>
            </a:r>
            <a:endParaRPr lang="en-US" altLang="zh-CN" dirty="0"/>
          </a:p>
          <a:p>
            <a:pPr lvl="1"/>
            <a:r>
              <a:rPr lang="zh-CN" altLang="en-US" dirty="0"/>
              <a:t>机构投资者：</a:t>
            </a:r>
            <a:r>
              <a:rPr lang="en-US" dirty="0"/>
              <a:t>Reuters</a:t>
            </a:r>
            <a:r>
              <a:rPr lang="zh-CN" altLang="en-US" dirty="0"/>
              <a:t>和</a:t>
            </a:r>
            <a:r>
              <a:rPr lang="en-US" dirty="0"/>
              <a:t>Bloomberg terminal</a:t>
            </a:r>
            <a:r>
              <a:rPr lang="en-US" altLang="zh-CN" dirty="0"/>
              <a:t>s</a:t>
            </a:r>
          </a:p>
          <a:p>
            <a:endParaRPr lang="en-US" dirty="0"/>
          </a:p>
          <a:p>
            <a:r>
              <a:rPr lang="zh-CN" altLang="en-US" dirty="0"/>
              <a:t>个人投资者交易</a:t>
            </a:r>
            <a:endParaRPr lang="en-US" altLang="zh-CN" dirty="0"/>
          </a:p>
          <a:p>
            <a:pPr lvl="1"/>
            <a:r>
              <a:rPr lang="en-US" altLang="zh-CN" dirty="0"/>
              <a:t>Dash-5 </a:t>
            </a:r>
            <a:r>
              <a:rPr lang="zh-CN" altLang="en-US" dirty="0"/>
              <a:t>月度报告</a:t>
            </a:r>
            <a:endParaRPr lang="en-US" altLang="zh-CN" dirty="0"/>
          </a:p>
          <a:p>
            <a:pPr lvl="1"/>
            <a:r>
              <a:rPr lang="zh-CN" altLang="en-US" dirty="0"/>
              <a:t>市价订单</a:t>
            </a:r>
            <a:endParaRPr lang="en-US" altLang="zh-CN" dirty="0"/>
          </a:p>
          <a:p>
            <a:pPr lvl="1"/>
            <a:r>
              <a:rPr lang="zh-CN" altLang="en-US" dirty="0"/>
              <a:t>订单分类</a:t>
            </a:r>
            <a:r>
              <a:rPr lang="zh-CN" altLang="en-US" dirty="0">
                <a:sym typeface="Wingdings" panose="05000000000000000000" pitchFamily="2" charset="2"/>
              </a:rPr>
              <a:t>（</a:t>
            </a:r>
            <a:r>
              <a:rPr lang="en-US" altLang="zh-CN" dirty="0">
                <a:sym typeface="Wingdings" panose="05000000000000000000" pitchFamily="2" charset="2"/>
              </a:rPr>
              <a:t>1</a:t>
            </a:r>
            <a:r>
              <a:rPr lang="zh-CN" altLang="en-US" dirty="0">
                <a:sym typeface="Wingdings" panose="05000000000000000000" pitchFamily="2" charset="2"/>
              </a:rPr>
              <a:t>）</a:t>
            </a:r>
            <a:r>
              <a:rPr lang="en-US" altLang="zh-CN" dirty="0">
                <a:sym typeface="Wingdings" panose="05000000000000000000" pitchFamily="2" charset="2"/>
              </a:rPr>
              <a:t>100-499</a:t>
            </a:r>
            <a:r>
              <a:rPr lang="zh-CN" altLang="en-US" dirty="0">
                <a:sym typeface="Wingdings" panose="05000000000000000000" pitchFamily="2" charset="2"/>
              </a:rPr>
              <a:t>股（</a:t>
            </a:r>
            <a:r>
              <a:rPr lang="en-US" altLang="zh-CN" dirty="0">
                <a:sym typeface="Wingdings" panose="05000000000000000000" pitchFamily="2" charset="2"/>
              </a:rPr>
              <a:t>2</a:t>
            </a:r>
            <a:r>
              <a:rPr lang="zh-CN" altLang="en-US" dirty="0">
                <a:sym typeface="Wingdings" panose="05000000000000000000" pitchFamily="2" charset="2"/>
              </a:rPr>
              <a:t>）</a:t>
            </a:r>
            <a:r>
              <a:rPr lang="en-US" altLang="zh-CN" dirty="0">
                <a:sym typeface="Wingdings" panose="05000000000000000000" pitchFamily="2" charset="2"/>
              </a:rPr>
              <a:t>500-1999</a:t>
            </a:r>
            <a:r>
              <a:rPr lang="zh-CN" altLang="en-US" dirty="0">
                <a:sym typeface="Wingdings" panose="05000000000000000000" pitchFamily="2" charset="2"/>
              </a:rPr>
              <a:t>股（</a:t>
            </a:r>
            <a:r>
              <a:rPr lang="en-US" altLang="zh-CN" dirty="0">
                <a:sym typeface="Wingdings" panose="05000000000000000000" pitchFamily="2" charset="2"/>
              </a:rPr>
              <a:t>3</a:t>
            </a:r>
            <a:r>
              <a:rPr lang="zh-CN" altLang="en-US" dirty="0">
                <a:sym typeface="Wingdings" panose="05000000000000000000" pitchFamily="2" charset="2"/>
              </a:rPr>
              <a:t>）</a:t>
            </a:r>
            <a:r>
              <a:rPr lang="en-US" altLang="zh-CN" dirty="0">
                <a:sym typeface="Wingdings" panose="05000000000000000000" pitchFamily="2" charset="2"/>
              </a:rPr>
              <a:t>2000-4999</a:t>
            </a:r>
            <a:r>
              <a:rPr lang="zh-CN" altLang="en-US" dirty="0">
                <a:sym typeface="Wingdings" panose="05000000000000000000" pitchFamily="2" charset="2"/>
              </a:rPr>
              <a:t>股（</a:t>
            </a:r>
            <a:r>
              <a:rPr lang="en-US" altLang="zh-CN" dirty="0">
                <a:sym typeface="Wingdings" panose="05000000000000000000" pitchFamily="2" charset="2"/>
              </a:rPr>
              <a:t>4</a:t>
            </a:r>
            <a:r>
              <a:rPr lang="zh-CN" altLang="en-US" dirty="0">
                <a:sym typeface="Wingdings" panose="05000000000000000000" pitchFamily="2" charset="2"/>
              </a:rPr>
              <a:t>）</a:t>
            </a:r>
            <a:r>
              <a:rPr lang="en-US" altLang="zh-CN" dirty="0">
                <a:sym typeface="Wingdings" panose="05000000000000000000" pitchFamily="2" charset="2"/>
              </a:rPr>
              <a:t>5000-9999</a:t>
            </a:r>
            <a:r>
              <a:rPr lang="zh-CN" altLang="en-US" dirty="0">
                <a:sym typeface="Wingdings" panose="05000000000000000000" pitchFamily="2" charset="2"/>
              </a:rPr>
              <a:t>股</a:t>
            </a:r>
            <a:endParaRPr lang="en-US" altLang="zh-CN" dirty="0">
              <a:sym typeface="Wingdings" panose="05000000000000000000" pitchFamily="2" charset="2"/>
            </a:endParaRPr>
          </a:p>
          <a:p>
            <a:endParaRPr lang="en-US" dirty="0">
              <a:sym typeface="Wingdings" panose="05000000000000000000" pitchFamily="2" charset="2"/>
            </a:endParaRPr>
          </a:p>
          <a:p>
            <a:r>
              <a:rPr lang="zh-CN" altLang="en-US" dirty="0">
                <a:sym typeface="Wingdings" panose="05000000000000000000" pitchFamily="2" charset="2"/>
              </a:rPr>
              <a:t>检验</a:t>
            </a:r>
            <a:r>
              <a:rPr lang="en-US" altLang="zh-CN" dirty="0">
                <a:sym typeface="Wingdings" panose="05000000000000000000" pitchFamily="2" charset="2"/>
              </a:rPr>
              <a:t>SVI</a:t>
            </a:r>
            <a:r>
              <a:rPr lang="zh-CN" altLang="en-US" dirty="0">
                <a:sym typeface="Wingdings" panose="05000000000000000000" pitchFamily="2" charset="2"/>
              </a:rPr>
              <a:t>的每个月变化能否预测个人投资者每个月交易的变化</a:t>
            </a:r>
            <a:endParaRPr lang="en-US" dirty="0"/>
          </a:p>
          <a:p>
            <a:endParaRPr lang="en-US" dirty="0"/>
          </a:p>
        </p:txBody>
      </p:sp>
    </p:spTree>
    <p:extLst>
      <p:ext uri="{BB962C8B-B14F-4D97-AF65-F5344CB8AC3E}">
        <p14:creationId xmlns:p14="http://schemas.microsoft.com/office/powerpoint/2010/main" val="4011962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2. </a:t>
            </a:r>
            <a:r>
              <a:rPr lang="en-US" altLang="zh-CN" dirty="0"/>
              <a:t>SVI</a:t>
            </a:r>
            <a:r>
              <a:rPr lang="zh-CN" altLang="en-US" dirty="0"/>
              <a:t>与个人投资者</a:t>
            </a:r>
            <a:endParaRPr lang="en-US" dirty="0"/>
          </a:p>
        </p:txBody>
      </p:sp>
      <p:sp>
        <p:nvSpPr>
          <p:cNvPr id="3" name="内容占位符 2"/>
          <p:cNvSpPr>
            <a:spLocks noGrp="1"/>
          </p:cNvSpPr>
          <p:nvPr>
            <p:ph idx="1"/>
          </p:nvPr>
        </p:nvSpPr>
        <p:spPr/>
        <p:txBody>
          <a:bodyPr/>
          <a:lstStyle/>
          <a:p>
            <a:r>
              <a:rPr lang="en-US" altLang="zh-CN" dirty="0"/>
              <a:t>ASVI</a:t>
            </a:r>
            <a:r>
              <a:rPr lang="zh-CN" altLang="en-US" dirty="0"/>
              <a:t>与个人投资者交易</a:t>
            </a:r>
            <a:endParaRPr lang="en-US" altLang="zh-CN" dirty="0"/>
          </a:p>
        </p:txBody>
      </p:sp>
      <p:pic>
        <p:nvPicPr>
          <p:cNvPr id="4" name="图片 3"/>
          <p:cNvPicPr>
            <a:picLocks noChangeAspect="1"/>
          </p:cNvPicPr>
          <p:nvPr/>
        </p:nvPicPr>
        <p:blipFill>
          <a:blip r:embed="rId2"/>
          <a:stretch>
            <a:fillRect/>
          </a:stretch>
        </p:blipFill>
        <p:spPr>
          <a:xfrm>
            <a:off x="457200" y="2362200"/>
            <a:ext cx="8229600" cy="3493906"/>
          </a:xfrm>
          <a:prstGeom prst="rect">
            <a:avLst/>
          </a:prstGeom>
        </p:spPr>
      </p:pic>
    </p:spTree>
    <p:extLst>
      <p:ext uri="{BB962C8B-B14F-4D97-AF65-F5344CB8AC3E}">
        <p14:creationId xmlns:p14="http://schemas.microsoft.com/office/powerpoint/2010/main" val="3675382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2. </a:t>
            </a:r>
            <a:r>
              <a:rPr lang="en-US" altLang="zh-CN" dirty="0"/>
              <a:t>SVI</a:t>
            </a:r>
            <a:r>
              <a:rPr lang="zh-CN" altLang="en-US" dirty="0"/>
              <a:t>与个人投资者</a:t>
            </a:r>
            <a:endParaRPr lang="en-US" dirty="0"/>
          </a:p>
        </p:txBody>
      </p:sp>
      <p:sp>
        <p:nvSpPr>
          <p:cNvPr id="3" name="内容占位符 2"/>
          <p:cNvSpPr>
            <a:spLocks noGrp="1"/>
          </p:cNvSpPr>
          <p:nvPr>
            <p:ph idx="1"/>
          </p:nvPr>
        </p:nvSpPr>
        <p:spPr/>
        <p:txBody>
          <a:bodyPr/>
          <a:lstStyle/>
          <a:p>
            <a:r>
              <a:rPr lang="en-US" altLang="zh-CN" dirty="0"/>
              <a:t>ASVI</a:t>
            </a:r>
            <a:r>
              <a:rPr lang="zh-CN" altLang="en-US" dirty="0"/>
              <a:t>与个人投资者交易</a:t>
            </a:r>
            <a:endParaRPr lang="en-US" altLang="zh-CN" dirty="0"/>
          </a:p>
          <a:p>
            <a:pPr lvl="1"/>
            <a:r>
              <a:rPr lang="zh-CN" altLang="en-US" dirty="0"/>
              <a:t>不精明的投资者：</a:t>
            </a:r>
            <a:r>
              <a:rPr lang="en-US" altLang="zh-CN" dirty="0"/>
              <a:t>Madoff</a:t>
            </a:r>
            <a:r>
              <a:rPr lang="zh-CN" altLang="en-US" dirty="0"/>
              <a:t>交易中心</a:t>
            </a:r>
            <a:endParaRPr lang="en-US" altLang="zh-CN" dirty="0"/>
          </a:p>
          <a:p>
            <a:pPr lvl="1"/>
            <a:r>
              <a:rPr lang="zh-CN" altLang="en-US" dirty="0"/>
              <a:t>精明老练的投资者：</a:t>
            </a:r>
            <a:r>
              <a:rPr lang="en-US" altLang="zh-CN" dirty="0"/>
              <a:t>NYSE/ARCH</a:t>
            </a:r>
            <a:endParaRPr lang="en-US" dirty="0"/>
          </a:p>
        </p:txBody>
      </p:sp>
      <p:pic>
        <p:nvPicPr>
          <p:cNvPr id="4" name="图片 3"/>
          <p:cNvPicPr>
            <a:picLocks noChangeAspect="1"/>
          </p:cNvPicPr>
          <p:nvPr/>
        </p:nvPicPr>
        <p:blipFill>
          <a:blip r:embed="rId2"/>
          <a:stretch>
            <a:fillRect/>
          </a:stretch>
        </p:blipFill>
        <p:spPr>
          <a:xfrm>
            <a:off x="533400" y="2705893"/>
            <a:ext cx="8199120" cy="4174967"/>
          </a:xfrm>
          <a:prstGeom prst="rect">
            <a:avLst/>
          </a:prstGeom>
        </p:spPr>
      </p:pic>
    </p:spTree>
    <p:extLst>
      <p:ext uri="{BB962C8B-B14F-4D97-AF65-F5344CB8AC3E}">
        <p14:creationId xmlns:p14="http://schemas.microsoft.com/office/powerpoint/2010/main" val="4150593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3. </a:t>
            </a:r>
            <a:r>
              <a:rPr lang="en-US" altLang="zh-CN" dirty="0"/>
              <a:t>SVI</a:t>
            </a:r>
            <a:r>
              <a:rPr lang="zh-CN" altLang="en-US" dirty="0"/>
              <a:t>与未来股票价格</a:t>
            </a:r>
            <a:endParaRPr lang="en-US" dirty="0"/>
          </a:p>
        </p:txBody>
      </p:sp>
      <p:sp>
        <p:nvSpPr>
          <p:cNvPr id="3" name="内容占位符 2"/>
          <p:cNvSpPr>
            <a:spLocks noGrp="1"/>
          </p:cNvSpPr>
          <p:nvPr>
            <p:ph idx="1"/>
          </p:nvPr>
        </p:nvSpPr>
        <p:spPr/>
        <p:txBody>
          <a:bodyPr/>
          <a:lstStyle/>
          <a:p>
            <a:r>
              <a:rPr lang="zh-CN" altLang="en-US" dirty="0"/>
              <a:t>个人投资者注意力的突然上升会影响股票价格吗？</a:t>
            </a:r>
            <a:endParaRPr lang="en-US" altLang="zh-CN" dirty="0"/>
          </a:p>
          <a:p>
            <a:pPr lvl="1"/>
            <a:r>
              <a:rPr lang="en-US" altLang="zh-CN" dirty="0"/>
              <a:t>Barber and </a:t>
            </a:r>
            <a:r>
              <a:rPr lang="en-US" altLang="zh-CN" dirty="0" err="1"/>
              <a:t>Odean</a:t>
            </a:r>
            <a:r>
              <a:rPr lang="en-US" altLang="zh-CN" dirty="0"/>
              <a:t> (2008) </a:t>
            </a:r>
            <a:r>
              <a:rPr lang="zh-CN" altLang="en-US" dirty="0"/>
              <a:t>理论</a:t>
            </a:r>
            <a:endParaRPr lang="en-US" altLang="zh-CN" dirty="0"/>
          </a:p>
          <a:p>
            <a:pPr lvl="2"/>
            <a:r>
              <a:rPr lang="zh-CN" altLang="en-US" dirty="0"/>
              <a:t>当个人投资者买入股票时，他们需要从数以千计的股票中选择</a:t>
            </a:r>
            <a:endParaRPr lang="en-US" sz="1800" dirty="0"/>
          </a:p>
          <a:p>
            <a:pPr lvl="2"/>
            <a:r>
              <a:rPr lang="zh-CN" altLang="en-US" dirty="0"/>
              <a:t>而当个人投资者卖出股票时，他们只能卖出他们持有的股票</a:t>
            </a:r>
            <a:endParaRPr lang="en-US" sz="1800" dirty="0"/>
          </a:p>
          <a:p>
            <a:pPr lvl="2"/>
            <a:r>
              <a:rPr lang="zh-CN" altLang="en-US" dirty="0"/>
              <a:t>当某只股票能够从数以千计的股票中吸引到个人投资者的注意力时，他们是这只吸引注意力股票的净买入方，会带来短暂的正向价格压力</a:t>
            </a:r>
            <a:endParaRPr lang="en-US" altLang="zh-CN" dirty="0"/>
          </a:p>
          <a:p>
            <a:pPr lvl="1"/>
            <a:r>
              <a:rPr lang="zh-CN" altLang="en-US" dirty="0"/>
              <a:t>假设：正的</a:t>
            </a:r>
            <a:r>
              <a:rPr lang="en-US" dirty="0"/>
              <a:t>ASVI</a:t>
            </a:r>
            <a:r>
              <a:rPr lang="zh-CN" altLang="en-US" dirty="0"/>
              <a:t>带来暂时的买入压力，能够正向预测未来短期的价格，但是在长期价格会反转</a:t>
            </a:r>
            <a:endParaRPr lang="en-US" altLang="zh-CN" dirty="0"/>
          </a:p>
          <a:p>
            <a:pPr lvl="2"/>
            <a:r>
              <a:rPr lang="zh-CN" altLang="en-US" dirty="0"/>
              <a:t>罗素</a:t>
            </a:r>
            <a:r>
              <a:rPr lang="en-US" altLang="zh-CN" dirty="0"/>
              <a:t>3000</a:t>
            </a:r>
            <a:r>
              <a:rPr lang="zh-CN" altLang="en-US" dirty="0"/>
              <a:t>股票的横截面研究</a:t>
            </a:r>
            <a:endParaRPr lang="en-US" altLang="zh-CN" dirty="0"/>
          </a:p>
          <a:p>
            <a:pPr lvl="2"/>
            <a:r>
              <a:rPr lang="en-US" altLang="zh-CN" dirty="0"/>
              <a:t>IPO</a:t>
            </a:r>
            <a:endParaRPr lang="en-US" dirty="0"/>
          </a:p>
          <a:p>
            <a:pPr lvl="1"/>
            <a:endParaRPr lang="en-US" dirty="0"/>
          </a:p>
        </p:txBody>
      </p:sp>
    </p:spTree>
    <p:extLst>
      <p:ext uri="{BB962C8B-B14F-4D97-AF65-F5344CB8AC3E}">
        <p14:creationId xmlns:p14="http://schemas.microsoft.com/office/powerpoint/2010/main" val="699212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3. </a:t>
            </a:r>
            <a:r>
              <a:rPr lang="en-US" altLang="zh-CN" dirty="0"/>
              <a:t>SVI</a:t>
            </a:r>
            <a:r>
              <a:rPr lang="zh-CN" altLang="en-US" dirty="0"/>
              <a:t>与未来股票价格</a:t>
            </a:r>
            <a:endParaRPr lang="en-US" dirty="0"/>
          </a:p>
        </p:txBody>
      </p:sp>
      <p:sp>
        <p:nvSpPr>
          <p:cNvPr id="3" name="内容占位符 2"/>
          <p:cNvSpPr>
            <a:spLocks noGrp="1"/>
          </p:cNvSpPr>
          <p:nvPr>
            <p:ph idx="1"/>
          </p:nvPr>
        </p:nvSpPr>
        <p:spPr/>
        <p:txBody>
          <a:bodyPr/>
          <a:lstStyle/>
          <a:p>
            <a:r>
              <a:rPr lang="zh-CN" altLang="en-US" dirty="0"/>
              <a:t>罗素</a:t>
            </a:r>
            <a:r>
              <a:rPr lang="en-US" altLang="zh-CN" dirty="0"/>
              <a:t>3000</a:t>
            </a:r>
            <a:r>
              <a:rPr lang="zh-CN" altLang="en-US" dirty="0"/>
              <a:t>股票</a:t>
            </a:r>
            <a:endParaRPr lang="en-US" dirty="0"/>
          </a:p>
        </p:txBody>
      </p:sp>
      <p:pic>
        <p:nvPicPr>
          <p:cNvPr id="4" name="图片 3"/>
          <p:cNvPicPr>
            <a:picLocks noChangeAspect="1"/>
          </p:cNvPicPr>
          <p:nvPr/>
        </p:nvPicPr>
        <p:blipFill>
          <a:blip r:embed="rId2"/>
          <a:stretch>
            <a:fillRect/>
          </a:stretch>
        </p:blipFill>
        <p:spPr>
          <a:xfrm>
            <a:off x="2832180" y="1143001"/>
            <a:ext cx="5262584" cy="5715000"/>
          </a:xfrm>
          <a:prstGeom prst="rect">
            <a:avLst/>
          </a:prstGeom>
        </p:spPr>
      </p:pic>
    </p:spTree>
    <p:extLst>
      <p:ext uri="{BB962C8B-B14F-4D97-AF65-F5344CB8AC3E}">
        <p14:creationId xmlns:p14="http://schemas.microsoft.com/office/powerpoint/2010/main" val="2448530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3. </a:t>
            </a:r>
            <a:r>
              <a:rPr lang="en-US" altLang="zh-CN" dirty="0"/>
              <a:t>SVI</a:t>
            </a:r>
            <a:r>
              <a:rPr lang="zh-CN" altLang="en-US" dirty="0"/>
              <a:t>与未来股票价格</a:t>
            </a:r>
            <a:endParaRPr lang="en-US" dirty="0"/>
          </a:p>
        </p:txBody>
      </p:sp>
      <p:sp>
        <p:nvSpPr>
          <p:cNvPr id="3" name="内容占位符 2"/>
          <p:cNvSpPr>
            <a:spLocks noGrp="1"/>
          </p:cNvSpPr>
          <p:nvPr>
            <p:ph idx="1"/>
          </p:nvPr>
        </p:nvSpPr>
        <p:spPr/>
        <p:txBody>
          <a:bodyPr/>
          <a:lstStyle/>
          <a:p>
            <a:r>
              <a:rPr lang="en-US" altLang="zh-CN" dirty="0"/>
              <a:t>IPO</a:t>
            </a:r>
            <a:r>
              <a:rPr lang="zh-CN" altLang="en-US" dirty="0"/>
              <a:t>基本事实</a:t>
            </a:r>
            <a:endParaRPr lang="en-US" altLang="zh-CN" dirty="0"/>
          </a:p>
          <a:p>
            <a:pPr lvl="1"/>
            <a:r>
              <a:rPr lang="en-US" dirty="0"/>
              <a:t>IPO</a:t>
            </a:r>
            <a:r>
              <a:rPr lang="zh-CN" altLang="en-US" dirty="0"/>
              <a:t>在首日经历短暂大幅的价格上升</a:t>
            </a:r>
            <a:endParaRPr lang="en-US" altLang="zh-CN" dirty="0"/>
          </a:p>
          <a:p>
            <a:pPr lvl="1"/>
            <a:r>
              <a:rPr lang="en-US" altLang="zh-CN" dirty="0"/>
              <a:t>IPO</a:t>
            </a:r>
            <a:r>
              <a:rPr lang="zh-CN" altLang="en-US" dirty="0"/>
              <a:t>在长期表现不佳</a:t>
            </a:r>
            <a:endParaRPr lang="en-US" dirty="0"/>
          </a:p>
          <a:p>
            <a:endParaRPr lang="en-US" dirty="0"/>
          </a:p>
          <a:p>
            <a:r>
              <a:rPr lang="zh-CN" altLang="en-US" dirty="0"/>
              <a:t>样本：</a:t>
            </a:r>
            <a:r>
              <a:rPr lang="en-US" altLang="zh-CN" dirty="0"/>
              <a:t>2004-2007</a:t>
            </a:r>
            <a:r>
              <a:rPr lang="zh-CN" altLang="en-US" dirty="0"/>
              <a:t>年，满足条件的</a:t>
            </a:r>
            <a:r>
              <a:rPr lang="en-US" altLang="zh-CN" dirty="0"/>
              <a:t>185</a:t>
            </a:r>
            <a:r>
              <a:rPr lang="zh-CN" altLang="en-US" dirty="0"/>
              <a:t>个</a:t>
            </a:r>
            <a:r>
              <a:rPr lang="en-US" altLang="zh-CN" dirty="0"/>
              <a:t>IPO</a:t>
            </a:r>
            <a:r>
              <a:rPr lang="zh-CN" altLang="en-US" dirty="0"/>
              <a:t>事件</a:t>
            </a:r>
            <a:endParaRPr lang="en-US" altLang="zh-CN" dirty="0"/>
          </a:p>
          <a:p>
            <a:endParaRPr lang="en-US" dirty="0"/>
          </a:p>
          <a:p>
            <a:r>
              <a:rPr lang="en-US" altLang="zh-CN" dirty="0"/>
              <a:t>IPO</a:t>
            </a:r>
            <a:r>
              <a:rPr lang="zh-CN" altLang="en-US" dirty="0"/>
              <a:t>附近的</a:t>
            </a:r>
            <a:r>
              <a:rPr lang="en-US" altLang="zh-CN" dirty="0"/>
              <a:t>SVI</a:t>
            </a:r>
            <a:r>
              <a:rPr lang="zh-CN" altLang="en-US" dirty="0"/>
              <a:t>和</a:t>
            </a:r>
            <a:r>
              <a:rPr lang="en-US" altLang="zh-CN" dirty="0"/>
              <a:t>ASVI</a:t>
            </a:r>
            <a:endParaRPr lang="en-US" dirty="0"/>
          </a:p>
          <a:p>
            <a:endParaRPr lang="en-US" dirty="0"/>
          </a:p>
          <a:p>
            <a:r>
              <a:rPr lang="en-US" dirty="0"/>
              <a:t>IPO</a:t>
            </a:r>
            <a:r>
              <a:rPr lang="zh-CN" altLang="en-US" dirty="0"/>
              <a:t>第一天收益，分为在</a:t>
            </a:r>
            <a:r>
              <a:rPr lang="en-US" altLang="zh-CN" dirty="0"/>
              <a:t>IPO</a:t>
            </a:r>
            <a:r>
              <a:rPr lang="zh-CN" altLang="en-US" dirty="0"/>
              <a:t>前低</a:t>
            </a:r>
            <a:r>
              <a:rPr lang="en-US" altLang="zh-CN" dirty="0"/>
              <a:t>ASVI</a:t>
            </a:r>
            <a:r>
              <a:rPr lang="zh-CN" altLang="en-US" dirty="0"/>
              <a:t>和高</a:t>
            </a:r>
            <a:r>
              <a:rPr lang="en-US" altLang="zh-CN" dirty="0"/>
              <a:t>ASVI</a:t>
            </a:r>
            <a:endParaRPr lang="en-US" dirty="0"/>
          </a:p>
          <a:p>
            <a:endParaRPr lang="en-US" dirty="0"/>
          </a:p>
          <a:p>
            <a:r>
              <a:rPr lang="en-US" altLang="zh-CN" dirty="0"/>
              <a:t>IPO</a:t>
            </a:r>
            <a:r>
              <a:rPr lang="zh-CN" altLang="en-US" dirty="0"/>
              <a:t>未来</a:t>
            </a:r>
            <a:r>
              <a:rPr lang="en-US" altLang="zh-CN" dirty="0"/>
              <a:t>4-12</a:t>
            </a:r>
            <a:r>
              <a:rPr lang="zh-CN" altLang="en-US" dirty="0"/>
              <a:t>个月行业调整后的收益率，分为在</a:t>
            </a:r>
            <a:r>
              <a:rPr lang="en-US" altLang="zh-CN" dirty="0"/>
              <a:t>IPO</a:t>
            </a:r>
            <a:r>
              <a:rPr lang="zh-CN" altLang="en-US" dirty="0"/>
              <a:t>前低</a:t>
            </a:r>
            <a:r>
              <a:rPr lang="en-US" altLang="zh-CN" dirty="0"/>
              <a:t>ASVI</a:t>
            </a:r>
            <a:r>
              <a:rPr lang="zh-CN" altLang="en-US" dirty="0"/>
              <a:t>和高</a:t>
            </a:r>
            <a:r>
              <a:rPr lang="en-US" altLang="zh-CN" dirty="0"/>
              <a:t>ASVI</a:t>
            </a:r>
            <a:endParaRPr lang="en-US" dirty="0"/>
          </a:p>
          <a:p>
            <a:endParaRPr lang="en-US" dirty="0"/>
          </a:p>
        </p:txBody>
      </p:sp>
    </p:spTree>
    <p:extLst>
      <p:ext uri="{BB962C8B-B14F-4D97-AF65-F5344CB8AC3E}">
        <p14:creationId xmlns:p14="http://schemas.microsoft.com/office/powerpoint/2010/main" val="1173160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3. </a:t>
            </a:r>
            <a:r>
              <a:rPr lang="en-US" altLang="zh-CN" dirty="0"/>
              <a:t>SVI</a:t>
            </a:r>
            <a:r>
              <a:rPr lang="zh-CN" altLang="en-US" dirty="0"/>
              <a:t>与未来股票价格</a:t>
            </a:r>
            <a:endParaRPr lang="en-US" dirty="0"/>
          </a:p>
        </p:txBody>
      </p:sp>
      <p:sp>
        <p:nvSpPr>
          <p:cNvPr id="3" name="内容占位符 2"/>
          <p:cNvSpPr>
            <a:spLocks noGrp="1"/>
          </p:cNvSpPr>
          <p:nvPr>
            <p:ph idx="1"/>
          </p:nvPr>
        </p:nvSpPr>
        <p:spPr/>
        <p:txBody>
          <a:bodyPr/>
          <a:lstStyle/>
          <a:p>
            <a:r>
              <a:rPr lang="en-US" altLang="zh-CN" dirty="0"/>
              <a:t>IPO</a:t>
            </a:r>
            <a:r>
              <a:rPr lang="zh-CN" altLang="en-US" dirty="0"/>
              <a:t>附近的</a:t>
            </a:r>
            <a:r>
              <a:rPr lang="en-US" altLang="zh-CN" dirty="0"/>
              <a:t>SVI</a:t>
            </a:r>
            <a:r>
              <a:rPr lang="zh-CN" altLang="en-US" dirty="0"/>
              <a:t>和</a:t>
            </a:r>
            <a:r>
              <a:rPr lang="en-US" altLang="zh-CN" dirty="0"/>
              <a:t>ASVI</a:t>
            </a:r>
            <a:endParaRPr lang="en-US" dirty="0"/>
          </a:p>
        </p:txBody>
      </p:sp>
      <p:pic>
        <p:nvPicPr>
          <p:cNvPr id="4" name="图片 3"/>
          <p:cNvPicPr>
            <a:picLocks noChangeAspect="1"/>
          </p:cNvPicPr>
          <p:nvPr/>
        </p:nvPicPr>
        <p:blipFill>
          <a:blip r:embed="rId2"/>
          <a:stretch>
            <a:fillRect/>
          </a:stretch>
        </p:blipFill>
        <p:spPr>
          <a:xfrm>
            <a:off x="152400" y="2270124"/>
            <a:ext cx="4267200" cy="2871429"/>
          </a:xfrm>
          <a:prstGeom prst="rect">
            <a:avLst/>
          </a:prstGeom>
        </p:spPr>
      </p:pic>
      <p:pic>
        <p:nvPicPr>
          <p:cNvPr id="5" name="图片 4"/>
          <p:cNvPicPr>
            <a:picLocks noChangeAspect="1"/>
          </p:cNvPicPr>
          <p:nvPr/>
        </p:nvPicPr>
        <p:blipFill>
          <a:blip r:embed="rId3"/>
          <a:stretch>
            <a:fillRect/>
          </a:stretch>
        </p:blipFill>
        <p:spPr>
          <a:xfrm>
            <a:off x="4521344" y="2270124"/>
            <a:ext cx="4470256" cy="2986250"/>
          </a:xfrm>
          <a:prstGeom prst="rect">
            <a:avLst/>
          </a:prstGeom>
        </p:spPr>
      </p:pic>
    </p:spTree>
    <p:extLst>
      <p:ext uri="{BB962C8B-B14F-4D97-AF65-F5344CB8AC3E}">
        <p14:creationId xmlns:p14="http://schemas.microsoft.com/office/powerpoint/2010/main" val="4263933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3. </a:t>
            </a:r>
            <a:r>
              <a:rPr lang="en-US" altLang="zh-CN" dirty="0"/>
              <a:t>SVI</a:t>
            </a:r>
            <a:r>
              <a:rPr lang="zh-CN" altLang="en-US" dirty="0"/>
              <a:t>与未来股票价格</a:t>
            </a:r>
            <a:endParaRPr lang="en-US" dirty="0"/>
          </a:p>
        </p:txBody>
      </p:sp>
      <p:sp>
        <p:nvSpPr>
          <p:cNvPr id="3" name="内容占位符 2"/>
          <p:cNvSpPr>
            <a:spLocks noGrp="1"/>
          </p:cNvSpPr>
          <p:nvPr>
            <p:ph idx="1"/>
          </p:nvPr>
        </p:nvSpPr>
        <p:spPr/>
        <p:txBody>
          <a:bodyPr/>
          <a:lstStyle/>
          <a:p>
            <a:r>
              <a:rPr lang="en-US" dirty="0"/>
              <a:t>IPO</a:t>
            </a:r>
            <a:r>
              <a:rPr lang="zh-CN" altLang="en-US" dirty="0"/>
              <a:t>第一天收益，分为在</a:t>
            </a:r>
            <a:r>
              <a:rPr lang="en-US" altLang="zh-CN" dirty="0"/>
              <a:t>IPO</a:t>
            </a:r>
            <a:r>
              <a:rPr lang="zh-CN" altLang="en-US" dirty="0"/>
              <a:t>前低</a:t>
            </a:r>
            <a:r>
              <a:rPr lang="en-US" altLang="zh-CN" dirty="0"/>
              <a:t>ASVI</a:t>
            </a:r>
            <a:r>
              <a:rPr lang="zh-CN" altLang="en-US" dirty="0"/>
              <a:t>和高</a:t>
            </a:r>
            <a:r>
              <a:rPr lang="en-US" altLang="zh-CN" dirty="0"/>
              <a:t>ASVI</a:t>
            </a:r>
            <a:endParaRPr lang="en-US" dirty="0"/>
          </a:p>
        </p:txBody>
      </p:sp>
      <p:pic>
        <p:nvPicPr>
          <p:cNvPr id="4" name="图片 3"/>
          <p:cNvPicPr>
            <a:picLocks noChangeAspect="1"/>
          </p:cNvPicPr>
          <p:nvPr/>
        </p:nvPicPr>
        <p:blipFill>
          <a:blip r:embed="rId2"/>
          <a:stretch>
            <a:fillRect/>
          </a:stretch>
        </p:blipFill>
        <p:spPr>
          <a:xfrm>
            <a:off x="1447800" y="2043354"/>
            <a:ext cx="5862638" cy="4270133"/>
          </a:xfrm>
          <a:prstGeom prst="rect">
            <a:avLst/>
          </a:prstGeom>
        </p:spPr>
      </p:pic>
    </p:spTree>
    <p:extLst>
      <p:ext uri="{BB962C8B-B14F-4D97-AF65-F5344CB8AC3E}">
        <p14:creationId xmlns:p14="http://schemas.microsoft.com/office/powerpoint/2010/main" val="520332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3. </a:t>
            </a:r>
            <a:r>
              <a:rPr lang="en-US" altLang="zh-CN" dirty="0"/>
              <a:t>SVI</a:t>
            </a:r>
            <a:r>
              <a:rPr lang="zh-CN" altLang="en-US" dirty="0"/>
              <a:t>与未来股票价格</a:t>
            </a:r>
            <a:endParaRPr lang="en-US" dirty="0"/>
          </a:p>
        </p:txBody>
      </p:sp>
      <p:sp>
        <p:nvSpPr>
          <p:cNvPr id="3" name="内容占位符 2"/>
          <p:cNvSpPr>
            <a:spLocks noGrp="1"/>
          </p:cNvSpPr>
          <p:nvPr>
            <p:ph idx="1"/>
          </p:nvPr>
        </p:nvSpPr>
        <p:spPr>
          <a:xfrm>
            <a:off x="457200" y="1600200"/>
            <a:ext cx="8686800" cy="4530725"/>
          </a:xfrm>
        </p:spPr>
        <p:txBody>
          <a:bodyPr/>
          <a:lstStyle/>
          <a:p>
            <a:r>
              <a:rPr lang="en-US" altLang="zh-CN" dirty="0"/>
              <a:t>IPO</a:t>
            </a:r>
            <a:r>
              <a:rPr lang="zh-CN" altLang="en-US" dirty="0"/>
              <a:t>未来</a:t>
            </a:r>
            <a:r>
              <a:rPr lang="en-US" altLang="zh-CN" dirty="0"/>
              <a:t>4-12</a:t>
            </a:r>
            <a:r>
              <a:rPr lang="zh-CN" altLang="en-US" dirty="0"/>
              <a:t>个月行业调整后的收益率，分为在</a:t>
            </a:r>
            <a:r>
              <a:rPr lang="en-US" altLang="zh-CN" dirty="0"/>
              <a:t>IPO</a:t>
            </a:r>
            <a:r>
              <a:rPr lang="zh-CN" altLang="en-US" dirty="0"/>
              <a:t>前低</a:t>
            </a:r>
            <a:r>
              <a:rPr lang="en-US" altLang="zh-CN" dirty="0"/>
              <a:t>ASVI</a:t>
            </a:r>
            <a:r>
              <a:rPr lang="zh-CN" altLang="en-US" dirty="0"/>
              <a:t>和高</a:t>
            </a:r>
            <a:r>
              <a:rPr lang="en-US" altLang="zh-CN" dirty="0"/>
              <a:t>ASVI</a:t>
            </a:r>
            <a:endParaRPr lang="en-US" dirty="0"/>
          </a:p>
        </p:txBody>
      </p:sp>
      <p:pic>
        <p:nvPicPr>
          <p:cNvPr id="4" name="图片 3"/>
          <p:cNvPicPr>
            <a:picLocks noChangeAspect="1"/>
          </p:cNvPicPr>
          <p:nvPr/>
        </p:nvPicPr>
        <p:blipFill>
          <a:blip r:embed="rId2"/>
          <a:stretch>
            <a:fillRect/>
          </a:stretch>
        </p:blipFill>
        <p:spPr>
          <a:xfrm>
            <a:off x="1143000" y="2057400"/>
            <a:ext cx="6781800" cy="4003486"/>
          </a:xfrm>
          <a:prstGeom prst="rect">
            <a:avLst/>
          </a:prstGeom>
        </p:spPr>
      </p:pic>
    </p:spTree>
    <p:extLst>
      <p:ext uri="{BB962C8B-B14F-4D97-AF65-F5344CB8AC3E}">
        <p14:creationId xmlns:p14="http://schemas.microsoft.com/office/powerpoint/2010/main" val="2667563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结论</a:t>
            </a:r>
            <a:endParaRPr lang="en-US" dirty="0"/>
          </a:p>
        </p:txBody>
      </p:sp>
      <p:sp>
        <p:nvSpPr>
          <p:cNvPr id="3" name="内容占位符 2"/>
          <p:cNvSpPr>
            <a:spLocks noGrp="1"/>
          </p:cNvSpPr>
          <p:nvPr>
            <p:ph idx="1"/>
          </p:nvPr>
        </p:nvSpPr>
        <p:spPr/>
        <p:txBody>
          <a:bodyPr/>
          <a:lstStyle/>
          <a:p>
            <a:r>
              <a:rPr lang="zh-CN" altLang="en-US" dirty="0"/>
              <a:t>之前的注意力衡量指标都是间接的：如换手率、极端收益率、新闻、广告支出等</a:t>
            </a:r>
            <a:endParaRPr lang="en-US" altLang="zh-CN" dirty="0"/>
          </a:p>
          <a:p>
            <a:endParaRPr lang="en-US" dirty="0"/>
          </a:p>
          <a:p>
            <a:r>
              <a:rPr lang="zh-CN" altLang="en-US" dirty="0"/>
              <a:t>新的直接衡量投资者注意力的指标：谷歌搜索指数（</a:t>
            </a:r>
            <a:r>
              <a:rPr lang="en-US" altLang="zh-CN" dirty="0"/>
              <a:t>SVI</a:t>
            </a:r>
            <a:r>
              <a:rPr lang="zh-CN" altLang="en-US" dirty="0"/>
              <a:t>）</a:t>
            </a:r>
            <a:endParaRPr lang="en-US" altLang="zh-CN" dirty="0"/>
          </a:p>
          <a:p>
            <a:endParaRPr lang="en-US" dirty="0"/>
          </a:p>
          <a:p>
            <a:r>
              <a:rPr lang="en-US" altLang="zh-CN" dirty="0"/>
              <a:t>SVI</a:t>
            </a:r>
            <a:r>
              <a:rPr lang="zh-CN" altLang="en-US" dirty="0"/>
              <a:t>与之前的注意力衡量指标正相关，但是存在明显不同</a:t>
            </a:r>
            <a:endParaRPr lang="en-US" altLang="zh-CN" dirty="0"/>
          </a:p>
          <a:p>
            <a:endParaRPr lang="en-US" dirty="0"/>
          </a:p>
          <a:p>
            <a:r>
              <a:rPr lang="en-US" altLang="zh-CN" dirty="0"/>
              <a:t>SVI</a:t>
            </a:r>
            <a:r>
              <a:rPr lang="zh-CN" altLang="en-US" dirty="0"/>
              <a:t>衡量的是个人投资者的注意力</a:t>
            </a:r>
            <a:endParaRPr lang="en-US" altLang="zh-CN" dirty="0"/>
          </a:p>
          <a:p>
            <a:endParaRPr lang="en-US" dirty="0"/>
          </a:p>
          <a:p>
            <a:r>
              <a:rPr lang="en-US" altLang="zh-CN" dirty="0"/>
              <a:t>SVI</a:t>
            </a:r>
            <a:r>
              <a:rPr lang="zh-CN" altLang="en-US" dirty="0"/>
              <a:t>与股票价格</a:t>
            </a:r>
            <a:endParaRPr lang="en-US" altLang="zh-CN" dirty="0"/>
          </a:p>
          <a:p>
            <a:pPr lvl="1"/>
            <a:r>
              <a:rPr lang="en-US" dirty="0"/>
              <a:t>SVI</a:t>
            </a:r>
            <a:r>
              <a:rPr lang="zh-CN" altLang="en-US" dirty="0"/>
              <a:t>上升预测未来</a:t>
            </a:r>
            <a:r>
              <a:rPr lang="en-US" dirty="0"/>
              <a:t>2</a:t>
            </a:r>
            <a:r>
              <a:rPr lang="zh-CN" altLang="en-US" dirty="0"/>
              <a:t>周股票价格的上升，但是价格会在长期</a:t>
            </a:r>
            <a:r>
              <a:rPr lang="en-US" dirty="0"/>
              <a:t>1</a:t>
            </a:r>
            <a:r>
              <a:rPr lang="zh-CN" altLang="en-US" dirty="0"/>
              <a:t>年反转</a:t>
            </a:r>
            <a:endParaRPr lang="en-US" altLang="zh-CN" dirty="0"/>
          </a:p>
          <a:p>
            <a:pPr lvl="1"/>
            <a:r>
              <a:rPr lang="en-US" dirty="0"/>
              <a:t>SVI</a:t>
            </a:r>
            <a:r>
              <a:rPr lang="zh-CN" altLang="en-US" dirty="0"/>
              <a:t>上升预测</a:t>
            </a:r>
            <a:r>
              <a:rPr lang="en-US" dirty="0"/>
              <a:t>IPO</a:t>
            </a:r>
            <a:r>
              <a:rPr lang="zh-CN" altLang="en-US" dirty="0"/>
              <a:t>发行第一天的大幅上升和长期的弱势表现</a:t>
            </a:r>
            <a:endParaRPr lang="en-US" dirty="0"/>
          </a:p>
          <a:p>
            <a:endParaRPr lang="en-US" dirty="0"/>
          </a:p>
        </p:txBody>
      </p:sp>
    </p:spTree>
    <p:extLst>
      <p:ext uri="{BB962C8B-B14F-4D97-AF65-F5344CB8AC3E}">
        <p14:creationId xmlns:p14="http://schemas.microsoft.com/office/powerpoint/2010/main" val="9588104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Does Institutional Ownership Matter for International Stock Return Comovement?&amp;#x0D;&amp;#x0A;&amp;#x0D;&amp;#x0A;Faias, Ferreira, Matos and Santa-Cl&quot;/&gt;&lt;property id=&quot;20307&quot; value=&quot;256&quot;/&gt;&lt;/object&gt;&lt;object type=&quot;3&quot; unique_id=&quot;10005&quot;&gt;&lt;property id=&quot;20148&quot; value=&quot;5&quot;/&gt;&lt;property id=&quot;20300&quot; value=&quot;Slide 2 - &amp;quot;What’s the paper about?&amp;quot;&quot;/&gt;&lt;property id=&quot;20307&quot; value=&quot;510&quot;/&gt;&lt;/object&gt;&lt;object type=&quot;3&quot; unique_id=&quot;10006&quot;&gt;&lt;property id=&quot;20148&quot; value=&quot;5&quot;/&gt;&lt;property id=&quot;20300&quot; value=&quot;Slide 3 - &amp;quot;Empirical Design with Details&amp;quot;&quot;/&gt;&lt;property id=&quot;20307&quot; value=&quot;525&quot;/&gt;&lt;/object&gt;&lt;object type=&quot;3&quot; unique_id=&quot;10898&quot;&gt;&lt;property id=&quot;20148&quot; value=&quot;5&quot;/&gt;&lt;property id=&quot;20300&quot; value=&quot;Slide 6 - &amp;quot;Comments on Variance Decomposition&amp;quot;&quot;/&gt;&lt;property id=&quot;20307&quot; value=&quot;586&quot;/&gt;&lt;/object&gt;&lt;object type=&quot;3&quot; unique_id=&quot;10899&quot;&gt;&lt;property id=&quot;20148&quot; value=&quot;5&quot;/&gt;&lt;property id=&quot;20300&quot; value=&quot;Slide 7 - &amp;quot;Comments on Country vs. Industry&amp;quot;&quot;/&gt;&lt;property id=&quot;20307&quot; value=&quot;587&quot;/&gt;&lt;/object&gt;&lt;object type=&quot;3&quot; unique_id=&quot;10918&quot;&gt;&lt;property id=&quot;20148&quot; value=&quot;5&quot;/&gt;&lt;property id=&quot;20300&quot; value=&quot;Slide 4 - &amp;quot;Comments on The Return Process&amp;quot;&quot;/&gt;&lt;property id=&quot;20307&quot; value=&quot;588&quot;/&gt;&lt;/object&gt;&lt;object type=&quot;3&quot; unique_id=&quot;10919&quot;&gt;&lt;property id=&quot;20148&quot; value=&quot;5&quot;/&gt;&lt;property id=&quot;20300&quot; value=&quot;Slide 5 - &amp;quot;Comments on The Return Process&amp;quot;&quot;/&gt;&lt;property id=&quot;20307&quot; value=&quot;589&quot;/&gt;&lt;/object&gt;&lt;/object&gt;&lt;/object&gt;&lt;/database&gt;"/>
  <p:tag name="SECTOMILLISECCONVERTED" val="1"/>
</p:tagLst>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solidFill>
            <a:schemeClr va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12700" cap="sq" cmpd="sng" algn="ctr">
          <a:solidFill>
            <a:schemeClr va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19775</TotalTime>
  <Words>1518</Words>
  <Application>Microsoft Office PowerPoint</Application>
  <PresentationFormat>全屏显示(4:3)</PresentationFormat>
  <Paragraphs>186</Paragraphs>
  <Slides>27</Slides>
  <Notes>9</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27</vt:i4>
      </vt:variant>
    </vt:vector>
  </HeadingPairs>
  <TitlesOfParts>
    <vt:vector size="33" baseType="lpstr">
      <vt:lpstr>Arial</vt:lpstr>
      <vt:lpstr>Garamond</vt:lpstr>
      <vt:lpstr>Palatino Linotype</vt:lpstr>
      <vt:lpstr>Times New Roman</vt:lpstr>
      <vt:lpstr>Wingdings</vt:lpstr>
      <vt:lpstr>Edge</vt:lpstr>
      <vt:lpstr> In Search of Attention</vt:lpstr>
      <vt:lpstr>作者：Zhi Da </vt:lpstr>
      <vt:lpstr>作者：Zhi Da </vt:lpstr>
      <vt:lpstr>作者： Joseph Engelberg </vt:lpstr>
      <vt:lpstr>作者： Joseph Engelberg </vt:lpstr>
      <vt:lpstr>作者： Pengjie Gao</vt:lpstr>
      <vt:lpstr>作者： Pengjie Gao</vt:lpstr>
      <vt:lpstr>出版细节</vt:lpstr>
      <vt:lpstr>研究动机</vt:lpstr>
      <vt:lpstr>本文贡献</vt:lpstr>
      <vt:lpstr>流程图</vt:lpstr>
      <vt:lpstr>数据</vt:lpstr>
      <vt:lpstr>数据</vt:lpstr>
      <vt:lpstr>数据</vt:lpstr>
      <vt:lpstr>1. 什么驱动了SVI？</vt:lpstr>
      <vt:lpstr>1. 什么驱动了SVI？</vt:lpstr>
      <vt:lpstr>1. 什么驱动了SVI？</vt:lpstr>
      <vt:lpstr>2. SVI与个人投资者</vt:lpstr>
      <vt:lpstr>2. SVI与个人投资者</vt:lpstr>
      <vt:lpstr>2. SVI与个人投资者</vt:lpstr>
      <vt:lpstr>3. SVI与未来股票价格</vt:lpstr>
      <vt:lpstr>3. SVI与未来股票价格</vt:lpstr>
      <vt:lpstr>3. SVI与未来股票价格</vt:lpstr>
      <vt:lpstr>3. SVI与未来股票价格</vt:lpstr>
      <vt:lpstr>3. SVI与未来股票价格</vt:lpstr>
      <vt:lpstr>3. SVI与未来股票价格</vt:lpstr>
      <vt:lpstr>结论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shorts are informed?</dc:title>
  <dc:creator>Charles Jones</dc:creator>
  <cp:lastModifiedBy>Xinran Zhang</cp:lastModifiedBy>
  <cp:revision>1990</cp:revision>
  <cp:lastPrinted>2022-04-21T04:57:57Z</cp:lastPrinted>
  <dcterms:created xsi:type="dcterms:W3CDTF">2004-04-12T07:19:58Z</dcterms:created>
  <dcterms:modified xsi:type="dcterms:W3CDTF">2023-11-27T03:18:07Z</dcterms:modified>
</cp:coreProperties>
</file>