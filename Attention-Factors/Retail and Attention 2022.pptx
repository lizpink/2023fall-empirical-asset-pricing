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9"/>
  </p:notesMasterIdLst>
  <p:handoutMasterIdLst>
    <p:handoutMasterId r:id="rId30"/>
  </p:handoutMasterIdLst>
  <p:sldIdLst>
    <p:sldId id="709" r:id="rId2"/>
    <p:sldId id="710" r:id="rId3"/>
    <p:sldId id="753" r:id="rId4"/>
    <p:sldId id="754" r:id="rId5"/>
    <p:sldId id="755" r:id="rId6"/>
    <p:sldId id="756" r:id="rId7"/>
    <p:sldId id="716" r:id="rId8"/>
    <p:sldId id="717" r:id="rId9"/>
    <p:sldId id="718" r:id="rId10"/>
    <p:sldId id="735" r:id="rId11"/>
    <p:sldId id="757" r:id="rId12"/>
    <p:sldId id="736" r:id="rId13"/>
    <p:sldId id="737" r:id="rId14"/>
    <p:sldId id="738" r:id="rId15"/>
    <p:sldId id="739" r:id="rId16"/>
    <p:sldId id="740" r:id="rId17"/>
    <p:sldId id="741" r:id="rId18"/>
    <p:sldId id="742" r:id="rId19"/>
    <p:sldId id="743" r:id="rId20"/>
    <p:sldId id="744" r:id="rId21"/>
    <p:sldId id="745" r:id="rId22"/>
    <p:sldId id="748" r:id="rId23"/>
    <p:sldId id="749" r:id="rId24"/>
    <p:sldId id="750" r:id="rId25"/>
    <p:sldId id="751" r:id="rId26"/>
    <p:sldId id="752" r:id="rId27"/>
    <p:sldId id="747" r:id="rId28"/>
  </p:sldIdLst>
  <p:sldSz cx="9144000" cy="6858000" type="screen4x3"/>
  <p:notesSz cx="7315200" cy="9601200"/>
  <p:custDataLst>
    <p:tags r:id="rId31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E8C"/>
    <a:srgbClr val="E6E6E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86418" autoAdjust="0"/>
  </p:normalViewPr>
  <p:slideViewPr>
    <p:cSldViewPr>
      <p:cViewPr varScale="1">
        <p:scale>
          <a:sx n="95" d="100"/>
          <a:sy n="95" d="100"/>
        </p:scale>
        <p:origin x="131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168" y="-102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D70EA8-D516-4034-A3F5-6AD1BC88BC65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008C98-2D67-4793-8B30-3F131768570F}">
      <dgm:prSet phldrT="[文本]"/>
      <dgm:spPr/>
      <dgm:t>
        <a:bodyPr/>
        <a:lstStyle/>
        <a:p>
          <a:r>
            <a:rPr lang="zh-CN" altLang="en-US" dirty="0"/>
            <a:t>注意力驱动罗宾汉用户交易</a:t>
          </a:r>
        </a:p>
      </dgm:t>
    </dgm:pt>
    <dgm:pt modelId="{FAB7D935-131D-4912-9FC4-B808CBB1F35B}" type="parTrans" cxnId="{63088640-1684-49E4-9DEF-88121C364980}">
      <dgm:prSet/>
      <dgm:spPr/>
      <dgm:t>
        <a:bodyPr/>
        <a:lstStyle/>
        <a:p>
          <a:endParaRPr lang="zh-CN" altLang="en-US"/>
        </a:p>
      </dgm:t>
    </dgm:pt>
    <dgm:pt modelId="{87284D90-AA5B-4000-9A13-122CA588D727}" type="sibTrans" cxnId="{63088640-1684-49E4-9DEF-88121C364980}">
      <dgm:prSet/>
      <dgm:spPr/>
      <dgm:t>
        <a:bodyPr/>
        <a:lstStyle/>
        <a:p>
          <a:endParaRPr lang="zh-CN" altLang="en-US"/>
        </a:p>
      </dgm:t>
    </dgm:pt>
    <dgm:pt modelId="{A3455FFF-64CF-4109-885F-1A9AA3104592}">
      <dgm:prSet phldrT="[文本]"/>
      <dgm:spPr/>
      <dgm:t>
        <a:bodyPr/>
        <a:lstStyle/>
        <a:p>
          <a:r>
            <a:rPr lang="zh-CN" altLang="en-US" dirty="0"/>
            <a:t>平台过于简化的信息显示</a:t>
          </a:r>
        </a:p>
      </dgm:t>
    </dgm:pt>
    <dgm:pt modelId="{1FB18D47-6C66-4DB7-A0BC-7FCC209B7220}" type="parTrans" cxnId="{C3405BAE-85DB-4D27-9C98-8A6D87A6D541}">
      <dgm:prSet/>
      <dgm:spPr/>
      <dgm:t>
        <a:bodyPr/>
        <a:lstStyle/>
        <a:p>
          <a:endParaRPr lang="zh-CN" altLang="en-US"/>
        </a:p>
      </dgm:t>
    </dgm:pt>
    <dgm:pt modelId="{8A57F046-40FD-45FE-A118-6004F63FB3EC}" type="sibTrans" cxnId="{C3405BAE-85DB-4D27-9C98-8A6D87A6D541}">
      <dgm:prSet/>
      <dgm:spPr/>
      <dgm:t>
        <a:bodyPr/>
        <a:lstStyle/>
        <a:p>
          <a:endParaRPr lang="zh-CN" altLang="en-US"/>
        </a:p>
      </dgm:t>
    </dgm:pt>
    <dgm:pt modelId="{A8F5FC04-D060-4D33-8604-61074BE76E1B}">
      <dgm:prSet phldrT="[文本]"/>
      <dgm:spPr/>
      <dgm:t>
        <a:bodyPr/>
        <a:lstStyle/>
        <a:p>
          <a:r>
            <a:rPr lang="zh-CN" altLang="en-US" dirty="0"/>
            <a:t>伴随负回报的羊群事件</a:t>
          </a:r>
        </a:p>
      </dgm:t>
    </dgm:pt>
    <dgm:pt modelId="{A3FAEA77-21E8-433D-9AF4-D3FB589F5C63}" type="parTrans" cxnId="{5DCAADCD-EF27-4008-A149-EB6CF486124D}">
      <dgm:prSet/>
      <dgm:spPr/>
      <dgm:t>
        <a:bodyPr/>
        <a:lstStyle/>
        <a:p>
          <a:endParaRPr lang="zh-CN" altLang="en-US"/>
        </a:p>
      </dgm:t>
    </dgm:pt>
    <dgm:pt modelId="{2F21298F-AC9C-46CF-8FA4-CE0406C8AD65}" type="sibTrans" cxnId="{5DCAADCD-EF27-4008-A149-EB6CF486124D}">
      <dgm:prSet/>
      <dgm:spPr/>
      <dgm:t>
        <a:bodyPr/>
        <a:lstStyle/>
        <a:p>
          <a:endParaRPr lang="zh-CN" altLang="en-US"/>
        </a:p>
      </dgm:t>
    </dgm:pt>
    <dgm:pt modelId="{93BF4096-F760-454F-874B-3E19682B8717}">
      <dgm:prSet phldrT="[文本]"/>
      <dgm:spPr/>
      <dgm:t>
        <a:bodyPr/>
        <a:lstStyle/>
        <a:p>
          <a:r>
            <a:rPr lang="zh-CN" altLang="en-US" dirty="0"/>
            <a:t>罗宾汉用户的交易更加集中</a:t>
          </a:r>
        </a:p>
      </dgm:t>
    </dgm:pt>
    <dgm:pt modelId="{E866F1A6-24D7-496B-8B86-EC1B1BBC3E2E}" type="parTrans" cxnId="{65DA2E0B-7E86-4227-8ABD-148DA4F709C2}">
      <dgm:prSet/>
      <dgm:spPr/>
      <dgm:t>
        <a:bodyPr/>
        <a:lstStyle/>
        <a:p>
          <a:endParaRPr lang="zh-CN" altLang="en-US"/>
        </a:p>
      </dgm:t>
    </dgm:pt>
    <dgm:pt modelId="{6207F868-236F-4B76-B953-5234088465BB}" type="sibTrans" cxnId="{65DA2E0B-7E86-4227-8ABD-148DA4F709C2}">
      <dgm:prSet/>
      <dgm:spPr/>
      <dgm:t>
        <a:bodyPr/>
        <a:lstStyle/>
        <a:p>
          <a:endParaRPr lang="zh-CN" altLang="en-US"/>
        </a:p>
      </dgm:t>
    </dgm:pt>
    <dgm:pt modelId="{5BA09F47-57FB-4EE1-8B43-3BB8DC4C6732}">
      <dgm:prSet phldrT="[文本]"/>
      <dgm:spPr/>
      <dgm:t>
        <a:bodyPr/>
        <a:lstStyle/>
        <a:p>
          <a:r>
            <a:rPr lang="zh-CN" altLang="en-US" dirty="0"/>
            <a:t>缺乏经验</a:t>
          </a:r>
        </a:p>
      </dgm:t>
    </dgm:pt>
    <dgm:pt modelId="{8AB46C44-9DF5-4E5A-BCB2-BA39E2E8BC1D}" type="parTrans" cxnId="{4621A2A6-BB66-461F-BE67-4069EBA34F4C}">
      <dgm:prSet/>
      <dgm:spPr/>
      <dgm:t>
        <a:bodyPr/>
        <a:lstStyle/>
        <a:p>
          <a:endParaRPr lang="zh-CN" altLang="en-US"/>
        </a:p>
      </dgm:t>
    </dgm:pt>
    <dgm:pt modelId="{8B911375-8339-4CB7-ADDA-A3C433861F37}" type="sibTrans" cxnId="{4621A2A6-BB66-461F-BE67-4069EBA34F4C}">
      <dgm:prSet/>
      <dgm:spPr/>
      <dgm:t>
        <a:bodyPr/>
        <a:lstStyle/>
        <a:p>
          <a:endParaRPr lang="zh-CN" altLang="en-US"/>
        </a:p>
      </dgm:t>
    </dgm:pt>
    <dgm:pt modelId="{0F7073E2-F02F-486B-83C5-6A1449D07C73}">
      <dgm:prSet phldrT="[文本]"/>
      <dgm:spPr/>
      <dgm:t>
        <a:bodyPr/>
        <a:lstStyle/>
        <a:p>
          <a:r>
            <a:rPr lang="zh-CN" altLang="en-US" dirty="0"/>
            <a:t>集中买入伴随着未来负回报</a:t>
          </a:r>
        </a:p>
      </dgm:t>
    </dgm:pt>
    <dgm:pt modelId="{B001EB1A-6C24-4AAE-B877-652D9FBD2A97}" type="parTrans" cxnId="{6F5396EA-E9BA-41E6-999B-9FEFE8405668}">
      <dgm:prSet/>
      <dgm:spPr/>
      <dgm:t>
        <a:bodyPr/>
        <a:lstStyle/>
        <a:p>
          <a:endParaRPr lang="zh-CN" altLang="en-US"/>
        </a:p>
      </dgm:t>
    </dgm:pt>
    <dgm:pt modelId="{BC717DE7-94BC-4AB2-BD77-9843E6FB314C}" type="sibTrans" cxnId="{6F5396EA-E9BA-41E6-999B-9FEFE8405668}">
      <dgm:prSet/>
      <dgm:spPr/>
      <dgm:t>
        <a:bodyPr/>
        <a:lstStyle/>
        <a:p>
          <a:endParaRPr lang="zh-CN" altLang="en-US"/>
        </a:p>
      </dgm:t>
    </dgm:pt>
    <dgm:pt modelId="{840F3D91-F67C-48BE-8F94-77C35ACF5006}" type="pres">
      <dgm:prSet presAssocID="{00D70EA8-D516-4034-A3F5-6AD1BC88BC65}" presName="linearFlow" presStyleCnt="0">
        <dgm:presLayoutVars>
          <dgm:dir/>
          <dgm:animLvl val="lvl"/>
          <dgm:resizeHandles val="exact"/>
        </dgm:presLayoutVars>
      </dgm:prSet>
      <dgm:spPr/>
    </dgm:pt>
    <dgm:pt modelId="{CBE93905-2787-4C08-9A57-E76D7FB4CC51}" type="pres">
      <dgm:prSet presAssocID="{22008C98-2D67-4793-8B30-3F131768570F}" presName="composite" presStyleCnt="0"/>
      <dgm:spPr/>
    </dgm:pt>
    <dgm:pt modelId="{3EB53F4C-446B-4FEA-85DB-ADCEE8F1F5BA}" type="pres">
      <dgm:prSet presAssocID="{22008C98-2D67-4793-8B30-3F131768570F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7CD39FF5-EB62-4102-A123-D58BCF66E4AE}" type="pres">
      <dgm:prSet presAssocID="{22008C98-2D67-4793-8B30-3F131768570F}" presName="parSh" presStyleLbl="node1" presStyleIdx="0" presStyleCnt="2"/>
      <dgm:spPr/>
    </dgm:pt>
    <dgm:pt modelId="{660C11E0-72AE-43F3-A623-26EFBED715F5}" type="pres">
      <dgm:prSet presAssocID="{22008C98-2D67-4793-8B30-3F131768570F}" presName="desTx" presStyleLbl="fgAcc1" presStyleIdx="0" presStyleCnt="2">
        <dgm:presLayoutVars>
          <dgm:bulletEnabled val="1"/>
        </dgm:presLayoutVars>
      </dgm:prSet>
      <dgm:spPr/>
    </dgm:pt>
    <dgm:pt modelId="{A26352CF-E8BC-4C7F-864D-430F18F6AD1F}" type="pres">
      <dgm:prSet presAssocID="{87284D90-AA5B-4000-9A13-122CA588D727}" presName="sibTrans" presStyleLbl="sibTrans2D1" presStyleIdx="0" presStyleCnt="1"/>
      <dgm:spPr/>
    </dgm:pt>
    <dgm:pt modelId="{89B939BA-D956-49A6-9FAE-78AA22B4C8F2}" type="pres">
      <dgm:prSet presAssocID="{87284D90-AA5B-4000-9A13-122CA588D727}" presName="connTx" presStyleLbl="sibTrans2D1" presStyleIdx="0" presStyleCnt="1"/>
      <dgm:spPr/>
    </dgm:pt>
    <dgm:pt modelId="{484AFCF4-BF9E-49E1-90BF-3C40D58F4B8C}" type="pres">
      <dgm:prSet presAssocID="{A8F5FC04-D060-4D33-8604-61074BE76E1B}" presName="composite" presStyleCnt="0"/>
      <dgm:spPr/>
    </dgm:pt>
    <dgm:pt modelId="{861CF185-3048-4851-9F39-71AF6EB09FA5}" type="pres">
      <dgm:prSet presAssocID="{A8F5FC04-D060-4D33-8604-61074BE76E1B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0C018F0D-65A4-47B3-BBE9-EAEC31138C62}" type="pres">
      <dgm:prSet presAssocID="{A8F5FC04-D060-4D33-8604-61074BE76E1B}" presName="parSh" presStyleLbl="node1" presStyleIdx="1" presStyleCnt="2"/>
      <dgm:spPr/>
    </dgm:pt>
    <dgm:pt modelId="{70AF4BA0-6AA2-4375-B7BC-FE351E5260B6}" type="pres">
      <dgm:prSet presAssocID="{A8F5FC04-D060-4D33-8604-61074BE76E1B}" presName="desTx" presStyleLbl="fgAcc1" presStyleIdx="1" presStyleCnt="2">
        <dgm:presLayoutVars>
          <dgm:bulletEnabled val="1"/>
        </dgm:presLayoutVars>
      </dgm:prSet>
      <dgm:spPr/>
    </dgm:pt>
  </dgm:ptLst>
  <dgm:cxnLst>
    <dgm:cxn modelId="{65DA2E0B-7E86-4227-8ABD-148DA4F709C2}" srcId="{A8F5FC04-D060-4D33-8604-61074BE76E1B}" destId="{93BF4096-F760-454F-874B-3E19682B8717}" srcOrd="0" destOrd="0" parTransId="{E866F1A6-24D7-496B-8B86-EC1B1BBC3E2E}" sibTransId="{6207F868-236F-4B76-B953-5234088465BB}"/>
    <dgm:cxn modelId="{0D502F0E-B80C-4594-B162-CF0F3AD436EF}" type="presOf" srcId="{22008C98-2D67-4793-8B30-3F131768570F}" destId="{3EB53F4C-446B-4FEA-85DB-ADCEE8F1F5BA}" srcOrd="0" destOrd="0" presId="urn:microsoft.com/office/officeart/2005/8/layout/process3"/>
    <dgm:cxn modelId="{20AE882D-B9E7-47BD-A047-377CCA9C79BA}" type="presOf" srcId="{5BA09F47-57FB-4EE1-8B43-3BB8DC4C6732}" destId="{660C11E0-72AE-43F3-A623-26EFBED715F5}" srcOrd="0" destOrd="0" presId="urn:microsoft.com/office/officeart/2005/8/layout/process3"/>
    <dgm:cxn modelId="{98F8D13A-C3A3-4266-BC47-D6FD6EB911D0}" type="presOf" srcId="{0F7073E2-F02F-486B-83C5-6A1449D07C73}" destId="{70AF4BA0-6AA2-4375-B7BC-FE351E5260B6}" srcOrd="0" destOrd="1" presId="urn:microsoft.com/office/officeart/2005/8/layout/process3"/>
    <dgm:cxn modelId="{63088640-1684-49E4-9DEF-88121C364980}" srcId="{00D70EA8-D516-4034-A3F5-6AD1BC88BC65}" destId="{22008C98-2D67-4793-8B30-3F131768570F}" srcOrd="0" destOrd="0" parTransId="{FAB7D935-131D-4912-9FC4-B808CBB1F35B}" sibTransId="{87284D90-AA5B-4000-9A13-122CA588D727}"/>
    <dgm:cxn modelId="{E4D89A47-FB08-4D9F-AD4F-40181F73D507}" type="presOf" srcId="{A8F5FC04-D060-4D33-8604-61074BE76E1B}" destId="{0C018F0D-65A4-47B3-BBE9-EAEC31138C62}" srcOrd="1" destOrd="0" presId="urn:microsoft.com/office/officeart/2005/8/layout/process3"/>
    <dgm:cxn modelId="{DBB4056D-0097-44D0-98CF-B2881EECC1D1}" type="presOf" srcId="{00D70EA8-D516-4034-A3F5-6AD1BC88BC65}" destId="{840F3D91-F67C-48BE-8F94-77C35ACF5006}" srcOrd="0" destOrd="0" presId="urn:microsoft.com/office/officeart/2005/8/layout/process3"/>
    <dgm:cxn modelId="{B6407459-2536-433E-804D-DDD84A390FF4}" type="presOf" srcId="{87284D90-AA5B-4000-9A13-122CA588D727}" destId="{89B939BA-D956-49A6-9FAE-78AA22B4C8F2}" srcOrd="1" destOrd="0" presId="urn:microsoft.com/office/officeart/2005/8/layout/process3"/>
    <dgm:cxn modelId="{3DFD8993-8A32-4107-8581-78EEDD26404F}" type="presOf" srcId="{93BF4096-F760-454F-874B-3E19682B8717}" destId="{70AF4BA0-6AA2-4375-B7BC-FE351E5260B6}" srcOrd="0" destOrd="0" presId="urn:microsoft.com/office/officeart/2005/8/layout/process3"/>
    <dgm:cxn modelId="{4621A2A6-BB66-461F-BE67-4069EBA34F4C}" srcId="{22008C98-2D67-4793-8B30-3F131768570F}" destId="{5BA09F47-57FB-4EE1-8B43-3BB8DC4C6732}" srcOrd="0" destOrd="0" parTransId="{8AB46C44-9DF5-4E5A-BCB2-BA39E2E8BC1D}" sibTransId="{8B911375-8339-4CB7-ADDA-A3C433861F37}"/>
    <dgm:cxn modelId="{C3405BAE-85DB-4D27-9C98-8A6D87A6D541}" srcId="{22008C98-2D67-4793-8B30-3F131768570F}" destId="{A3455FFF-64CF-4109-885F-1A9AA3104592}" srcOrd="1" destOrd="0" parTransId="{1FB18D47-6C66-4DB7-A0BC-7FCC209B7220}" sibTransId="{8A57F046-40FD-45FE-A118-6004F63FB3EC}"/>
    <dgm:cxn modelId="{ABBE0FCC-C8E3-4859-B114-C03D5255E72F}" type="presOf" srcId="{A8F5FC04-D060-4D33-8604-61074BE76E1B}" destId="{861CF185-3048-4851-9F39-71AF6EB09FA5}" srcOrd="0" destOrd="0" presId="urn:microsoft.com/office/officeart/2005/8/layout/process3"/>
    <dgm:cxn modelId="{5DCAADCD-EF27-4008-A149-EB6CF486124D}" srcId="{00D70EA8-D516-4034-A3F5-6AD1BC88BC65}" destId="{A8F5FC04-D060-4D33-8604-61074BE76E1B}" srcOrd="1" destOrd="0" parTransId="{A3FAEA77-21E8-433D-9AF4-D3FB589F5C63}" sibTransId="{2F21298F-AC9C-46CF-8FA4-CE0406C8AD65}"/>
    <dgm:cxn modelId="{D8B5D5D1-2A41-457F-8005-6EF7BA3AA34A}" type="presOf" srcId="{87284D90-AA5B-4000-9A13-122CA588D727}" destId="{A26352CF-E8BC-4C7F-864D-430F18F6AD1F}" srcOrd="0" destOrd="0" presId="urn:microsoft.com/office/officeart/2005/8/layout/process3"/>
    <dgm:cxn modelId="{1FC7C0DA-F720-4433-B6D0-9FE447BD9941}" type="presOf" srcId="{A3455FFF-64CF-4109-885F-1A9AA3104592}" destId="{660C11E0-72AE-43F3-A623-26EFBED715F5}" srcOrd="0" destOrd="1" presId="urn:microsoft.com/office/officeart/2005/8/layout/process3"/>
    <dgm:cxn modelId="{6F5396EA-E9BA-41E6-999B-9FEFE8405668}" srcId="{A8F5FC04-D060-4D33-8604-61074BE76E1B}" destId="{0F7073E2-F02F-486B-83C5-6A1449D07C73}" srcOrd="1" destOrd="0" parTransId="{B001EB1A-6C24-4AAE-B877-652D9FBD2A97}" sibTransId="{BC717DE7-94BC-4AB2-BD77-9843E6FB314C}"/>
    <dgm:cxn modelId="{B866A2F9-D292-4C95-80DB-A81FA2C87C4D}" type="presOf" srcId="{22008C98-2D67-4793-8B30-3F131768570F}" destId="{7CD39FF5-EB62-4102-A123-D58BCF66E4AE}" srcOrd="1" destOrd="0" presId="urn:microsoft.com/office/officeart/2005/8/layout/process3"/>
    <dgm:cxn modelId="{E9FBCEED-06C8-40B8-8B4F-09BFC652DF3D}" type="presParOf" srcId="{840F3D91-F67C-48BE-8F94-77C35ACF5006}" destId="{CBE93905-2787-4C08-9A57-E76D7FB4CC51}" srcOrd="0" destOrd="0" presId="urn:microsoft.com/office/officeart/2005/8/layout/process3"/>
    <dgm:cxn modelId="{F8F948B7-9581-44A8-A6DB-EE89E9BAD1BA}" type="presParOf" srcId="{CBE93905-2787-4C08-9A57-E76D7FB4CC51}" destId="{3EB53F4C-446B-4FEA-85DB-ADCEE8F1F5BA}" srcOrd="0" destOrd="0" presId="urn:microsoft.com/office/officeart/2005/8/layout/process3"/>
    <dgm:cxn modelId="{EA452EC0-76E1-4742-920C-A14C96CF8699}" type="presParOf" srcId="{CBE93905-2787-4C08-9A57-E76D7FB4CC51}" destId="{7CD39FF5-EB62-4102-A123-D58BCF66E4AE}" srcOrd="1" destOrd="0" presId="urn:microsoft.com/office/officeart/2005/8/layout/process3"/>
    <dgm:cxn modelId="{B8F3E639-D79C-486A-BD72-BCA45C48082E}" type="presParOf" srcId="{CBE93905-2787-4C08-9A57-E76D7FB4CC51}" destId="{660C11E0-72AE-43F3-A623-26EFBED715F5}" srcOrd="2" destOrd="0" presId="urn:microsoft.com/office/officeart/2005/8/layout/process3"/>
    <dgm:cxn modelId="{C2450398-FC8D-409B-AE1C-2DD38ABE56BA}" type="presParOf" srcId="{840F3D91-F67C-48BE-8F94-77C35ACF5006}" destId="{A26352CF-E8BC-4C7F-864D-430F18F6AD1F}" srcOrd="1" destOrd="0" presId="urn:microsoft.com/office/officeart/2005/8/layout/process3"/>
    <dgm:cxn modelId="{F4CE7413-C8D2-498D-AD54-C4082B8B2A9A}" type="presParOf" srcId="{A26352CF-E8BC-4C7F-864D-430F18F6AD1F}" destId="{89B939BA-D956-49A6-9FAE-78AA22B4C8F2}" srcOrd="0" destOrd="0" presId="urn:microsoft.com/office/officeart/2005/8/layout/process3"/>
    <dgm:cxn modelId="{15A8FEC0-EB2B-41BF-A9A7-F14BCB86F82B}" type="presParOf" srcId="{840F3D91-F67C-48BE-8F94-77C35ACF5006}" destId="{484AFCF4-BF9E-49E1-90BF-3C40D58F4B8C}" srcOrd="2" destOrd="0" presId="urn:microsoft.com/office/officeart/2005/8/layout/process3"/>
    <dgm:cxn modelId="{2F464B46-F80F-4B87-ABCF-0E608F48F264}" type="presParOf" srcId="{484AFCF4-BF9E-49E1-90BF-3C40D58F4B8C}" destId="{861CF185-3048-4851-9F39-71AF6EB09FA5}" srcOrd="0" destOrd="0" presId="urn:microsoft.com/office/officeart/2005/8/layout/process3"/>
    <dgm:cxn modelId="{119DCF5A-466B-439C-9141-F1B71B8705BB}" type="presParOf" srcId="{484AFCF4-BF9E-49E1-90BF-3C40D58F4B8C}" destId="{0C018F0D-65A4-47B3-BBE9-EAEC31138C62}" srcOrd="1" destOrd="0" presId="urn:microsoft.com/office/officeart/2005/8/layout/process3"/>
    <dgm:cxn modelId="{BEEEC908-047B-4DF4-826F-5843CACBEDB9}" type="presParOf" srcId="{484AFCF4-BF9E-49E1-90BF-3C40D58F4B8C}" destId="{70AF4BA0-6AA2-4375-B7BC-FE351E5260B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39FF5-EB62-4102-A123-D58BCF66E4AE}">
      <dsp:nvSpPr>
        <dsp:cNvPr id="0" name=""/>
        <dsp:cNvSpPr/>
      </dsp:nvSpPr>
      <dsp:spPr>
        <a:xfrm>
          <a:off x="3407" y="490111"/>
          <a:ext cx="2925003" cy="1755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注意力驱动罗宾汉用户交易</a:t>
          </a:r>
        </a:p>
      </dsp:txBody>
      <dsp:txXfrm>
        <a:off x="3407" y="490111"/>
        <a:ext cx="2925003" cy="1170001"/>
      </dsp:txXfrm>
    </dsp:sp>
    <dsp:sp modelId="{660C11E0-72AE-43F3-A623-26EFBED715F5}">
      <dsp:nvSpPr>
        <dsp:cNvPr id="0" name=""/>
        <dsp:cNvSpPr/>
      </dsp:nvSpPr>
      <dsp:spPr>
        <a:xfrm>
          <a:off x="602504" y="1660113"/>
          <a:ext cx="2925003" cy="2380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缺乏经验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平台过于简化的信息显示</a:t>
          </a:r>
        </a:p>
      </dsp:txBody>
      <dsp:txXfrm>
        <a:off x="672226" y="1729835"/>
        <a:ext cx="2785559" cy="2241056"/>
      </dsp:txXfrm>
    </dsp:sp>
    <dsp:sp modelId="{A26352CF-E8BC-4C7F-864D-430F18F6AD1F}">
      <dsp:nvSpPr>
        <dsp:cNvPr id="0" name=""/>
        <dsp:cNvSpPr/>
      </dsp:nvSpPr>
      <dsp:spPr>
        <a:xfrm>
          <a:off x="3371831" y="710991"/>
          <a:ext cx="940050" cy="7282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3371831" y="856639"/>
        <a:ext cx="721578" cy="436945"/>
      </dsp:txXfrm>
    </dsp:sp>
    <dsp:sp modelId="{0C018F0D-65A4-47B3-BBE9-EAEC31138C62}">
      <dsp:nvSpPr>
        <dsp:cNvPr id="0" name=""/>
        <dsp:cNvSpPr/>
      </dsp:nvSpPr>
      <dsp:spPr>
        <a:xfrm>
          <a:off x="4702091" y="490111"/>
          <a:ext cx="2925003" cy="1755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伴随负回报的羊群事件</a:t>
          </a:r>
        </a:p>
      </dsp:txBody>
      <dsp:txXfrm>
        <a:off x="4702091" y="490111"/>
        <a:ext cx="2925003" cy="1170001"/>
      </dsp:txXfrm>
    </dsp:sp>
    <dsp:sp modelId="{70AF4BA0-6AA2-4375-B7BC-FE351E5260B6}">
      <dsp:nvSpPr>
        <dsp:cNvPr id="0" name=""/>
        <dsp:cNvSpPr/>
      </dsp:nvSpPr>
      <dsp:spPr>
        <a:xfrm>
          <a:off x="5301188" y="1660113"/>
          <a:ext cx="2925003" cy="2380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罗宾汉用户的交易更加集中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集中买入伴随着未来负回报</a:t>
          </a:r>
        </a:p>
      </dsp:txBody>
      <dsp:txXfrm>
        <a:off x="5370910" y="1729835"/>
        <a:ext cx="2785559" cy="2241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t" anchorCtr="0" compatLnSpc="1">
            <a:prstTxWarp prst="textNoShape">
              <a:avLst/>
            </a:prstTxWarp>
          </a:bodyPr>
          <a:lstStyle>
            <a:lvl1pPr algn="l" defTabSz="93178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5" y="2"/>
            <a:ext cx="3170237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t" anchorCtr="0" compatLnSpc="1">
            <a:prstTxWarp prst="textNoShape">
              <a:avLst/>
            </a:prstTxWarp>
          </a:bodyPr>
          <a:lstStyle>
            <a:lvl1pPr algn="r" defTabSz="93178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1777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b" anchorCtr="0" compatLnSpc="1">
            <a:prstTxWarp prst="textNoShape">
              <a:avLst/>
            </a:prstTxWarp>
          </a:bodyPr>
          <a:lstStyle>
            <a:lvl1pPr algn="l" defTabSz="93178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5" y="9121777"/>
            <a:ext cx="3170237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b" anchorCtr="0" compatLnSpc="1">
            <a:prstTxWarp prst="textNoShape">
              <a:avLst/>
            </a:prstTxWarp>
          </a:bodyPr>
          <a:lstStyle>
            <a:lvl1pPr algn="r" defTabSz="93178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782A948-6866-45A0-A775-15670DAC7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0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t" anchorCtr="0" compatLnSpc="1">
            <a:prstTxWarp prst="textNoShape">
              <a:avLst/>
            </a:prstTxWarp>
          </a:bodyPr>
          <a:lstStyle>
            <a:lvl1pPr algn="l" defTabSz="931780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6" y="2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t" anchorCtr="0" compatLnSpc="1">
            <a:prstTxWarp prst="textNoShape">
              <a:avLst/>
            </a:prstTxWarp>
          </a:bodyPr>
          <a:lstStyle>
            <a:lvl1pPr algn="r" defTabSz="931780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41" y="4560889"/>
            <a:ext cx="5851524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90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b" anchorCtr="0" compatLnSpc="1">
            <a:prstTxWarp prst="textNoShape">
              <a:avLst/>
            </a:prstTxWarp>
          </a:bodyPr>
          <a:lstStyle>
            <a:lvl1pPr algn="l" defTabSz="931780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6" y="9120190"/>
            <a:ext cx="3170238" cy="47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1" tIns="46580" rIns="93161" bIns="46580" numCol="1" anchor="b" anchorCtr="0" compatLnSpc="1">
            <a:prstTxWarp prst="textNoShape">
              <a:avLst/>
            </a:prstTxWarp>
          </a:bodyPr>
          <a:lstStyle>
            <a:lvl1pPr algn="r" defTabSz="931780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B305DB55-DB0C-48E8-866F-9600CE0850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8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rtl="0" eaLnBrk="0" fontAlgn="base" hangingPunct="0">
      <a:spcBef>
        <a:spcPct val="30000"/>
      </a:spcBef>
      <a:spcAft>
        <a:spcPct val="0"/>
      </a:spcAft>
      <a:buAutoNum type="arabicPeriod"/>
      <a:defRPr kumimoji="1" sz="1000" kern="1200">
        <a:solidFill>
          <a:schemeClr val="tx1"/>
        </a:solidFill>
        <a:latin typeface="Arial" charset="0"/>
        <a:ea typeface="+mn-ea"/>
        <a:cs typeface="+mn-cs"/>
      </a:defRPr>
    </a:lvl1pPr>
    <a:lvl2pPr marL="685800" indent="-228600" algn="l" rtl="0" eaLnBrk="0" fontAlgn="base" hangingPunct="0">
      <a:spcBef>
        <a:spcPct val="30000"/>
      </a:spcBef>
      <a:spcAft>
        <a:spcPct val="0"/>
      </a:spcAft>
      <a:buAutoNum type="arabicPeriod"/>
      <a:defRPr kumimoji="1" sz="1000" kern="1200">
        <a:solidFill>
          <a:schemeClr val="tx1"/>
        </a:solidFill>
        <a:latin typeface="Arial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buAutoNum type="arabicPeriod"/>
      <a:defRPr kumimoji="1" sz="1000" kern="1200">
        <a:solidFill>
          <a:schemeClr val="tx1"/>
        </a:solidFill>
        <a:latin typeface="Arial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buAutoNum type="arabicPeriod"/>
      <a:defRPr kumimoji="1" sz="1000" kern="1200">
        <a:solidFill>
          <a:schemeClr val="tx1"/>
        </a:solidFill>
        <a:latin typeface="Arial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AutoNum type="arabicPeriod"/>
      <a:defRPr kumimoji="1"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19A6C3-4A14-4299-9C82-0A95570A106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411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05DB55-DB0C-48E8-866F-9600CE0850E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0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0D209-73B9-4BF8-BC1D-BE4AB6CE9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FD403-76C1-42C8-ACBB-2D07262FC1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EF43C-4D06-4F1E-AC16-88A343032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ACBDD-F4C5-4CD8-A728-2C20F9D9A3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7BBDB-4753-4FB1-98F2-7697D7A350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3618F-91F7-42F7-B77F-29E12DA950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D7909-19AB-4E6A-A548-E6F67C3732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C31FF-E866-4B36-BF2B-61AC7A6CA9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64B63-4791-457E-BF61-A6D8153AF5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79E24-515A-4BCF-85F2-41275908CD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89184-2B4D-4E2D-B079-E37FBBC42C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77569-4F13-44DF-A6CF-97FB7365F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76400"/>
            <a:ext cx="38100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62400"/>
            <a:ext cx="38100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791200" y="6248400"/>
            <a:ext cx="2667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Ang, Hodrick, Xing and Zhang / </a:t>
            </a:r>
            <a:fld id="{F9B2D81C-CB1C-4F2D-8733-816F0F29D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6716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76400"/>
            <a:ext cx="38100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62400"/>
            <a:ext cx="38100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791200" y="6248400"/>
            <a:ext cx="2667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Ang, Hodrick, Xing and Zhang / </a:t>
            </a:r>
            <a:fld id="{AA376174-3CA6-462E-B643-5A7A607E20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9794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77724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962400"/>
            <a:ext cx="7772400" cy="2133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791200" y="6248400"/>
            <a:ext cx="2667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Ang, Hodrick, Xing and Zhang / </a:t>
            </a:r>
            <a:fld id="{BB191DA7-EAC9-4F7B-AF34-4F230CB22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1642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791200" y="6248400"/>
            <a:ext cx="2667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Ang, Hodrick, Xing and Zhang / </a:t>
            </a:r>
            <a:fld id="{09535161-ACE8-4D42-8FE0-8DA3E03B2A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8743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fld id="{65F27244-0A50-4C0D-A58A-F9E6A0E13F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186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7" r:id="rId13"/>
    <p:sldLayoutId id="2147483778" r:id="rId14"/>
    <p:sldLayoutId id="2147483779" r:id="rId15"/>
    <p:sldLayoutId id="2147483780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Palatino Linotype" pitchFamily="18" charset="0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Palatino Linotype" pitchFamily="18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Palatino Linotype" pitchFamily="18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Palatino Linotype" pitchFamily="18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Palatino Linotype" pitchFamily="18" charset="0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8363919" cy="17526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3600" b="1" dirty="0">
                <a:solidFill>
                  <a:srgbClr val="485E8C"/>
                </a:solidFill>
              </a:rPr>
              <a:t>Attention-Induced Trading and Returns: Evidence from Robinhood Users</a:t>
            </a:r>
            <a:br>
              <a:rPr lang="en-US" altLang="en-US" sz="3600" b="1" dirty="0"/>
            </a:br>
            <a:r>
              <a:rPr lang="en-US" altLang="zh-CN" sz="3600" b="1" dirty="0">
                <a:solidFill>
                  <a:srgbClr val="485E8C"/>
                </a:solidFill>
              </a:rPr>
              <a:t>Journal of Finance, 2022</a:t>
            </a:r>
            <a:endParaRPr lang="en-US" altLang="en-US" sz="3600" b="1" dirty="0">
              <a:solidFill>
                <a:srgbClr val="485E8C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Brad M. Barber, UC Davis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Xing Huang, Washington University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Terrance </a:t>
            </a:r>
            <a:r>
              <a:rPr lang="en-US" altLang="en-US" sz="2200" dirty="0" err="1"/>
              <a:t>Odean</a:t>
            </a:r>
            <a:r>
              <a:rPr lang="en-US" altLang="en-US" sz="2200" dirty="0"/>
              <a:t>, UC Berkeley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Christopher Schwarz, UC Irvine </a:t>
            </a:r>
          </a:p>
        </p:txBody>
      </p:sp>
    </p:spTree>
    <p:extLst>
      <p:ext uri="{BB962C8B-B14F-4D97-AF65-F5344CB8AC3E}">
        <p14:creationId xmlns:p14="http://schemas.microsoft.com/office/powerpoint/2010/main" val="160936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作者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96569" y="1607949"/>
            <a:ext cx="8150861" cy="4322606"/>
            <a:chOff x="275303" y="781313"/>
            <a:chExt cx="10867814" cy="5763474"/>
          </a:xfrm>
        </p:grpSpPr>
        <p:pic>
          <p:nvPicPr>
            <p:cNvPr id="5" name="Picture 2" descr="Brad Barber profile shot"/>
            <p:cNvPicPr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03"/>
            <a:stretch>
              <a:fillRect/>
            </a:stretch>
          </p:blipFill>
          <p:spPr bwMode="auto">
            <a:xfrm>
              <a:off x="275303" y="781313"/>
              <a:ext cx="3117600" cy="31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3517" y="3429000"/>
              <a:ext cx="3115787" cy="3115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1732" y="781314"/>
              <a:ext cx="3115786" cy="3115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0" descr="Christopher Schwarz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133" y="3356338"/>
              <a:ext cx="3014984" cy="3188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333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3399"/>
                </a:solidFill>
              </a:rPr>
              <a:t>Brad M. Barber</a:t>
            </a:r>
            <a:br>
              <a:rPr lang="en-US" sz="4000" b="1" dirty="0">
                <a:solidFill>
                  <a:srgbClr val="003399"/>
                </a:solidFill>
              </a:rPr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743200" cy="45307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52800" y="1600200"/>
            <a:ext cx="5334000" cy="4530725"/>
          </a:xfrm>
        </p:spPr>
        <p:txBody>
          <a:bodyPr/>
          <a:lstStyle/>
          <a:p>
            <a:pPr marL="257175" indent="-257175" defTabSz="685800">
              <a:lnSpc>
                <a:spcPts val="21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芝加哥大学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Booth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商学院博士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57175" indent="-257175" defTabSz="685800">
              <a:lnSpc>
                <a:spcPts val="21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加州大学戴维斯分校金融学院讲席教授</a:t>
            </a:r>
          </a:p>
          <a:p>
            <a:pPr marL="257175" indent="-257175" defTabSz="685800">
              <a:lnSpc>
                <a:spcPts val="21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研究领域：资产定价、行为金融和私募股权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84200" lvl="1" indent="-257175" defTabSz="685800">
              <a:lnSpc>
                <a:spcPts val="21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发表期刊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Journal of Finance, Journal of Financial Economics, Review of Financial Studies, Journal of Political Economy, Quarterly Journal of Economics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</a:p>
          <a:p>
            <a:pPr marL="257175" indent="-257175" defTabSz="685800">
              <a:lnSpc>
                <a:spcPts val="21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社会影响力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84200" lvl="1" indent="-257175" defTabSz="685800">
              <a:lnSpc>
                <a:spcPts val="21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被媒体广泛报道：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Bloomberg, BusinessWeek, Time, Reuters, the Wall Street Journal and The New York Times, ABC News, NBC Nightly News, CNN, MSNBC and CNBC</a:t>
            </a:r>
          </a:p>
          <a:p>
            <a:pPr marL="584200" lvl="1" indent="-257175" defTabSz="685800">
              <a:lnSpc>
                <a:spcPts val="21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为金融欺诈、反垄断、投资损失等诉讼提供专业咨询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indent="-257175" defTabSz="685800">
              <a:lnSpc>
                <a:spcPts val="2100"/>
              </a:lnSpc>
              <a:defRPr/>
            </a:pPr>
            <a:endParaRPr 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2" descr="Brad Barber profile shot"/>
          <p:cNvPicPr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03"/>
          <a:stretch>
            <a:fillRect/>
          </a:stretch>
        </p:blipFill>
        <p:spPr bwMode="auto">
          <a:xfrm>
            <a:off x="533400" y="1600200"/>
            <a:ext cx="2338200" cy="23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01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3399"/>
                </a:solidFill>
              </a:rPr>
              <a:t>Xing Huang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81400" y="1600200"/>
            <a:ext cx="5105400" cy="4530725"/>
          </a:xfrm>
        </p:spPr>
        <p:txBody>
          <a:bodyPr/>
          <a:lstStyle/>
          <a:p>
            <a:r>
              <a:rPr lang="en-US" altLang="zh-CN" sz="2000" dirty="0"/>
              <a:t>2013</a:t>
            </a:r>
            <a:r>
              <a:rPr lang="zh-CN" altLang="en-US" sz="2000" dirty="0"/>
              <a:t>年毕业于加利福利亚大学伯克利分校</a:t>
            </a:r>
            <a:endParaRPr lang="en-US" altLang="zh-CN" sz="2000" dirty="0"/>
          </a:p>
          <a:p>
            <a:r>
              <a:rPr lang="zh-CN" altLang="en-US" sz="2000" dirty="0"/>
              <a:t>华盛顿大学奥林商学院助理教授</a:t>
            </a:r>
          </a:p>
          <a:p>
            <a:r>
              <a:rPr lang="zh-CN" altLang="en-US" sz="2000" dirty="0"/>
              <a:t>研究重点是行为金融、资产定价和家庭金融</a:t>
            </a:r>
            <a:endParaRPr lang="en-US" altLang="zh-CN" sz="2000" dirty="0"/>
          </a:p>
          <a:p>
            <a:r>
              <a:rPr lang="zh-CN" altLang="en-US" sz="2000" dirty="0"/>
              <a:t>在</a:t>
            </a:r>
            <a:r>
              <a:rPr lang="en-US" altLang="zh-CN" sz="2000" dirty="0"/>
              <a:t>Journal of Finance, Journal of Financial Economics, Review of Financial Studies</a:t>
            </a:r>
            <a:r>
              <a:rPr lang="zh-CN" altLang="en-US" sz="2000" dirty="0"/>
              <a:t>等发表多篇论文</a:t>
            </a:r>
            <a:endParaRPr lang="en-US" altLang="zh-CN" sz="20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66" y="1628614"/>
            <a:ext cx="2661834" cy="266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132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3399"/>
                </a:solidFill>
              </a:rPr>
              <a:t>Terrance </a:t>
            </a:r>
            <a:r>
              <a:rPr lang="en-US" sz="4000" b="1" dirty="0" err="1">
                <a:solidFill>
                  <a:srgbClr val="003399"/>
                </a:solidFill>
              </a:rPr>
              <a:t>Odean</a:t>
            </a:r>
            <a:br>
              <a:rPr lang="en-US" sz="4000" b="1" dirty="0">
                <a:solidFill>
                  <a:srgbClr val="003399"/>
                </a:solidFill>
              </a:rPr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4724400" cy="4530725"/>
          </a:xfrm>
        </p:spPr>
        <p:txBody>
          <a:bodyPr/>
          <a:lstStyle/>
          <a:p>
            <a:r>
              <a:rPr lang="en-US" altLang="zh-CN" sz="2000" dirty="0"/>
              <a:t>1997</a:t>
            </a:r>
            <a:r>
              <a:rPr lang="zh-CN" altLang="en-US" sz="2000" dirty="0"/>
              <a:t>年加州大学伯克利分校哈斯商学院博士</a:t>
            </a:r>
            <a:endParaRPr lang="en-US" altLang="zh-CN" sz="2000" dirty="0"/>
          </a:p>
          <a:p>
            <a:r>
              <a:rPr lang="zh-CN" altLang="en-US" sz="2000" dirty="0"/>
              <a:t>加州大学伯克利分校哈斯商学院讲席教授</a:t>
            </a:r>
          </a:p>
          <a:p>
            <a:r>
              <a:rPr lang="zh-CN" altLang="en-US" sz="2000" dirty="0"/>
              <a:t>研究领域：个人投资者对资产价格的影响、投资者行为、行为金融、投资者福利</a:t>
            </a:r>
          </a:p>
          <a:p>
            <a:r>
              <a:rPr lang="en-US" sz="2000" dirty="0"/>
              <a:t>The Review of Financial Studies </a:t>
            </a:r>
            <a:r>
              <a:rPr lang="zh-CN" altLang="en-US" sz="2000" dirty="0"/>
              <a:t>的主编</a:t>
            </a:r>
            <a:r>
              <a:rPr lang="en-US" altLang="zh-CN" sz="2000" dirty="0"/>
              <a:t>(2005-2006), </a:t>
            </a:r>
            <a:r>
              <a:rPr lang="en-US" sz="2000" dirty="0"/>
              <a:t>Journal of Finance</a:t>
            </a:r>
            <a:r>
              <a:rPr lang="zh-CN" altLang="en-US" sz="2000" dirty="0"/>
              <a:t>的副主编</a:t>
            </a:r>
            <a:r>
              <a:rPr lang="en-US" altLang="zh-CN" sz="2000" dirty="0"/>
              <a:t>(2006-2012)</a:t>
            </a:r>
            <a:endParaRPr lang="en-US" sz="2000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74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3399"/>
                </a:solidFill>
              </a:rPr>
              <a:t>Christopher Schwarz</a:t>
            </a:r>
            <a:br>
              <a:rPr lang="en-US" sz="4000" b="1" dirty="0">
                <a:solidFill>
                  <a:srgbClr val="003399"/>
                </a:solidFill>
              </a:rPr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733800" y="1600200"/>
            <a:ext cx="4953000" cy="4530725"/>
          </a:xfrm>
        </p:spPr>
        <p:txBody>
          <a:bodyPr/>
          <a:lstStyle/>
          <a:p>
            <a:r>
              <a:rPr lang="en-US" altLang="zh-CN" sz="2000" dirty="0"/>
              <a:t>2008</a:t>
            </a:r>
            <a:r>
              <a:rPr lang="zh-CN" altLang="en-US" sz="2000" dirty="0"/>
              <a:t>年马萨诸塞大学阿默斯特分校博士</a:t>
            </a:r>
            <a:endParaRPr lang="en-US" altLang="zh-CN" sz="2000" dirty="0"/>
          </a:p>
          <a:p>
            <a:r>
              <a:rPr lang="zh-CN" altLang="en-US" sz="2000" dirty="0"/>
              <a:t>加利福尼亚大学欧文分校</a:t>
            </a:r>
            <a:r>
              <a:rPr lang="en-US" altLang="zh-CN" sz="2000" dirty="0"/>
              <a:t>Paul </a:t>
            </a:r>
            <a:r>
              <a:rPr lang="en-US" altLang="zh-CN" sz="2000" dirty="0" err="1"/>
              <a:t>Merage</a:t>
            </a:r>
            <a:r>
              <a:rPr lang="zh-CN" altLang="en-US" sz="2000" dirty="0"/>
              <a:t>商学院金融学教授</a:t>
            </a:r>
          </a:p>
          <a:p>
            <a:r>
              <a:rPr lang="zh-CN" altLang="en-US" sz="2000" dirty="0"/>
              <a:t>研究领域：投资基金行业的管理、披露和运营风险，以及激励结构对投资基金业绩的影响</a:t>
            </a:r>
          </a:p>
          <a:p>
            <a:r>
              <a:rPr lang="zh-CN" altLang="en-US" sz="2000" dirty="0"/>
              <a:t>在</a:t>
            </a:r>
            <a:r>
              <a:rPr lang="en-US" altLang="zh-CN" sz="2000" dirty="0"/>
              <a:t>Journal of Finance, Journal of Financial Economics, Review of Financial Studies</a:t>
            </a:r>
            <a:r>
              <a:rPr lang="zh-CN" altLang="en-US" sz="2000" dirty="0"/>
              <a:t>等发表多篇论文</a:t>
            </a:r>
            <a:endParaRPr lang="en-US" altLang="zh-CN" sz="2000" dirty="0"/>
          </a:p>
          <a:p>
            <a:endParaRPr lang="en-US" sz="2000" dirty="0"/>
          </a:p>
        </p:txBody>
      </p:sp>
      <p:pic>
        <p:nvPicPr>
          <p:cNvPr id="5" name="Picture 10" descr="Christopher Schwar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1" y="1575848"/>
            <a:ext cx="3014984" cy="318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16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出版细节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Journal of Finance</a:t>
            </a:r>
            <a:r>
              <a:rPr lang="zh-CN" altLang="en-US" dirty="0">
                <a:solidFill>
                  <a:srgbClr val="000000"/>
                </a:solidFill>
              </a:rPr>
              <a:t>，接收待刊</a:t>
            </a:r>
            <a:endParaRPr lang="en-US" altLang="zh-CN" dirty="0">
              <a:solidFill>
                <a:srgbClr val="000000"/>
              </a:solidFill>
            </a:endParaRPr>
          </a:p>
          <a:p>
            <a:pPr lvl="0">
              <a:lnSpc>
                <a:spcPts val="28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Google Scholar </a:t>
            </a:r>
            <a:r>
              <a:rPr lang="zh-CN" altLang="en-US" dirty="0">
                <a:solidFill>
                  <a:srgbClr val="000000"/>
                </a:solidFill>
              </a:rPr>
              <a:t>引用：</a:t>
            </a:r>
            <a:r>
              <a:rPr lang="en-US" altLang="zh-CN" dirty="0">
                <a:solidFill>
                  <a:srgbClr val="000000"/>
                </a:solidFill>
              </a:rPr>
              <a:t>95</a:t>
            </a:r>
          </a:p>
          <a:p>
            <a:endParaRPr lang="en-US" dirty="0"/>
          </a:p>
        </p:txBody>
      </p:sp>
      <p:pic>
        <p:nvPicPr>
          <p:cNvPr id="4" name="图片 3" descr="截屏2022-07-27 09.52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6781800" cy="371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2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为什么罗宾汉这么受欢迎？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8" y="1676400"/>
            <a:ext cx="802156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08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为什么罗宾汉这么受欢迎？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>
            <a:off x="457200" y="1536662"/>
            <a:ext cx="5474184" cy="4524631"/>
            <a:chOff x="457200" y="1536662"/>
            <a:chExt cx="5474184" cy="452463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/>
            <a:srcRect l="5981" r="10031"/>
            <a:stretch>
              <a:fillRect/>
            </a:stretch>
          </p:blipFill>
          <p:spPr>
            <a:xfrm>
              <a:off x="471182" y="1536662"/>
              <a:ext cx="4807541" cy="24257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000537"/>
              <a:ext cx="2718770" cy="14892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4931" y="4572000"/>
              <a:ext cx="2696453" cy="14892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文本框 7"/>
          <p:cNvSpPr txBox="1"/>
          <p:nvPr/>
        </p:nvSpPr>
        <p:spPr>
          <a:xfrm>
            <a:off x="5791200" y="1600200"/>
            <a:ext cx="3200400" cy="4157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它吸引了1300万用户（2020年）</a:t>
            </a:r>
          </a:p>
          <a:p>
            <a:pPr marL="342900" lvl="0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瞄准年轻和缺乏经验的投资者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免佣金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游戏化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简单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零星股份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200" kern="0" dirty="0" err="1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无账户最低限额</a:t>
            </a:r>
            <a:endParaRPr lang="en-US" altLang="zh-CN" sz="2200" kern="0" dirty="0">
              <a:solidFill>
                <a:srgbClr val="000000"/>
              </a:solidFill>
              <a:latin typeface="Palatino Linotype" panose="02040502050505030304" pitchFamily="18" charset="0"/>
              <a:ea typeface="等线" panose="02010600030101010101" pitchFamily="2" charset="-122"/>
            </a:endParaRPr>
          </a:p>
          <a:p>
            <a:pPr marL="800100" lvl="1" indent="-342900" algn="l" eaLnBrk="0" hangingPunct="0">
              <a:lnSpc>
                <a:spcPts val="28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Palatino Linotype" panose="02040502050505030304" pitchFamily="18" charset="0"/>
                <a:ea typeface="等线" panose="02010600030101010101" pitchFamily="2" charset="-122"/>
              </a:rPr>
              <a:t>杠杆</a:t>
            </a:r>
          </a:p>
        </p:txBody>
      </p:sp>
    </p:spTree>
    <p:extLst>
      <p:ext uri="{BB962C8B-B14F-4D97-AF65-F5344CB8AC3E}">
        <p14:creationId xmlns:p14="http://schemas.microsoft.com/office/powerpoint/2010/main" val="228429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研究问题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200" dirty="0"/>
              <a:t>问题：</a:t>
            </a:r>
            <a:r>
              <a:rPr lang="en-US" altLang="zh-CN" sz="2200" dirty="0" err="1"/>
              <a:t>Robinhood</a:t>
            </a:r>
            <a:r>
              <a:rPr lang="zh-CN" altLang="en-US" sz="2200" dirty="0"/>
              <a:t>金融科技创新如何影响个人投资者的交易行为和股票价格</a:t>
            </a:r>
            <a:endParaRPr lang="en-US" altLang="zh-CN" sz="2200" dirty="0"/>
          </a:p>
          <a:p>
            <a:pPr lvl="1"/>
            <a:r>
              <a:rPr lang="zh-CN" altLang="en-US" sz="2200" dirty="0"/>
              <a:t>交易成本下降和交易界面简化极大降低了投资股票的门槛</a:t>
            </a:r>
            <a:endParaRPr lang="en-US" altLang="zh-CN" sz="2200" dirty="0"/>
          </a:p>
          <a:p>
            <a:pPr lvl="1"/>
            <a:r>
              <a:rPr lang="zh-CN" altLang="en-US" sz="2200" dirty="0"/>
              <a:t>游戏化的股票投资和过度简化，注意力被吸引，跟风，进而损害投资者收益</a:t>
            </a:r>
            <a:endParaRPr lang="en-US" altLang="zh-CN" sz="2200" dirty="0"/>
          </a:p>
          <a:p>
            <a:r>
              <a:rPr lang="en-US" altLang="zh-CN" sz="2200" dirty="0" err="1"/>
              <a:t>Robinhood</a:t>
            </a:r>
            <a:r>
              <a:rPr lang="zh-CN" altLang="en-US" sz="2200" dirty="0"/>
              <a:t>投资者积极参与关注度高的股票交易</a:t>
            </a:r>
            <a:endParaRPr lang="en-US" altLang="zh-CN" sz="2200" dirty="0"/>
          </a:p>
          <a:p>
            <a:pPr lvl="1"/>
            <a:r>
              <a:rPr lang="en-US" altLang="zh-CN" sz="2200" dirty="0" err="1"/>
              <a:t>Robinhood</a:t>
            </a:r>
            <a:r>
              <a:rPr lang="zh-CN" altLang="en-US" sz="2200" dirty="0"/>
              <a:t>投资者 </a:t>
            </a:r>
            <a:r>
              <a:rPr lang="en-US" altLang="zh-CN" sz="2200" dirty="0"/>
              <a:t>vs </a:t>
            </a:r>
            <a:r>
              <a:rPr lang="zh-CN" altLang="en-US" sz="2200" dirty="0"/>
              <a:t>其他个人投资者</a:t>
            </a:r>
            <a:endParaRPr lang="en-US" altLang="zh-CN" sz="2200" dirty="0"/>
          </a:p>
          <a:p>
            <a:pPr lvl="1"/>
            <a:r>
              <a:rPr lang="zh-CN" altLang="en-US" sz="2200" dirty="0"/>
              <a:t>关注度高的股票在</a:t>
            </a:r>
            <a:r>
              <a:rPr lang="en-US" altLang="zh-CN" sz="2200" dirty="0" err="1"/>
              <a:t>Robinhood</a:t>
            </a:r>
            <a:r>
              <a:rPr lang="zh-CN" altLang="en-US" sz="2200" dirty="0"/>
              <a:t>软件的断开期交易量下降</a:t>
            </a:r>
            <a:endParaRPr lang="en-US" altLang="zh-CN" sz="2200" dirty="0"/>
          </a:p>
          <a:p>
            <a:pPr lvl="1"/>
            <a:r>
              <a:rPr lang="en-US" altLang="zh-CN" sz="2200" dirty="0" err="1"/>
              <a:t>Robinhood</a:t>
            </a:r>
            <a:r>
              <a:rPr lang="zh-CN" altLang="en-US" sz="2200" dirty="0"/>
              <a:t>软件的部分设计诱导了关注度交易</a:t>
            </a:r>
            <a:endParaRPr lang="en-US" altLang="zh-CN" sz="2200" dirty="0"/>
          </a:p>
          <a:p>
            <a:r>
              <a:rPr lang="en-US" altLang="zh-CN" sz="2200" dirty="0" err="1"/>
              <a:t>Robinhood</a:t>
            </a:r>
            <a:r>
              <a:rPr lang="zh-CN" altLang="en-US" sz="2200" dirty="0"/>
              <a:t>投资者的集中买入伴随着未来负回报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208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流程图</a:t>
            </a:r>
            <a:endParaRPr 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761792"/>
              </p:ext>
            </p:extLst>
          </p:nvPr>
        </p:nvGraphicFramePr>
        <p:xfrm>
          <a:off x="457200" y="1600200"/>
          <a:ext cx="8229600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884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数据和方法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30725"/>
          </a:xfrm>
        </p:spPr>
        <p:txBody>
          <a:bodyPr/>
          <a:lstStyle/>
          <a:p>
            <a:r>
              <a:rPr lang="en-US" altLang="zh-CN" dirty="0" err="1"/>
              <a:t>Robintrack</a:t>
            </a:r>
            <a:r>
              <a:rPr lang="zh-CN" altLang="en-US" dirty="0"/>
              <a:t>数据</a:t>
            </a:r>
          </a:p>
          <a:p>
            <a:pPr lvl="1"/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</a:t>
            </a:r>
            <a:r>
              <a:rPr lang="zh-CN" altLang="en-US" dirty="0"/>
              <a:t>日</a:t>
            </a:r>
            <a:r>
              <a:rPr lang="en-US" altLang="zh-CN" dirty="0"/>
              <a:t>-2020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日期间，每只股票每小时罗宾汉用户数量的横截面数据</a:t>
            </a:r>
            <a:endParaRPr lang="en-US" altLang="zh-CN" dirty="0"/>
          </a:p>
          <a:p>
            <a:pPr lvl="1"/>
            <a:r>
              <a:rPr lang="zh-CN" altLang="en-US" dirty="0"/>
              <a:t>每只股票的用户数量变化</a:t>
            </a:r>
          </a:p>
          <a:p>
            <a:endParaRPr lang="en-US" altLang="zh-CN" dirty="0"/>
          </a:p>
          <a:p>
            <a:r>
              <a:rPr lang="en-US" altLang="zh-CN" dirty="0" err="1"/>
              <a:t>Boehmer</a:t>
            </a:r>
            <a:r>
              <a:rPr lang="zh-CN" altLang="en-US" dirty="0"/>
              <a:t> </a:t>
            </a:r>
            <a:r>
              <a:rPr lang="en-US" altLang="zh-CN" dirty="0"/>
              <a:t>et al.(2021)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普通个人投资者的买入交易和卖出交易</a:t>
            </a:r>
            <a:endParaRPr lang="en-US" altLang="zh-CN" dirty="0"/>
          </a:p>
          <a:p>
            <a:pPr lvl="1"/>
            <a:r>
              <a:rPr lang="zh-CN" altLang="en-US" dirty="0"/>
              <a:t>每只股票的个人投资者的买入</a:t>
            </a:r>
            <a:r>
              <a:rPr lang="en-US" altLang="zh-CN" dirty="0"/>
              <a:t>-</a:t>
            </a:r>
            <a:r>
              <a:rPr lang="zh-CN" altLang="en-US" dirty="0"/>
              <a:t>卖出量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886200"/>
            <a:ext cx="3048000" cy="2136026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419600" y="1453801"/>
            <a:ext cx="4724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1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数据和方法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00"/>
                </a:solidFill>
              </a:rPr>
              <a:t>Robintrack</a:t>
            </a:r>
            <a:r>
              <a:rPr lang="zh-CN" altLang="en-US" dirty="0">
                <a:solidFill>
                  <a:srgbClr val="000000"/>
                </a:solidFill>
              </a:rPr>
              <a:t>数据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i="1" dirty="0" err="1">
                <a:solidFill>
                  <a:srgbClr val="000000"/>
                </a:solidFill>
              </a:rPr>
              <a:t>users_close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：每日交易结束前（东部时间下午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点）最后观察到的这只股票用户总数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i="1" dirty="0" err="1">
                <a:solidFill>
                  <a:srgbClr val="000000"/>
                </a:solidFill>
              </a:rPr>
              <a:t>userchg</a:t>
            </a:r>
            <a:r>
              <a:rPr lang="en-US" altLang="zh-CN" i="1" dirty="0">
                <a:solidFill>
                  <a:srgbClr val="000000"/>
                </a:solidFill>
              </a:rPr>
              <a:t>/</a:t>
            </a:r>
            <a:r>
              <a:rPr lang="en-US" altLang="zh-CN" i="1" dirty="0" err="1">
                <a:solidFill>
                  <a:srgbClr val="000000"/>
                </a:solidFill>
              </a:rPr>
              <a:t>userratio</a:t>
            </a:r>
            <a:r>
              <a:rPr lang="zh-CN" altLang="en-US" dirty="0">
                <a:solidFill>
                  <a:srgbClr val="000000"/>
                </a:solidFill>
              </a:rPr>
              <a:t>：每只股票每日用户数目的变化和比例</a:t>
            </a:r>
          </a:p>
          <a:p>
            <a:endParaRPr lang="zh-CN" alt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38200" y="3865562"/>
            <a:ext cx="7325569" cy="1672160"/>
            <a:chOff x="775525" y="1654193"/>
            <a:chExt cx="9767425" cy="2229547"/>
          </a:xfrm>
        </p:grpSpPr>
        <p:grpSp>
          <p:nvGrpSpPr>
            <p:cNvPr id="5" name="组合 4"/>
            <p:cNvGrpSpPr/>
            <p:nvPr/>
          </p:nvGrpSpPr>
          <p:grpSpPr>
            <a:xfrm>
              <a:off x="775525" y="1654193"/>
              <a:ext cx="9767425" cy="2028515"/>
              <a:chOff x="562479" y="1566941"/>
              <a:chExt cx="9767425" cy="2028515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 rotWithShape="1">
              <a:blip r:embed="rId2"/>
              <a:srcRect b="71363"/>
              <a:stretch>
                <a:fillRect/>
              </a:stretch>
            </p:blipFill>
            <p:spPr>
              <a:xfrm>
                <a:off x="562479" y="1566941"/>
                <a:ext cx="9767425" cy="2028515"/>
              </a:xfrm>
              <a:prstGeom prst="rect">
                <a:avLst/>
              </a:prstGeom>
            </p:spPr>
          </p:pic>
          <p:sp>
            <p:nvSpPr>
              <p:cNvPr id="8" name="矩形: 圆角 9"/>
              <p:cNvSpPr/>
              <p:nvPr/>
            </p:nvSpPr>
            <p:spPr>
              <a:xfrm>
                <a:off x="3289196" y="2450047"/>
                <a:ext cx="937705" cy="618345"/>
              </a:xfrm>
              <a:prstGeom prst="roundRect">
                <a:avLst/>
              </a:prstGeom>
              <a:solidFill>
                <a:srgbClr val="C00000">
                  <a:alpha val="1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: 圆角 10"/>
              <p:cNvSpPr/>
              <p:nvPr/>
            </p:nvSpPr>
            <p:spPr>
              <a:xfrm>
                <a:off x="7202394" y="2450047"/>
                <a:ext cx="937705" cy="618345"/>
              </a:xfrm>
              <a:prstGeom prst="roundRect">
                <a:avLst/>
              </a:prstGeom>
              <a:solidFill>
                <a:srgbClr val="C00000">
                  <a:alpha val="1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: 圆角 11"/>
              <p:cNvSpPr/>
              <p:nvPr/>
            </p:nvSpPr>
            <p:spPr>
              <a:xfrm>
                <a:off x="6484765" y="3101196"/>
                <a:ext cx="2453254" cy="494260"/>
              </a:xfrm>
              <a:prstGeom prst="roundRect">
                <a:avLst/>
              </a:prstGeom>
              <a:solidFill>
                <a:srgbClr val="C00000">
                  <a:alpha val="1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159" y="3715512"/>
              <a:ext cx="9562467" cy="1682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657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374515"/>
            <a:ext cx="4886639" cy="1733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数据和方法</a:t>
            </a:r>
            <a:br>
              <a:rPr lang="zh-CN" alt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羊群事件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吸引注意力的事件</a:t>
                </a:r>
                <a:endParaRPr lang="en-US" altLang="zh-CN" dirty="0"/>
              </a:p>
              <a:p>
                <a:pPr lvl="1"/>
                <a:r>
                  <a:rPr lang="en-US" altLang="zh-CN" dirty="0" err="1"/>
                  <a:t>Robinhood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羊群事件（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h𝑒𝑟𝑑</m:t>
                    </m:r>
                  </m:oMath>
                </a14:m>
                <a:r>
                  <a:rPr lang="zh-CN" altLang="en-US" dirty="0"/>
                  <a:t>）：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选定排序集：第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日该股票的用户数目增长</a:t>
                </a:r>
                <a:r>
                  <a:rPr lang="en-US" altLang="zh-CN" dirty="0" err="1"/>
                  <a:t>userratio</a:t>
                </a:r>
                <a:r>
                  <a:rPr lang="en-US" altLang="zh-CN" dirty="0"/>
                  <a:t>&gt;1</a:t>
                </a:r>
                <a:r>
                  <a:rPr lang="zh-CN" altLang="en-US" dirty="0"/>
                  <a:t>，且</a:t>
                </a:r>
                <a:r>
                  <a:rPr lang="en-US" altLang="zh-CN" dirty="0"/>
                  <a:t>t-1</a:t>
                </a:r>
                <a:r>
                  <a:rPr lang="zh-CN" altLang="en-US" dirty="0"/>
                  <a:t>日至少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个用户持有该股票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users</m:t>
                    </m:r>
                    <m:r>
                      <m:rPr>
                        <m:nor/>
                      </m:rPr>
                      <a:rPr lang="en-US" altLang="zh-CN" dirty="0"/>
                      <m:t>_</m:t>
                    </m:r>
                    <m:r>
                      <m:rPr>
                        <m:nor/>
                      </m:rPr>
                      <a:rPr lang="en-US" altLang="zh-CN" dirty="0"/>
                      <m:t>close</m:t>
                    </m:r>
                    <m:r>
                      <m:rPr>
                        <m:nor/>
                      </m:rPr>
                      <a:rPr lang="en-US" altLang="zh-CN" dirty="0"/>
                      <m:t>(</m:t>
                    </m:r>
                    <m:r>
                      <m:rPr>
                        <m:nor/>
                      </m:rPr>
                      <a:rPr lang="en-US" altLang="zh-CN" dirty="0"/>
                      <m:t>t</m:t>
                    </m:r>
                    <m:r>
                      <m:rPr>
                        <m:nor/>
                      </m:rPr>
                      <a:rPr lang="en-US" altLang="zh-CN" dirty="0"/>
                      <m:t>−1)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altLang="zh-CN" dirty="0"/>
                      <m:t>100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对排序集合排序：第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日用户变化率</a:t>
                </a:r>
                <a:r>
                  <a:rPr lang="en-US" altLang="zh-CN" dirty="0" err="1"/>
                  <a:t>userratio</a:t>
                </a:r>
                <a:r>
                  <a:rPr lang="zh-CN" altLang="en-US" dirty="0"/>
                  <a:t>在排序集股票中是前</a:t>
                </a:r>
                <a:r>
                  <a:rPr lang="en-US" altLang="zh-CN" dirty="0"/>
                  <a:t>0.5%</a:t>
                </a:r>
              </a:p>
              <a:p>
                <a:pPr lvl="1"/>
                <a:r>
                  <a:rPr lang="zh-CN" altLang="en-US" dirty="0"/>
                  <a:t>识别出</a:t>
                </a:r>
                <a:r>
                  <a:rPr lang="en-US" altLang="zh-CN" dirty="0"/>
                  <a:t>4884</a:t>
                </a:r>
                <a:r>
                  <a:rPr lang="zh-CN" altLang="en-US" dirty="0"/>
                  <a:t>起羊群事件</a:t>
                </a:r>
                <a:endParaRPr lang="en-US" altLang="zh-CN" dirty="0"/>
              </a:p>
              <a:p>
                <a:pPr lvl="1"/>
                <a:endParaRPr lang="zh-CN" alt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11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对话气泡: 圆角矩形 34"/>
          <p:cNvSpPr/>
          <p:nvPr/>
        </p:nvSpPr>
        <p:spPr>
          <a:xfrm>
            <a:off x="1066800" y="4562907"/>
            <a:ext cx="1986357" cy="1258556"/>
          </a:xfrm>
          <a:prstGeom prst="wedgeRoundRectCallout">
            <a:avLst>
              <a:gd name="adj1" fmla="val 97911"/>
              <a:gd name="adj2" fmla="val 9839"/>
              <a:gd name="adj3" fmla="val 16667"/>
            </a:avLst>
          </a:prstGeom>
          <a:solidFill>
            <a:srgbClr val="FFF2CC">
              <a:alpha val="60000"/>
            </a:srgb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  <a:latin typeface="Palatino Linotype" panose="02040502050505030304" pitchFamily="18" charset="0"/>
              </a:rPr>
              <a:t>用户约2500人，增加用户1100人；回报率平均为14%，</a:t>
            </a:r>
            <a:r>
              <a:rPr lang="en-US" altLang="zh-CN" sz="14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大部分发生在开盘交易时</a:t>
            </a:r>
            <a:r>
              <a:rPr lang="en-US" altLang="zh-CN" sz="1400" dirty="0">
                <a:solidFill>
                  <a:schemeClr val="tx1"/>
                </a:solidFill>
                <a:latin typeface="Palatino Linotype" panose="02040502050505030304" pitchFamily="18" charset="0"/>
              </a:rPr>
              <a:t>；</a:t>
            </a:r>
            <a:r>
              <a:rPr lang="zh-CN" altLang="en-US" sz="1400" dirty="0">
                <a:solidFill>
                  <a:schemeClr val="tx1"/>
                </a:solidFill>
                <a:latin typeface="Palatino Linotype" panose="02040502050505030304" pitchFamily="18" charset="0"/>
              </a:rPr>
              <a:t>日内的</a:t>
            </a:r>
            <a:r>
              <a:rPr lang="en-US" altLang="zh-CN" sz="14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负回报率高</a:t>
            </a:r>
            <a:endParaRPr lang="en-US" altLang="zh-CN" sz="14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248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假说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与其他普通个人投资者相比，罗宾汉用户更有可能参与注意力诱导的交易</a:t>
            </a:r>
          </a:p>
          <a:p>
            <a:r>
              <a:rPr lang="zh-CN" altLang="en-US" dirty="0"/>
              <a:t>注意力诱导造成的密集买入期之后，将出现负回报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12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A. </a:t>
            </a:r>
            <a:r>
              <a:rPr lang="zh-CN" altLang="en-US" dirty="0"/>
              <a:t>买卖集中度</a:t>
            </a:r>
            <a:endParaRPr lang="en-US" altLang="zh-CN" dirty="0"/>
          </a:p>
          <a:p>
            <a:pPr lvl="1"/>
            <a:r>
              <a:rPr lang="zh-CN" altLang="en-US" dirty="0"/>
              <a:t>买入的集中度高于卖出的集中度</a:t>
            </a:r>
          </a:p>
          <a:p>
            <a:pPr lvl="1"/>
            <a:r>
              <a:rPr lang="zh-CN" altLang="en-US" dirty="0"/>
              <a:t>罗宾汉用户的买卖集中度高于普通散户</a:t>
            </a:r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74" y="2743200"/>
            <a:ext cx="7285626" cy="330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6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B. </a:t>
            </a:r>
            <a:r>
              <a:rPr lang="zh-CN" altLang="en-US" dirty="0"/>
              <a:t>注意力指标和</a:t>
            </a:r>
            <a:r>
              <a:rPr lang="en-US" altLang="zh-CN" dirty="0" err="1"/>
              <a:t>Robinhood</a:t>
            </a:r>
            <a:r>
              <a:rPr lang="zh-CN" altLang="en-US" dirty="0"/>
              <a:t>羊群事件</a:t>
            </a:r>
            <a:endParaRPr lang="en-US" altLang="zh-CN" dirty="0"/>
          </a:p>
          <a:p>
            <a:pPr lvl="1"/>
            <a:r>
              <a:rPr lang="zh-CN" altLang="en-US" dirty="0"/>
              <a:t>注意力指标能正向预测羊群事件的发生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750981"/>
            <a:ext cx="4554690" cy="34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9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C. </a:t>
            </a:r>
            <a:r>
              <a:rPr lang="en-US" altLang="zh-CN" dirty="0" err="1"/>
              <a:t>Ronbinhood</a:t>
            </a:r>
            <a:r>
              <a:rPr lang="zh-CN" altLang="en-US" dirty="0"/>
              <a:t>断网对散户交易的影响</a:t>
            </a:r>
            <a:endParaRPr lang="en-US" altLang="zh-CN" dirty="0"/>
          </a:p>
          <a:p>
            <a:pPr lvl="1"/>
            <a:r>
              <a:rPr lang="en-US" altLang="zh-CN" dirty="0" err="1"/>
              <a:t>Robinhood</a:t>
            </a:r>
            <a:r>
              <a:rPr lang="zh-CN" altLang="en-US" dirty="0"/>
              <a:t>断网造成</a:t>
            </a:r>
            <a:r>
              <a:rPr lang="en-US" altLang="zh-CN" dirty="0" err="1"/>
              <a:t>Robinhood</a:t>
            </a:r>
            <a:r>
              <a:rPr lang="zh-CN" altLang="en-US" dirty="0"/>
              <a:t>用户无法参与交易</a:t>
            </a:r>
            <a:endParaRPr lang="en-US" altLang="zh-CN" dirty="0"/>
          </a:p>
          <a:p>
            <a:pPr lvl="1"/>
            <a:r>
              <a:rPr lang="en-US" altLang="zh-CN" dirty="0" err="1"/>
              <a:t>Robinhood</a:t>
            </a:r>
            <a:r>
              <a:rPr lang="zh-CN" altLang="en-US" dirty="0"/>
              <a:t>断网造成的交易量下降在高注意力的股票上更强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4200"/>
            <a:ext cx="3429000" cy="2741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505200"/>
            <a:ext cx="5029200" cy="1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7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D. </a:t>
            </a:r>
            <a:r>
              <a:rPr lang="zh-CN" altLang="en-US" dirty="0"/>
              <a:t>罗宾汉用户界面和股票选择</a:t>
            </a:r>
            <a:endParaRPr lang="en-US" altLang="zh-CN" dirty="0"/>
          </a:p>
          <a:p>
            <a:r>
              <a:rPr lang="zh-CN" altLang="en-US" dirty="0"/>
              <a:t>股票排行榜：每天实时展示前</a:t>
            </a:r>
            <a:r>
              <a:rPr lang="en-US" dirty="0"/>
              <a:t>20</a:t>
            </a:r>
            <a:r>
              <a:rPr lang="zh-CN" altLang="en-US" dirty="0"/>
              <a:t>只收益绝对值最大的那些股票</a:t>
            </a:r>
          </a:p>
          <a:p>
            <a:pPr lvl="1"/>
            <a:r>
              <a:rPr lang="zh-CN" altLang="en-US" dirty="0"/>
              <a:t>排序是基于绝对值的收益率，包含了最大赢家和最大输家，而其他财经媒体会将最大赢家和最大输家分开</a:t>
            </a:r>
            <a:endParaRPr lang="en-US" altLang="zh-CN" dirty="0"/>
          </a:p>
          <a:p>
            <a:pPr lvl="1"/>
            <a:r>
              <a:rPr lang="zh-CN" altLang="en-US" dirty="0"/>
              <a:t>只有市值超过</a:t>
            </a:r>
            <a:r>
              <a:rPr lang="en-US" dirty="0"/>
              <a:t>3</a:t>
            </a:r>
            <a:r>
              <a:rPr lang="zh-CN" altLang="en-US" dirty="0"/>
              <a:t>亿美元（</a:t>
            </a:r>
            <a:r>
              <a:rPr lang="en-US" dirty="0"/>
              <a:t>300 million</a:t>
            </a:r>
            <a:r>
              <a:rPr lang="zh-CN" altLang="en-US" dirty="0"/>
              <a:t>）的股票才有资格进入排行榜</a:t>
            </a:r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38510"/>
            <a:ext cx="6477000" cy="25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03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D. 1</a:t>
            </a:r>
            <a:r>
              <a:rPr lang="zh-CN" altLang="en-US" dirty="0"/>
              <a:t>股票排行榜的绝对值排序</a:t>
            </a:r>
            <a:endParaRPr lang="en-US" altLang="zh-CN" dirty="0"/>
          </a:p>
          <a:p>
            <a:pPr lvl="1"/>
            <a:r>
              <a:rPr lang="en-US" altLang="zh-CN" dirty="0" err="1"/>
              <a:t>罗宾汉投资者对最大赢家和输家的反应</a:t>
            </a:r>
            <a:r>
              <a:rPr lang="zh-CN" altLang="en-US" dirty="0"/>
              <a:t>相似</a:t>
            </a:r>
            <a:endParaRPr lang="en-US" altLang="zh-CN" dirty="0"/>
          </a:p>
          <a:p>
            <a:pPr lvl="1"/>
            <a:r>
              <a:rPr lang="en-US" altLang="zh-CN" dirty="0" err="1"/>
              <a:t>其他散户投资者对最大赢家的买入要比最大输家积极得多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52254"/>
          <a:stretch/>
        </p:blipFill>
        <p:spPr>
          <a:xfrm>
            <a:off x="914400" y="2971800"/>
            <a:ext cx="7161254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6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注意力和股票选择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D. 2</a:t>
            </a:r>
            <a:r>
              <a:rPr lang="zh-CN" altLang="en-US" dirty="0"/>
              <a:t>股票排行榜的</a:t>
            </a:r>
            <a:r>
              <a:rPr lang="en-US" altLang="zh-CN" dirty="0"/>
              <a:t>3</a:t>
            </a:r>
            <a:r>
              <a:rPr lang="zh-CN" altLang="en-US" dirty="0"/>
              <a:t>亿美元市值上榜要求</a:t>
            </a:r>
            <a:endParaRPr lang="en-US" altLang="zh-CN" dirty="0"/>
          </a:p>
          <a:p>
            <a:pPr lvl="1"/>
            <a:r>
              <a:rPr lang="zh-CN" altLang="en-US" dirty="0"/>
              <a:t>市值</a:t>
            </a:r>
            <a:r>
              <a:rPr lang="en-US" dirty="0"/>
              <a:t>3</a:t>
            </a:r>
            <a:r>
              <a:rPr lang="zh-CN" altLang="en-US" dirty="0"/>
              <a:t>亿</a:t>
            </a:r>
            <a:r>
              <a:rPr lang="en-US" dirty="0"/>
              <a:t>-3.5</a:t>
            </a:r>
            <a:r>
              <a:rPr lang="zh-CN" altLang="en-US" dirty="0"/>
              <a:t>亿美元，价格波动大，上榜股票</a:t>
            </a:r>
            <a:endParaRPr lang="en-US" altLang="zh-CN" dirty="0"/>
          </a:p>
          <a:p>
            <a:pPr lvl="1"/>
            <a:r>
              <a:rPr lang="zh-CN" altLang="en-US" dirty="0"/>
              <a:t>市值</a:t>
            </a:r>
            <a:r>
              <a:rPr lang="en-US" dirty="0"/>
              <a:t>2.5</a:t>
            </a:r>
            <a:r>
              <a:rPr lang="zh-CN" altLang="en-US" dirty="0"/>
              <a:t>亿</a:t>
            </a:r>
            <a:r>
              <a:rPr lang="en-US" dirty="0"/>
              <a:t>-3</a:t>
            </a:r>
            <a:r>
              <a:rPr lang="zh-CN" altLang="en-US" dirty="0"/>
              <a:t>亿美元，价格波动大但未达最小市值，未上榜股票</a:t>
            </a:r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66604"/>
          <a:stretch/>
        </p:blipFill>
        <p:spPr>
          <a:xfrm>
            <a:off x="1905000" y="2775664"/>
            <a:ext cx="4191000" cy="335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1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未来收益率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</a:t>
            </a:r>
            <a:r>
              <a:rPr lang="zh-CN" altLang="en-US" dirty="0"/>
              <a:t>羊群事件分析</a:t>
            </a:r>
            <a:endParaRPr lang="en-US" altLang="zh-CN" dirty="0"/>
          </a:p>
          <a:p>
            <a:pPr lvl="1"/>
            <a:r>
              <a:rPr lang="en-US" altLang="zh-CN" dirty="0" err="1"/>
              <a:t>罗宾汉用户被极端的</a:t>
            </a:r>
            <a:r>
              <a:rPr lang="zh-CN" altLang="en-US" dirty="0"/>
              <a:t>回报率</a:t>
            </a:r>
            <a:r>
              <a:rPr lang="en-US" altLang="zh-CN" dirty="0" err="1"/>
              <a:t>事件所吸引</a:t>
            </a:r>
            <a:r>
              <a:rPr lang="zh-CN" altLang="en-US" dirty="0"/>
              <a:t>，</a:t>
            </a:r>
            <a:r>
              <a:rPr lang="en-US" altLang="zh-CN" dirty="0" err="1"/>
              <a:t>他们的协同购买导致价格压力</a:t>
            </a:r>
            <a:r>
              <a:rPr lang="zh-CN" altLang="en-US" dirty="0"/>
              <a:t>上升</a:t>
            </a:r>
            <a:r>
              <a:rPr lang="en-US" altLang="zh-CN" dirty="0"/>
              <a:t>，</a:t>
            </a:r>
            <a:r>
              <a:rPr lang="en-US" altLang="zh-CN" dirty="0" err="1"/>
              <a:t>然后回报表现不佳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31349"/>
            <a:ext cx="7423952" cy="29995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596" y="2679344"/>
            <a:ext cx="4677560" cy="45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6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未来收益率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</a:t>
            </a:r>
            <a:r>
              <a:rPr lang="zh-CN" altLang="en-US" dirty="0"/>
              <a:t>羊群事件分析</a:t>
            </a:r>
            <a:endParaRPr lang="en-US" altLang="zh-CN" dirty="0"/>
          </a:p>
          <a:p>
            <a:pPr lvl="1"/>
            <a:r>
              <a:rPr lang="en-US" altLang="zh-CN" dirty="0" err="1"/>
              <a:t>用户变化率</a:t>
            </a:r>
            <a:r>
              <a:rPr lang="zh-CN" altLang="en-US" dirty="0"/>
              <a:t>超过</a:t>
            </a:r>
            <a:r>
              <a:rPr lang="en-US" altLang="zh-CN" dirty="0"/>
              <a:t>1.1</a:t>
            </a:r>
            <a:r>
              <a:rPr lang="zh-CN" altLang="en-US" dirty="0"/>
              <a:t>（增加</a:t>
            </a:r>
            <a:r>
              <a:rPr lang="en-US" altLang="zh-CN" dirty="0"/>
              <a:t>10%</a:t>
            </a:r>
            <a:r>
              <a:rPr lang="zh-CN" altLang="en-US" dirty="0"/>
              <a:t>用户，</a:t>
            </a:r>
            <a:r>
              <a:rPr lang="en-US" altLang="zh-CN" dirty="0"/>
              <a:t>20000个事件）</a:t>
            </a:r>
            <a:r>
              <a:rPr lang="zh-CN" altLang="en-US" dirty="0"/>
              <a:t>收益率</a:t>
            </a:r>
            <a:r>
              <a:rPr lang="en-US" altLang="zh-CN" dirty="0"/>
              <a:t>-1.8%</a:t>
            </a:r>
          </a:p>
          <a:p>
            <a:pPr lvl="1"/>
            <a:r>
              <a:rPr lang="en-US" altLang="zh-CN" dirty="0" err="1"/>
              <a:t>用户变化率</a:t>
            </a:r>
            <a:r>
              <a:rPr lang="zh-CN" altLang="en-US" dirty="0"/>
              <a:t>超过</a:t>
            </a:r>
            <a:r>
              <a:rPr lang="en-US" altLang="zh-CN" dirty="0"/>
              <a:t>8.5（</a:t>
            </a:r>
            <a:r>
              <a:rPr lang="zh-CN" altLang="en-US" dirty="0"/>
              <a:t>增加</a:t>
            </a:r>
            <a:r>
              <a:rPr lang="en-US" altLang="zh-CN" dirty="0"/>
              <a:t>750%</a:t>
            </a:r>
            <a:r>
              <a:rPr lang="zh-CN" altLang="en-US" dirty="0"/>
              <a:t>用户，</a:t>
            </a:r>
            <a:r>
              <a:rPr lang="en-US" altLang="zh-CN" dirty="0"/>
              <a:t>45个事件）</a:t>
            </a:r>
            <a:r>
              <a:rPr lang="zh-CN" altLang="en-US" dirty="0"/>
              <a:t>收益率</a:t>
            </a:r>
            <a:r>
              <a:rPr lang="en-US" altLang="zh-CN" dirty="0"/>
              <a:t>-19.6%</a:t>
            </a:r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3" y="2851742"/>
            <a:ext cx="835433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26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未来收益率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B. </a:t>
            </a:r>
            <a:r>
              <a:rPr lang="zh-CN" altLang="en-US" dirty="0"/>
              <a:t>日历时间交易策略</a:t>
            </a:r>
          </a:p>
          <a:p>
            <a:endParaRPr lang="zh-CN" altLang="en-US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04992"/>
            <a:ext cx="7235941" cy="403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61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未来收益率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C. </a:t>
            </a:r>
            <a:r>
              <a:rPr lang="zh-CN" altLang="en-US" dirty="0"/>
              <a:t>罗宾汉全部用户的平均买入和卖出价</a:t>
            </a:r>
            <a:endParaRPr lang="en-US" altLang="zh-CN" dirty="0"/>
          </a:p>
          <a:p>
            <a:pPr lvl="1"/>
            <a:r>
              <a:rPr lang="en-US" altLang="zh-CN" dirty="0" err="1"/>
              <a:t>罗宾汉社区</a:t>
            </a:r>
            <a:r>
              <a:rPr lang="zh-CN" altLang="en-US" dirty="0"/>
              <a:t>平均</a:t>
            </a:r>
            <a:r>
              <a:rPr lang="en-US" altLang="zh-CN" dirty="0" err="1"/>
              <a:t>每次</a:t>
            </a:r>
            <a:r>
              <a:rPr lang="zh-CN" altLang="en-US" dirty="0"/>
              <a:t>羊群</a:t>
            </a:r>
            <a:r>
              <a:rPr lang="en-US" altLang="zh-CN" dirty="0"/>
              <a:t>中</a:t>
            </a:r>
            <a:r>
              <a:rPr lang="zh-CN" altLang="en-US" dirty="0"/>
              <a:t>收益为</a:t>
            </a:r>
            <a:r>
              <a:rPr lang="en-US" altLang="zh-CN" dirty="0"/>
              <a:t>-4.3%</a:t>
            </a:r>
            <a:r>
              <a:rPr lang="zh-CN" altLang="en-US" dirty="0"/>
              <a:t>，市场调整后</a:t>
            </a:r>
            <a:r>
              <a:rPr lang="en-US" altLang="zh-CN" dirty="0"/>
              <a:t>为-5.5%</a:t>
            </a:r>
          </a:p>
          <a:p>
            <a:pPr lvl="1"/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34" y="3200400"/>
            <a:ext cx="2500053" cy="27063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448775"/>
            <a:ext cx="3146535" cy="566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482" y="2447364"/>
            <a:ext cx="3596725" cy="567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207" y="2431069"/>
            <a:ext cx="2078999" cy="5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65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CN" altLang="en-US" dirty="0"/>
              <a:t>做空交易和羊群事件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做空投资者在羊群事件中提升了做空量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057400"/>
            <a:ext cx="5638800" cy="396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39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结论和启示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简化的信息显示和缺乏经验的用户使得注意力驱动罗宾汉用户交易</a:t>
            </a:r>
          </a:p>
          <a:p>
            <a:pPr lvl="1"/>
            <a:r>
              <a:rPr lang="zh-CN" altLang="en-US" dirty="0"/>
              <a:t>与其他散户投资者相比，罗宾汉用户的交易更加集中</a:t>
            </a:r>
          </a:p>
          <a:p>
            <a:pPr lvl="1"/>
            <a:r>
              <a:rPr lang="zh-CN" altLang="en-US" dirty="0"/>
              <a:t>伴随负回报的羊群事件</a:t>
            </a:r>
          </a:p>
          <a:p>
            <a:endParaRPr lang="en-US" altLang="zh-CN" dirty="0"/>
          </a:p>
          <a:p>
            <a:r>
              <a:rPr lang="zh-CN" altLang="en-US" dirty="0"/>
              <a:t>对金融科技经纪公司金融创新的担忧</a:t>
            </a:r>
          </a:p>
          <a:p>
            <a:pPr lvl="1"/>
            <a:r>
              <a:rPr lang="zh-CN" altLang="en-US" dirty="0"/>
              <a:t>出售客户交易信息、游戏化投资、限制</a:t>
            </a:r>
            <a:r>
              <a:rPr lang="en-US" altLang="zh-CN" dirty="0" err="1"/>
              <a:t>Gamestop</a:t>
            </a:r>
            <a:r>
              <a:rPr lang="zh-CN" altLang="en-US" dirty="0"/>
              <a:t>事件中的交易</a:t>
            </a:r>
          </a:p>
          <a:p>
            <a:pPr lvl="1"/>
            <a:r>
              <a:rPr lang="zh-CN" altLang="en-US" dirty="0"/>
              <a:t>公司利用技术最大化公司利益，而非投资者利益</a:t>
            </a:r>
            <a:endParaRPr lang="en-US" altLang="zh-CN" dirty="0"/>
          </a:p>
          <a:p>
            <a:pPr lvl="1"/>
            <a:r>
              <a:rPr lang="zh-CN" altLang="en-US" dirty="0"/>
              <a:t> “当你提供服务时，你必须以客户的最大利益为出发点”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580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Does Institutional Ownership Matter for International Stock Return Comovement?&amp;#x0D;&amp;#x0A;&amp;#x0D;&amp;#x0A;Faias, Ferreira, Matos and Santa-Cl&quot;/&gt;&lt;property id=&quot;20307&quot; value=&quot;256&quot;/&gt;&lt;/object&gt;&lt;object type=&quot;3&quot; unique_id=&quot;10005&quot;&gt;&lt;property id=&quot;20148&quot; value=&quot;5&quot;/&gt;&lt;property id=&quot;20300&quot; value=&quot;Slide 2 - &amp;quot;What’s the paper about?&amp;quot;&quot;/&gt;&lt;property id=&quot;20307&quot; value=&quot;510&quot;/&gt;&lt;/object&gt;&lt;object type=&quot;3&quot; unique_id=&quot;10006&quot;&gt;&lt;property id=&quot;20148&quot; value=&quot;5&quot;/&gt;&lt;property id=&quot;20300&quot; value=&quot;Slide 3 - &amp;quot;Empirical Design with Details&amp;quot;&quot;/&gt;&lt;property id=&quot;20307&quot; value=&quot;525&quot;/&gt;&lt;/object&gt;&lt;object type=&quot;3&quot; unique_id=&quot;10898&quot;&gt;&lt;property id=&quot;20148&quot; value=&quot;5&quot;/&gt;&lt;property id=&quot;20300&quot; value=&quot;Slide 6 - &amp;quot;Comments on Variance Decomposition&amp;quot;&quot;/&gt;&lt;property id=&quot;20307&quot; value=&quot;586&quot;/&gt;&lt;/object&gt;&lt;object type=&quot;3&quot; unique_id=&quot;10899&quot;&gt;&lt;property id=&quot;20148&quot; value=&quot;5&quot;/&gt;&lt;property id=&quot;20300&quot; value=&quot;Slide 7 - &amp;quot;Comments on Country vs. Industry&amp;quot;&quot;/&gt;&lt;property id=&quot;20307&quot; value=&quot;587&quot;/&gt;&lt;/object&gt;&lt;object type=&quot;3&quot; unique_id=&quot;10918&quot;&gt;&lt;property id=&quot;20148&quot; value=&quot;5&quot;/&gt;&lt;property id=&quot;20300&quot; value=&quot;Slide 4 - &amp;quot;Comments on The Return Process&amp;quot;&quot;/&gt;&lt;property id=&quot;20307&quot; value=&quot;588&quot;/&gt;&lt;/object&gt;&lt;object type=&quot;3&quot; unique_id=&quot;10919&quot;&gt;&lt;property id=&quot;20148&quot; value=&quot;5&quot;/&gt;&lt;property id=&quot;20300&quot; value=&quot;Slide 5 - &amp;quot;Comments on The Return Process&amp;quot;&quot;/&gt;&lt;property id=&quot;20307&quot; value=&quot;58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19472</TotalTime>
  <Words>1209</Words>
  <Application>Microsoft Office PowerPoint</Application>
  <PresentationFormat>全屏显示(4:3)</PresentationFormat>
  <Paragraphs>139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宋体</vt:lpstr>
      <vt:lpstr>Arial</vt:lpstr>
      <vt:lpstr>Cambria Math</vt:lpstr>
      <vt:lpstr>Garamond</vt:lpstr>
      <vt:lpstr>Palatino Linotype</vt:lpstr>
      <vt:lpstr>Times New Roman</vt:lpstr>
      <vt:lpstr>Wingdings</vt:lpstr>
      <vt:lpstr>Edge</vt:lpstr>
      <vt:lpstr>Attention-Induced Trading and Returns: Evidence from Robinhood Users Journal of Finance, 2022</vt:lpstr>
      <vt:lpstr>作者</vt:lpstr>
      <vt:lpstr>Brad M. Barber </vt:lpstr>
      <vt:lpstr>Xing Huang </vt:lpstr>
      <vt:lpstr>Terrance Odean </vt:lpstr>
      <vt:lpstr>Christopher Schwarz </vt:lpstr>
      <vt:lpstr>出版细节 </vt:lpstr>
      <vt:lpstr>为什么罗宾汉这么受欢迎？ </vt:lpstr>
      <vt:lpstr>为什么罗宾汉这么受欢迎？ </vt:lpstr>
      <vt:lpstr>研究问题 </vt:lpstr>
      <vt:lpstr>流程图</vt:lpstr>
      <vt:lpstr>数据和方法 </vt:lpstr>
      <vt:lpstr>数据和方法 </vt:lpstr>
      <vt:lpstr>数据和方法 </vt:lpstr>
      <vt:lpstr>假说 </vt:lpstr>
      <vt:lpstr>1. 注意力和股票选择</vt:lpstr>
      <vt:lpstr>1. 注意力和股票选择</vt:lpstr>
      <vt:lpstr>1. 注意力和股票选择</vt:lpstr>
      <vt:lpstr>1. 注意力和股票选择</vt:lpstr>
      <vt:lpstr>1. 注意力和股票选择</vt:lpstr>
      <vt:lpstr>1. 注意力和股票选择</vt:lpstr>
      <vt:lpstr>2. 未来收益率</vt:lpstr>
      <vt:lpstr>2. 未来收益率</vt:lpstr>
      <vt:lpstr>2. 未来收益率</vt:lpstr>
      <vt:lpstr>2. 未来收益率</vt:lpstr>
      <vt:lpstr>3. 做空交易和羊群事件</vt:lpstr>
      <vt:lpstr>结论和启示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shorts are informed?</dc:title>
  <dc:creator>Charles Jones</dc:creator>
  <cp:lastModifiedBy>Xinran Zhang</cp:lastModifiedBy>
  <cp:revision>2633</cp:revision>
  <cp:lastPrinted>2021-02-24T04:19:35Z</cp:lastPrinted>
  <dcterms:created xsi:type="dcterms:W3CDTF">2004-04-12T07:19:58Z</dcterms:created>
  <dcterms:modified xsi:type="dcterms:W3CDTF">2023-11-29T13:51:16Z</dcterms:modified>
</cp:coreProperties>
</file>