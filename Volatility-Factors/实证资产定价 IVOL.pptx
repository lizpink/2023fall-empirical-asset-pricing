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781" r:id="rId2"/>
  </p:sldMasterIdLst>
  <p:notesMasterIdLst>
    <p:notesMasterId r:id="rId39"/>
  </p:notesMasterIdLst>
  <p:handoutMasterIdLst>
    <p:handoutMasterId r:id="rId40"/>
  </p:handoutMasterIdLst>
  <p:sldIdLst>
    <p:sldId id="495" r:id="rId3"/>
    <p:sldId id="807" r:id="rId4"/>
    <p:sldId id="740" r:id="rId5"/>
    <p:sldId id="798" r:id="rId6"/>
    <p:sldId id="799" r:id="rId7"/>
    <p:sldId id="800" r:id="rId8"/>
    <p:sldId id="801" r:id="rId9"/>
    <p:sldId id="802" r:id="rId10"/>
    <p:sldId id="803" r:id="rId11"/>
    <p:sldId id="804" r:id="rId12"/>
    <p:sldId id="805" r:id="rId13"/>
    <p:sldId id="806" r:id="rId14"/>
    <p:sldId id="809" r:id="rId15"/>
    <p:sldId id="810" r:id="rId16"/>
    <p:sldId id="774" r:id="rId17"/>
    <p:sldId id="775" r:id="rId18"/>
    <p:sldId id="811" r:id="rId19"/>
    <p:sldId id="812" r:id="rId20"/>
    <p:sldId id="813" r:id="rId21"/>
    <p:sldId id="715" r:id="rId22"/>
    <p:sldId id="716" r:id="rId23"/>
    <p:sldId id="814" r:id="rId24"/>
    <p:sldId id="815" r:id="rId25"/>
    <p:sldId id="779" r:id="rId26"/>
    <p:sldId id="717" r:id="rId27"/>
    <p:sldId id="816" r:id="rId28"/>
    <p:sldId id="817" r:id="rId29"/>
    <p:sldId id="818" r:id="rId30"/>
    <p:sldId id="819" r:id="rId31"/>
    <p:sldId id="820" r:id="rId32"/>
    <p:sldId id="728" r:id="rId33"/>
    <p:sldId id="821" r:id="rId34"/>
    <p:sldId id="732" r:id="rId35"/>
    <p:sldId id="822" r:id="rId36"/>
    <p:sldId id="734" r:id="rId37"/>
    <p:sldId id="735" r:id="rId38"/>
  </p:sldIdLst>
  <p:sldSz cx="9144000" cy="6858000" type="screen4x3"/>
  <p:notesSz cx="7315200" cy="9601200"/>
  <p:custDataLst>
    <p:tags r:id="rId41"/>
  </p:custDataLst>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5"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44" autoAdjust="0"/>
    <p:restoredTop sz="76598" autoAdjust="0"/>
  </p:normalViewPr>
  <p:slideViewPr>
    <p:cSldViewPr>
      <p:cViewPr varScale="1">
        <p:scale>
          <a:sx n="84" d="100"/>
          <a:sy n="84" d="100"/>
        </p:scale>
        <p:origin x="1432" y="7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81" d="100"/>
          <a:sy n="81" d="100"/>
        </p:scale>
        <p:origin x="-3168" y="-102"/>
      </p:cViewPr>
      <p:guideLst>
        <p:guide orient="horz" pos="3025"/>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tags" Target="tags/tag1.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1" y="2"/>
            <a:ext cx="3170238" cy="47942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l" defTabSz="931780">
              <a:defRPr sz="1300">
                <a:latin typeface="Times New Roman" pitchFamily="18" charset="0"/>
              </a:defRPr>
            </a:lvl1pPr>
          </a:lstStyle>
          <a:p>
            <a:pPr>
              <a:defRPr/>
            </a:pPr>
            <a:endParaRPr lang="en-US"/>
          </a:p>
        </p:txBody>
      </p:sp>
      <p:sp>
        <p:nvSpPr>
          <p:cNvPr id="76803" name="Rectangle 3"/>
          <p:cNvSpPr>
            <a:spLocks noGrp="1" noChangeArrowheads="1"/>
          </p:cNvSpPr>
          <p:nvPr>
            <p:ph type="dt" sz="quarter" idx="1"/>
          </p:nvPr>
        </p:nvSpPr>
        <p:spPr bwMode="auto">
          <a:xfrm>
            <a:off x="4144965" y="2"/>
            <a:ext cx="3170237" cy="47942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r" defTabSz="931780">
              <a:defRPr sz="1300">
                <a:latin typeface="Times New Roman" pitchFamily="18" charset="0"/>
              </a:defRPr>
            </a:lvl1pPr>
          </a:lstStyle>
          <a:p>
            <a:pPr>
              <a:defRPr/>
            </a:pPr>
            <a:endParaRPr lang="en-US"/>
          </a:p>
        </p:txBody>
      </p:sp>
      <p:sp>
        <p:nvSpPr>
          <p:cNvPr id="76804" name="Rectangle 4"/>
          <p:cNvSpPr>
            <a:spLocks noGrp="1" noChangeArrowheads="1"/>
          </p:cNvSpPr>
          <p:nvPr>
            <p:ph type="ftr" sz="quarter" idx="2"/>
          </p:nvPr>
        </p:nvSpPr>
        <p:spPr bwMode="auto">
          <a:xfrm>
            <a:off x="1" y="9121777"/>
            <a:ext cx="3170238" cy="47942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l" defTabSz="931780">
              <a:defRPr sz="1300">
                <a:latin typeface="Times New Roman" pitchFamily="18" charset="0"/>
              </a:defRPr>
            </a:lvl1pPr>
          </a:lstStyle>
          <a:p>
            <a:pPr>
              <a:defRPr/>
            </a:pPr>
            <a:endParaRPr lang="en-US"/>
          </a:p>
        </p:txBody>
      </p:sp>
      <p:sp>
        <p:nvSpPr>
          <p:cNvPr id="76805" name="Rectangle 5"/>
          <p:cNvSpPr>
            <a:spLocks noGrp="1" noChangeArrowheads="1"/>
          </p:cNvSpPr>
          <p:nvPr>
            <p:ph type="sldNum" sz="quarter" idx="3"/>
          </p:nvPr>
        </p:nvSpPr>
        <p:spPr bwMode="auto">
          <a:xfrm>
            <a:off x="4144965" y="9121777"/>
            <a:ext cx="3170237" cy="47942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r" defTabSz="931780">
              <a:defRPr sz="1300">
                <a:latin typeface="Times New Roman" pitchFamily="18" charset="0"/>
              </a:defRPr>
            </a:lvl1pPr>
          </a:lstStyle>
          <a:p>
            <a:pPr>
              <a:defRPr/>
            </a:pPr>
            <a:fld id="{2782A948-6866-45A0-A775-15670DAC7CF0}" type="slidenum">
              <a:rPr lang="en-US"/>
              <a:pPr>
                <a:defRPr/>
              </a:pPr>
              <a:t>‹#›</a:t>
            </a:fld>
            <a:endParaRPr lang="en-US"/>
          </a:p>
        </p:txBody>
      </p:sp>
    </p:spTree>
    <p:extLst>
      <p:ext uri="{BB962C8B-B14F-4D97-AF65-F5344CB8AC3E}">
        <p14:creationId xmlns:p14="http://schemas.microsoft.com/office/powerpoint/2010/main" val="4168306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1" y="2"/>
            <a:ext cx="3170238" cy="47942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l" defTabSz="931780">
              <a:defRPr sz="1300">
                <a:latin typeface="Arial" pitchFamily="34" charset="0"/>
              </a:defRPr>
            </a:lvl1pPr>
          </a:lstStyle>
          <a:p>
            <a:pPr>
              <a:defRPr/>
            </a:pPr>
            <a:endParaRPr lang="en-US"/>
          </a:p>
        </p:txBody>
      </p:sp>
      <p:sp>
        <p:nvSpPr>
          <p:cNvPr id="215043" name="Rectangle 3"/>
          <p:cNvSpPr>
            <a:spLocks noGrp="1" noChangeArrowheads="1"/>
          </p:cNvSpPr>
          <p:nvPr>
            <p:ph type="dt" idx="1"/>
          </p:nvPr>
        </p:nvSpPr>
        <p:spPr bwMode="auto">
          <a:xfrm>
            <a:off x="4143376" y="2"/>
            <a:ext cx="3170238" cy="47942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r" defTabSz="931780">
              <a:defRPr sz="1300">
                <a:latin typeface="Arial" pitchFamily="34" charset="0"/>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1258888" y="722313"/>
            <a:ext cx="4799012" cy="3598862"/>
          </a:xfrm>
          <a:prstGeom prst="rect">
            <a:avLst/>
          </a:prstGeom>
          <a:noFill/>
          <a:ln w="9525">
            <a:solidFill>
              <a:srgbClr val="000000"/>
            </a:solidFill>
            <a:miter lim="800000"/>
            <a:headEnd/>
            <a:tailEnd/>
          </a:ln>
        </p:spPr>
      </p:sp>
      <p:sp>
        <p:nvSpPr>
          <p:cNvPr id="215045" name="Rectangle 5"/>
          <p:cNvSpPr>
            <a:spLocks noGrp="1" noChangeArrowheads="1"/>
          </p:cNvSpPr>
          <p:nvPr>
            <p:ph type="body" sz="quarter" idx="3"/>
          </p:nvPr>
        </p:nvSpPr>
        <p:spPr bwMode="auto">
          <a:xfrm>
            <a:off x="731841" y="4560889"/>
            <a:ext cx="5851524" cy="4319587"/>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5046" name="Rectangle 6"/>
          <p:cNvSpPr>
            <a:spLocks noGrp="1" noChangeArrowheads="1"/>
          </p:cNvSpPr>
          <p:nvPr>
            <p:ph type="ftr" sz="quarter" idx="4"/>
          </p:nvPr>
        </p:nvSpPr>
        <p:spPr bwMode="auto">
          <a:xfrm>
            <a:off x="1" y="9120190"/>
            <a:ext cx="3170238" cy="47942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l" defTabSz="931780">
              <a:defRPr sz="1300">
                <a:latin typeface="Arial" pitchFamily="34" charset="0"/>
              </a:defRPr>
            </a:lvl1pPr>
          </a:lstStyle>
          <a:p>
            <a:pPr>
              <a:defRPr/>
            </a:pPr>
            <a:endParaRPr lang="en-US"/>
          </a:p>
        </p:txBody>
      </p:sp>
      <p:sp>
        <p:nvSpPr>
          <p:cNvPr id="215047" name="Rectangle 7"/>
          <p:cNvSpPr>
            <a:spLocks noGrp="1" noChangeArrowheads="1"/>
          </p:cNvSpPr>
          <p:nvPr>
            <p:ph type="sldNum" sz="quarter" idx="5"/>
          </p:nvPr>
        </p:nvSpPr>
        <p:spPr bwMode="auto">
          <a:xfrm>
            <a:off x="4143376" y="9120190"/>
            <a:ext cx="3170238" cy="47942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r" defTabSz="931780">
              <a:defRPr sz="1300">
                <a:latin typeface="Arial" pitchFamily="34" charset="0"/>
              </a:defRPr>
            </a:lvl1pPr>
          </a:lstStyle>
          <a:p>
            <a:pPr>
              <a:defRPr/>
            </a:pPr>
            <a:fld id="{B305DB55-DB0C-48E8-866F-9600CE0850E0}" type="slidenum">
              <a:rPr lang="en-US"/>
              <a:pPr>
                <a:defRPr/>
              </a:pPr>
              <a:t>‹#›</a:t>
            </a:fld>
            <a:endParaRPr lang="en-US"/>
          </a:p>
        </p:txBody>
      </p:sp>
    </p:spTree>
    <p:extLst>
      <p:ext uri="{BB962C8B-B14F-4D97-AF65-F5344CB8AC3E}">
        <p14:creationId xmlns:p14="http://schemas.microsoft.com/office/powerpoint/2010/main" val="2633985024"/>
      </p:ext>
    </p:extLst>
  </p:cSld>
  <p:clrMap bg1="lt1" tx1="dk1" bg2="lt2" tx2="dk2" accent1="accent1" accent2="accent2" accent3="accent3" accent4="accent4" accent5="accent5" accent6="accent6" hlink="hlink" folHlink="folHlink"/>
  <p:notesStyle>
    <a:lvl1pPr marL="2286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1pPr>
    <a:lvl2pPr marL="6858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2pPr>
    <a:lvl3pPr marL="11430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3pPr>
    <a:lvl4pPr marL="16002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4pPr>
    <a:lvl5pPr marL="20574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blackrock.com/us/individual/biographies/andrew-ang"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8.gsb.columbia.edu/cbs-directory/detail/rh169"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usiness.rice.edu/person/yuhang-xing"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19A6C3-4A14-4299-9C82-0A95570A106A}" type="slidenum">
              <a:rPr lang="en-US" altLang="en-US"/>
              <a:pPr/>
              <a:t>2</a:t>
            </a:fld>
            <a:endParaRPr lang="en-US" alt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r>
              <a:rPr lang="en-US" altLang="en-US"/>
              <a:t>Thanks. So the next one hour, I am going to talk about volatility and cross-section of returns. This is a joint work with Andrew Ang, Bob Hodrick and Yuhang Xing. </a:t>
            </a:r>
          </a:p>
          <a:p>
            <a:r>
              <a:rPr lang="en-US" altLang="en-US"/>
              <a:t>Recently, we have seen quite few paper discussing volatilities. For me and my coauthors, we always look at things from the asset pricing perspective. And we start to think, what is the implication for an investor who can allocate his money among firms with different volatilities? That’s when we start to write this paper. </a:t>
            </a:r>
          </a:p>
          <a:p>
            <a:r>
              <a:rPr lang="en-US" altLang="en-US"/>
              <a:t>Stochastic volatility</a:t>
            </a:r>
          </a:p>
        </p:txBody>
      </p:sp>
    </p:spTree>
    <p:extLst>
      <p:ext uri="{BB962C8B-B14F-4D97-AF65-F5344CB8AC3E}">
        <p14:creationId xmlns:p14="http://schemas.microsoft.com/office/powerpoint/2010/main" val="569411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kumimoji="1" lang="en-US" altLang="zh-CN" sz="1000" u="sng" kern="1200" dirty="0">
                <a:solidFill>
                  <a:schemeClr val="tx1"/>
                </a:solidFill>
                <a:effectLst/>
                <a:latin typeface="Arial" charset="0"/>
                <a:ea typeface="+mn-ea"/>
                <a:cs typeface="+mn-cs"/>
                <a:hlinkClick r:id="rId3"/>
              </a:rPr>
              <a:t>https://www.blackrock.com/us/individual/biographies/andrew-ang</a:t>
            </a:r>
            <a:r>
              <a:rPr kumimoji="1" lang="en-US" altLang="zh-CN" sz="1000" kern="1200" dirty="0">
                <a:solidFill>
                  <a:schemeClr val="tx1"/>
                </a:solidFill>
                <a:effectLst/>
                <a:latin typeface="Arial" charset="0"/>
                <a:ea typeface="+mn-ea"/>
                <a:cs typeface="+mn-cs"/>
              </a:rPr>
              <a:t> </a:t>
            </a:r>
          </a:p>
          <a:p>
            <a:pPr marL="228600" indent="-228600">
              <a:buAutoNum type="arabicPeriod"/>
            </a:pPr>
            <a:r>
              <a:rPr lang="en-US" altLang="zh-CN" sz="1800" b="0" i="0" dirty="0">
                <a:solidFill>
                  <a:srgbClr val="000000"/>
                </a:solidFill>
                <a:effectLst/>
                <a:latin typeface="TimesNewRomanPSMT" panose="02020603050405020304"/>
              </a:rPr>
              <a:t>https://www0.gsb.columbia.edu/mygsb/faculty/research/pubfiles/3811/Ang,%20Andrew%20-%20(F%26E)%20-%20CV%202014.pdf  </a:t>
            </a:r>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pPr>
              <a:defRPr/>
            </a:pPr>
            <a:fld id="{B305DB55-DB0C-48E8-866F-9600CE0850E0}" type="slidenum">
              <a:rPr lang="en-US" smtClean="0"/>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kumimoji="1" lang="en-US" altLang="zh-CN" sz="1000" u="sng" kern="1200" dirty="0">
                <a:solidFill>
                  <a:schemeClr val="tx1"/>
                </a:solidFill>
                <a:effectLst/>
                <a:latin typeface="Arial" charset="0"/>
                <a:ea typeface="+mn-ea"/>
                <a:cs typeface="+mn-cs"/>
                <a:hlinkClick r:id="rId3"/>
              </a:rPr>
              <a:t>https://www8.gsb.columbia.edu/cbs-directory/detail/rh169</a:t>
            </a:r>
            <a:r>
              <a:rPr kumimoji="1" lang="en-US" altLang="zh-CN" sz="1000" kern="1200" dirty="0">
                <a:solidFill>
                  <a:schemeClr val="tx1"/>
                </a:solidFill>
                <a:effectLst/>
                <a:latin typeface="Arial" charset="0"/>
                <a:ea typeface="+mn-ea"/>
                <a:cs typeface="+mn-cs"/>
              </a:rPr>
              <a:t> </a:t>
            </a:r>
            <a:endParaRPr lang="en-US" altLang="zh-CN" sz="1800" b="0" i="0" dirty="0">
              <a:solidFill>
                <a:srgbClr val="000000"/>
              </a:solidFill>
              <a:effectLst/>
              <a:latin typeface="TimesNewRomanPSMT" panose="02020603050405020304"/>
            </a:endParaRPr>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pPr>
              <a:defRPr/>
            </a:pPr>
            <a:fld id="{B305DB55-DB0C-48E8-866F-9600CE0850E0}" type="slidenum">
              <a:rPr lang="en-US" smtClean="0"/>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kumimoji="1" lang="en-US" altLang="zh-CN" sz="1000" u="sng" kern="1200" dirty="0">
                <a:solidFill>
                  <a:schemeClr val="tx1"/>
                </a:solidFill>
                <a:effectLst/>
                <a:latin typeface="Arial" charset="0"/>
                <a:ea typeface="+mn-ea"/>
                <a:cs typeface="+mn-cs"/>
                <a:hlinkClick r:id="rId3"/>
              </a:rPr>
              <a:t>https://business.rice.edu/person/yuhang-xing</a:t>
            </a:r>
            <a:r>
              <a:rPr kumimoji="1" lang="en-US" altLang="zh-CN" sz="1000" kern="1200" dirty="0">
                <a:solidFill>
                  <a:schemeClr val="tx1"/>
                </a:solidFill>
                <a:effectLst/>
                <a:latin typeface="Arial" charset="0"/>
                <a:ea typeface="+mn-ea"/>
                <a:cs typeface="+mn-cs"/>
              </a:rPr>
              <a:t> </a:t>
            </a:r>
            <a:endParaRPr lang="en-US" altLang="zh-CN" sz="1800" b="0" i="0" dirty="0">
              <a:solidFill>
                <a:srgbClr val="000000"/>
              </a:solidFill>
              <a:effectLst/>
              <a:latin typeface="TimesNewRomanPSMT" panose="02020603050405020304"/>
            </a:endParaRPr>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ltLang="zh-CN" b="0" i="0" dirty="0">
              <a:solidFill>
                <a:srgbClr val="1E1E1E"/>
              </a:solidFill>
              <a:effectLst/>
              <a:latin typeface="Arial" panose="020B0604020202090204" pitchFamily="34" charset="0"/>
            </a:endParaRPr>
          </a:p>
        </p:txBody>
      </p:sp>
      <p:sp>
        <p:nvSpPr>
          <p:cNvPr id="4" name="Slide Number Placeholder 3"/>
          <p:cNvSpPr>
            <a:spLocks noGrp="1"/>
          </p:cNvSpPr>
          <p:nvPr>
            <p:ph type="sldNum" sz="quarter" idx="10"/>
          </p:nvPr>
        </p:nvSpPr>
        <p:spPr/>
        <p:txBody>
          <a:bodyPr/>
          <a:lstStyle/>
          <a:p>
            <a:pPr>
              <a:defRPr/>
            </a:pPr>
            <a:fld id="{B305DB55-DB0C-48E8-866F-9600CE0850E0}" type="slidenum">
              <a:rPr lang="en-US" smtClean="0"/>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sz="1800" b="0" i="0" dirty="0">
                <a:solidFill>
                  <a:srgbClr val="000000"/>
                </a:solidFill>
                <a:effectLst/>
                <a:latin typeface="TimesNewRomanPSMT" panose="02020603050405020304"/>
              </a:rPr>
              <a:t>https://www.pbcsf.tsinghua.edu.cn/portal/article/indexn/id/2208.html </a:t>
            </a:r>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ltLang="zh-CN" b="0" i="0" dirty="0">
              <a:solidFill>
                <a:srgbClr val="1E1E1E"/>
              </a:solidFill>
              <a:effectLst/>
              <a:latin typeface="Arial" panose="020B0604020202090204" pitchFamily="34" charset="0"/>
            </a:endParaRPr>
          </a:p>
        </p:txBody>
      </p:sp>
      <p:sp>
        <p:nvSpPr>
          <p:cNvPr id="4" name="Slide Number Placeholder 3"/>
          <p:cNvSpPr>
            <a:spLocks noGrp="1"/>
          </p:cNvSpPr>
          <p:nvPr>
            <p:ph type="sldNum" sz="quarter" idx="10"/>
          </p:nvPr>
        </p:nvSpPr>
        <p:spPr/>
        <p:txBody>
          <a:bodyPr/>
          <a:lstStyle/>
          <a:p>
            <a:pPr>
              <a:defRPr/>
            </a:pPr>
            <a:fld id="{B305DB55-DB0C-48E8-866F-9600CE0850E0}" type="slidenum">
              <a:rPr lang="en-US" smtClean="0"/>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Done.</a:t>
            </a:r>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D19BA9-4672-486F-BABE-31767C3593E4}" type="slidenum">
              <a:rPr lang="en-US" altLang="en-US"/>
              <a:pPr/>
              <a:t>13</a:t>
            </a:fld>
            <a:endParaRPr lang="en-US" altLang="en-US"/>
          </a:p>
        </p:txBody>
      </p:sp>
      <p:sp>
        <p:nvSpPr>
          <p:cNvPr id="399362" name="Rectangle 2"/>
          <p:cNvSpPr>
            <a:spLocks noGrp="1" noRot="1" noChangeAspect="1" noChangeArrowheads="1" noTextEdit="1"/>
          </p:cNvSpPr>
          <p:nvPr>
            <p:ph type="sldImg"/>
          </p:nvPr>
        </p:nvSpPr>
        <p:spPr>
          <a:ln/>
        </p:spPr>
      </p:sp>
      <p:sp>
        <p:nvSpPr>
          <p:cNvPr id="399363" name="Rectangle 3"/>
          <p:cNvSpPr>
            <a:spLocks noGrp="1" noChangeArrowheads="1"/>
          </p:cNvSpPr>
          <p:nvPr>
            <p:ph type="body" idx="1"/>
          </p:nvPr>
        </p:nvSpPr>
        <p:spPr/>
        <p:txBody>
          <a:bodyPr/>
          <a:lstStyle/>
          <a:p>
            <a:r>
              <a:rPr lang="en-US" altLang="en-US"/>
              <a:t>In this paper, we mainly discuss two volatilities, the aggregate volatility and the idiosyncratic volatility. </a:t>
            </a:r>
          </a:p>
          <a:p>
            <a:r>
              <a:rPr lang="en-US" altLang="en-US"/>
              <a:t>Aggregate volatility is defined to be the volatility of the return on market portfolio. We also call it the market volatility.</a:t>
            </a:r>
          </a:p>
          <a:p>
            <a:r>
              <a:rPr lang="en-US" altLang="en-US"/>
              <a:t>Both Campbell and Hentshel, and Golsten et al’s paper find that the aggregate volatility and market expected returns are tightly correlated. From Merton’s intertemporal-CAPM, we know that anything affect the market return can possibly affect the cross-sectional returns. So the first question we want to address is does aggregate volatility affect cross-sectional returns. </a:t>
            </a:r>
          </a:p>
          <a:p>
            <a:r>
              <a:rPr lang="en-US" altLang="en-US"/>
              <a:t>The second volatility we discuss is the idiosyncratic volatility, which is the firm-specific volatility that can’t be explained by systematic risks.</a:t>
            </a:r>
          </a:p>
          <a:p>
            <a:r>
              <a:rPr lang="en-US" altLang="en-US"/>
              <a:t>Campbell et. Al finds idio. vol increases over time. Goyal et al find that idio. vol predict future market return.</a:t>
            </a:r>
          </a:p>
          <a:p>
            <a:r>
              <a:rPr lang="en-US" altLang="en-US"/>
              <a:t>We are curious to find the relation between idiosyncratic volatility and cross-sectional returns.</a:t>
            </a:r>
          </a:p>
        </p:txBody>
      </p:sp>
    </p:spTree>
    <p:extLst>
      <p:ext uri="{BB962C8B-B14F-4D97-AF65-F5344CB8AC3E}">
        <p14:creationId xmlns:p14="http://schemas.microsoft.com/office/powerpoint/2010/main" val="3366720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B67F54-D79E-4E52-A300-C227018CA803}" type="slidenum">
              <a:rPr lang="en-US" altLang="en-US"/>
              <a:pPr/>
              <a:t>14</a:t>
            </a:fld>
            <a:endParaRPr lang="en-US" altLang="en-US"/>
          </a:p>
        </p:txBody>
      </p:sp>
      <p:sp>
        <p:nvSpPr>
          <p:cNvPr id="623618" name="Rectangle 2"/>
          <p:cNvSpPr>
            <a:spLocks noGrp="1" noRot="1" noChangeAspect="1" noChangeArrowheads="1" noTextEdit="1"/>
          </p:cNvSpPr>
          <p:nvPr>
            <p:ph type="sldImg"/>
          </p:nvPr>
        </p:nvSpPr>
        <p:spPr>
          <a:ln/>
        </p:spPr>
      </p:sp>
      <p:sp>
        <p:nvSpPr>
          <p:cNvPr id="623619" name="Rectangle 3"/>
          <p:cNvSpPr>
            <a:spLocks noGrp="1" noChangeArrowheads="1"/>
          </p:cNvSpPr>
          <p:nvPr>
            <p:ph type="body" idx="1"/>
          </p:nvPr>
        </p:nvSpPr>
        <p:spPr/>
        <p:txBody>
          <a:bodyPr/>
          <a:lstStyle/>
          <a:p>
            <a:r>
              <a:rPr lang="en-US" altLang="en-US"/>
              <a:t>Now we have two hypothesis: first market volatility is priced, and second, the price is negative.</a:t>
            </a:r>
          </a:p>
          <a:p>
            <a:r>
              <a:rPr lang="en-US" altLang="en-US"/>
              <a:t>In cross-section, those two hypothesis means two things: first, if we sort firms with different sensitivities to aggregate volatility into portfolios, those portfolios will have different returns. Second, firms with high sensitivity will have low returns, and firms with low sensitivity will have high returns.</a:t>
            </a:r>
          </a:p>
        </p:txBody>
      </p:sp>
    </p:spTree>
    <p:extLst>
      <p:ext uri="{BB962C8B-B14F-4D97-AF65-F5344CB8AC3E}">
        <p14:creationId xmlns:p14="http://schemas.microsoft.com/office/powerpoint/2010/main" val="1699926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714C1D-DBA1-4C86-89AB-B2FB6563709B}" type="slidenum">
              <a:rPr lang="en-US" altLang="en-US"/>
              <a:pPr/>
              <a:t>17</a:t>
            </a:fld>
            <a:endParaRPr lang="en-US" altLang="en-US"/>
          </a:p>
        </p:txBody>
      </p:sp>
      <p:sp>
        <p:nvSpPr>
          <p:cNvPr id="478210" name="Rectangle 2"/>
          <p:cNvSpPr>
            <a:spLocks noGrp="1" noRot="1" noChangeAspect="1" noChangeArrowheads="1" noTextEdit="1"/>
          </p:cNvSpPr>
          <p:nvPr>
            <p:ph type="sldImg"/>
          </p:nvPr>
        </p:nvSpPr>
        <p:spPr>
          <a:ln/>
        </p:spPr>
      </p:sp>
      <p:sp>
        <p:nvSpPr>
          <p:cNvPr id="478211" name="Rectangle 3"/>
          <p:cNvSpPr>
            <a:spLocks noGrp="1" noChangeArrowheads="1"/>
          </p:cNvSpPr>
          <p:nvPr>
            <p:ph type="body" idx="1"/>
          </p:nvPr>
        </p:nvSpPr>
        <p:spPr/>
        <p:txBody>
          <a:bodyPr/>
          <a:lstStyle/>
          <a:p>
            <a:r>
              <a:rPr lang="en-US" altLang="en-US"/>
              <a:t>VIX: Daily implied volatility (from Black-Scholes) of S&amp;P 100 option from Chicago Board Options Exchange</a:t>
            </a:r>
          </a:p>
          <a:p>
            <a:pPr lvl="1"/>
            <a:r>
              <a:rPr lang="en-US" altLang="en-US"/>
              <a:t>Black and Scholes’ model doesn’t consider jumps, but Bates (2000) argues it doesn’t make big difference.</a:t>
            </a:r>
          </a:p>
          <a:p>
            <a:pPr lvl="1"/>
            <a:r>
              <a:rPr lang="en-US" altLang="en-US"/>
              <a:t>We don’t separate volatility and associated risk premium.</a:t>
            </a:r>
          </a:p>
          <a:p>
            <a:r>
              <a:rPr lang="en-US" altLang="en-US"/>
              <a:t>They share the same trend, two spikes.</a:t>
            </a:r>
          </a:p>
          <a:p>
            <a:r>
              <a:rPr lang="en-US" altLang="en-US"/>
              <a:t>VIX is higher than IVOL, because it may incorporate the risk premiums.</a:t>
            </a:r>
          </a:p>
          <a:p>
            <a:r>
              <a:rPr lang="en-US" altLang="en-US"/>
              <a:t>IVOL is more volatile than VIX, and it could be jumps during the day. But this makes the regressions a headache.</a:t>
            </a:r>
          </a:p>
          <a:p>
            <a:r>
              <a:rPr lang="en-US" altLang="en-US"/>
              <a:t>Innovations are calculated as daily changes in the volatility measure. The innovations are highly correlated with each other (45% and 39%), and they all have negative correlations with the market return.</a:t>
            </a:r>
          </a:p>
        </p:txBody>
      </p:sp>
    </p:spTree>
    <p:extLst>
      <p:ext uri="{BB962C8B-B14F-4D97-AF65-F5344CB8AC3E}">
        <p14:creationId xmlns:p14="http://schemas.microsoft.com/office/powerpoint/2010/main" val="33809862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176197-8B84-4A97-87FD-F1DA1CDCC70D}" type="slidenum">
              <a:rPr lang="en-US" altLang="en-US"/>
              <a:pPr/>
              <a:t>20</a:t>
            </a:fld>
            <a:endParaRPr lang="en-US" altLang="en-US"/>
          </a:p>
        </p:txBody>
      </p:sp>
      <p:sp>
        <p:nvSpPr>
          <p:cNvPr id="499714" name="Rectangle 2"/>
          <p:cNvSpPr>
            <a:spLocks noGrp="1" noRot="1" noChangeAspect="1" noChangeArrowheads="1" noTextEdit="1"/>
          </p:cNvSpPr>
          <p:nvPr>
            <p:ph type="sldImg"/>
          </p:nvPr>
        </p:nvSpPr>
        <p:spPr>
          <a:ln/>
        </p:spPr>
      </p:sp>
      <p:sp>
        <p:nvSpPr>
          <p:cNvPr id="499715" name="Rectangle 3"/>
          <p:cNvSpPr>
            <a:spLocks noGrp="1" noChangeArrowheads="1"/>
          </p:cNvSpPr>
          <p:nvPr>
            <p:ph type="body" idx="1"/>
          </p:nvPr>
        </p:nvSpPr>
        <p:spPr/>
        <p:txBody>
          <a:bodyPr/>
          <a:lstStyle/>
          <a:p>
            <a:r>
              <a:rPr lang="en-US" altLang="en-US"/>
              <a:t>Here is the results for portfolios sorted on b(dvix), and the sample period is from January 1986 to December 2000.</a:t>
            </a:r>
          </a:p>
          <a:p>
            <a:r>
              <a:rPr lang="en-US" altLang="en-US"/>
              <a:t>We have five portfolios. Portfolio 1 has the lowest b(dvix), and portfolio 5 has the highest b(dvix).</a:t>
            </a:r>
          </a:p>
          <a:p>
            <a:r>
              <a:rPr lang="en-US" altLang="en-US"/>
              <a:t>From rank1 to 5, the monthly returns are decreasing, and the 5-1 is -1.04% per month, and the big return difference is especially driven by the low return on portfolio 5. So if a firm has high sensitivity to the volatility risk, it will have low returns. This indicates volatility carries a negative risk premium.</a:t>
            </a:r>
          </a:p>
          <a:p>
            <a:r>
              <a:rPr lang="en-US" altLang="en-US"/>
              <a:t>In terms of turnover, the five portfolios are pretty much the same. In terms of market share, the low sensitivity portfolio and high sensitivity portfolio are relatively small, and having high B/M ratios. We also report the Jensen’s alphas from CAPM and FF3, what we find is that the last portfolio and the difference between the last portfolio and first portfolio are very hard to price. </a:t>
            </a:r>
          </a:p>
          <a:p>
            <a:r>
              <a:rPr lang="en-US" altLang="en-US"/>
              <a:t>To summarize, difference in sensitivity to volatility risk does generate return spreads, high sensitivity gives low returns, which indicates a negative volatility risk premium. The return spread can’t be explained by either CAPM or FF3.</a:t>
            </a:r>
          </a:p>
          <a:p>
            <a:endParaRPr lang="en-US" altLang="en-US"/>
          </a:p>
        </p:txBody>
      </p:sp>
    </p:spTree>
    <p:extLst>
      <p:ext uri="{BB962C8B-B14F-4D97-AF65-F5344CB8AC3E}">
        <p14:creationId xmlns:p14="http://schemas.microsoft.com/office/powerpoint/2010/main" val="3437672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0D4BE4-995C-4EBA-93C2-A097C69DBFC2}" type="slidenum">
              <a:rPr lang="en-US" altLang="en-US"/>
              <a:pPr/>
              <a:t>21</a:t>
            </a:fld>
            <a:endParaRPr lang="en-US" altLang="en-US"/>
          </a:p>
        </p:txBody>
      </p:sp>
      <p:sp>
        <p:nvSpPr>
          <p:cNvPr id="683010" name="Rectangle 2"/>
          <p:cNvSpPr>
            <a:spLocks noGrp="1" noRot="1" noChangeAspect="1" noChangeArrowheads="1" noTextEdit="1"/>
          </p:cNvSpPr>
          <p:nvPr>
            <p:ph type="sldImg"/>
          </p:nvPr>
        </p:nvSpPr>
        <p:spPr>
          <a:ln/>
        </p:spPr>
      </p:sp>
      <p:sp>
        <p:nvSpPr>
          <p:cNvPr id="683011" name="Rectangle 3"/>
          <p:cNvSpPr>
            <a:spLocks noGrp="1" noChangeArrowheads="1"/>
          </p:cNvSpPr>
          <p:nvPr>
            <p:ph type="body" idx="1"/>
          </p:nvPr>
        </p:nvSpPr>
        <p:spPr/>
        <p:txBody>
          <a:bodyPr/>
          <a:lstStyle/>
          <a:p>
            <a:r>
              <a:rPr lang="en-US" altLang="en-US" dirty="0">
                <a:sym typeface="Symbol" panose="05050102010706020507" pitchFamily="18" charset="2"/>
              </a:rPr>
              <a:t>We construct tracking portfolios, whose returns are maximally correlated with realized innovations in volatility. Then we can have an idea whether we can have realized premium related to innovations in volatility.</a:t>
            </a:r>
          </a:p>
          <a:p>
            <a:pPr marL="228600" marR="0" lvl="1" indent="-228600" algn="l" defTabSz="914400" rtl="0" eaLnBrk="0" fontAlgn="base" latinLnBrk="0" hangingPunct="0">
              <a:lnSpc>
                <a:spcPct val="100000"/>
              </a:lnSpc>
              <a:spcBef>
                <a:spcPct val="30000"/>
              </a:spcBef>
              <a:spcAft>
                <a:spcPct val="0"/>
              </a:spcAft>
              <a:buClrTx/>
              <a:buSzTx/>
              <a:buFontTx/>
              <a:buAutoNum type="arabicPeriod"/>
              <a:tabLst/>
              <a:defRPr/>
            </a:pPr>
            <a:r>
              <a:rPr lang="en-US" altLang="en-US" dirty="0">
                <a:sym typeface="Symbol" panose="05050102010706020507" pitchFamily="18" charset="2"/>
              </a:rPr>
              <a:t>Daily correlation FVIX and </a:t>
            </a:r>
            <a:r>
              <a:rPr lang="el-GR" altLang="en-US" dirty="0">
                <a:latin typeface="Arial" panose="020B0604020202020204" pitchFamily="34" charset="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VIX = 0.91, monthly correlation=0.70</a:t>
            </a:r>
          </a:p>
          <a:p>
            <a:endParaRPr lang="en-US" altLang="en-US" dirty="0">
              <a:sym typeface="Symbol" panose="05050102010706020507" pitchFamily="18" charset="2"/>
            </a:endParaRPr>
          </a:p>
        </p:txBody>
      </p:sp>
    </p:spTree>
    <p:extLst>
      <p:ext uri="{BB962C8B-B14F-4D97-AF65-F5344CB8AC3E}">
        <p14:creationId xmlns:p14="http://schemas.microsoft.com/office/powerpoint/2010/main" val="2998025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9998EE-4428-4646-9038-5E6C295B8969}" type="slidenum">
              <a:rPr lang="en-US" altLang="en-US"/>
              <a:pPr/>
              <a:t>23</a:t>
            </a:fld>
            <a:endParaRPr lang="en-US" altLang="en-US"/>
          </a:p>
        </p:txBody>
      </p:sp>
      <p:sp>
        <p:nvSpPr>
          <p:cNvPr id="680962" name="Rectangle 2"/>
          <p:cNvSpPr>
            <a:spLocks noGrp="1" noRot="1" noChangeAspect="1" noChangeArrowheads="1" noTextEdit="1"/>
          </p:cNvSpPr>
          <p:nvPr>
            <p:ph type="sldImg"/>
          </p:nvPr>
        </p:nvSpPr>
        <p:spPr>
          <a:ln/>
        </p:spPr>
      </p:sp>
      <p:sp>
        <p:nvSpPr>
          <p:cNvPr id="680963" name="Rectangle 3"/>
          <p:cNvSpPr>
            <a:spLocks noGrp="1" noChangeArrowheads="1"/>
          </p:cNvSpPr>
          <p:nvPr>
            <p:ph type="body" idx="1"/>
          </p:nvPr>
        </p:nvSpPr>
        <p:spPr/>
        <p:txBody>
          <a:bodyPr/>
          <a:lstStyle/>
          <a:p>
            <a:r>
              <a:rPr lang="en-US" altLang="en-US"/>
              <a:t>Results the same using either innovations in AR1 or AR11 for VIX.</a:t>
            </a:r>
          </a:p>
          <a:p>
            <a:r>
              <a:rPr lang="en-US" altLang="en-US"/>
              <a:t>Spread is smaller with 3-month window for the daily data regressions.  FF3 alpha on 5-th quintile portfolio is -0.37% (t=-1.62) vs. -0.53% (t=-2.93).</a:t>
            </a:r>
          </a:p>
          <a:p>
            <a:endParaRPr lang="en-US" altLang="en-US"/>
          </a:p>
        </p:txBody>
      </p:sp>
    </p:spTree>
    <p:extLst>
      <p:ext uri="{BB962C8B-B14F-4D97-AF65-F5344CB8AC3E}">
        <p14:creationId xmlns:p14="http://schemas.microsoft.com/office/powerpoint/2010/main" val="3890307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5F1FBB-276D-452D-B760-8A72717C201B}" type="slidenum">
              <a:rPr lang="en-US" altLang="en-US"/>
              <a:pPr/>
              <a:t>26</a:t>
            </a:fld>
            <a:endParaRPr lang="en-US" altLang="en-US"/>
          </a:p>
        </p:txBody>
      </p:sp>
      <p:sp>
        <p:nvSpPr>
          <p:cNvPr id="663554" name="Rectangle 2"/>
          <p:cNvSpPr>
            <a:spLocks noGrp="1" noRot="1" noChangeAspect="1" noChangeArrowheads="1" noTextEdit="1"/>
          </p:cNvSpPr>
          <p:nvPr>
            <p:ph type="sldImg"/>
          </p:nvPr>
        </p:nvSpPr>
        <p:spPr>
          <a:ln/>
        </p:spPr>
      </p:sp>
      <p:sp>
        <p:nvSpPr>
          <p:cNvPr id="663555" name="Rectangle 3"/>
          <p:cNvSpPr>
            <a:spLocks noGrp="1" noChangeArrowheads="1"/>
          </p:cNvSpPr>
          <p:nvPr>
            <p:ph type="body" idx="1"/>
          </p:nvPr>
        </p:nvSpPr>
        <p:spPr/>
        <p:txBody>
          <a:bodyPr/>
          <a:lstStyle/>
          <a:p>
            <a:pPr>
              <a:buFontTx/>
              <a:buNone/>
            </a:pPr>
            <a:endParaRPr lang="en-US" altLang="en-US"/>
          </a:p>
        </p:txBody>
      </p:sp>
    </p:spTree>
    <p:extLst>
      <p:ext uri="{BB962C8B-B14F-4D97-AF65-F5344CB8AC3E}">
        <p14:creationId xmlns:p14="http://schemas.microsoft.com/office/powerpoint/2010/main" val="2861227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31F288-2E1A-46BD-B24D-E157056278EA}" type="slidenum">
              <a:rPr lang="en-US" altLang="en-US"/>
              <a:pPr/>
              <a:t>27</a:t>
            </a:fld>
            <a:endParaRPr lang="en-US" altLang="en-US"/>
          </a:p>
        </p:txBody>
      </p:sp>
      <p:sp>
        <p:nvSpPr>
          <p:cNvPr id="666626" name="Rectangle 2"/>
          <p:cNvSpPr>
            <a:spLocks noGrp="1" noRot="1" noChangeAspect="1" noChangeArrowheads="1" noTextEdit="1"/>
          </p:cNvSpPr>
          <p:nvPr>
            <p:ph type="sldImg"/>
          </p:nvPr>
        </p:nvSpPr>
        <p:spPr>
          <a:ln/>
        </p:spPr>
      </p:sp>
      <p:sp>
        <p:nvSpPr>
          <p:cNvPr id="666627" name="Rectangle 3"/>
          <p:cNvSpPr>
            <a:spLocks noGrp="1" noChangeArrowheads="1"/>
          </p:cNvSpPr>
          <p:nvPr>
            <p:ph type="body" idx="1"/>
          </p:nvPr>
        </p:nvSpPr>
        <p:spPr/>
        <p:txBody>
          <a:bodyPr/>
          <a:lstStyle/>
          <a:p>
            <a:r>
              <a:rPr lang="en-US" altLang="en-US"/>
              <a:t>-1% per year</a:t>
            </a:r>
          </a:p>
          <a:p>
            <a:r>
              <a:rPr lang="en-US" altLang="en-US"/>
              <a:t>Look at loadings of portfolio 1 and 5, CVIX can explain most of the 1.04% spread.</a:t>
            </a:r>
          </a:p>
        </p:txBody>
      </p:sp>
    </p:spTree>
    <p:extLst>
      <p:ext uri="{BB962C8B-B14F-4D97-AF65-F5344CB8AC3E}">
        <p14:creationId xmlns:p14="http://schemas.microsoft.com/office/powerpoint/2010/main" val="2218818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456AE1-49CC-4FCE-8298-40EC4390237B}" type="slidenum">
              <a:rPr lang="en-US" altLang="en-US"/>
              <a:pPr/>
              <a:t>28</a:t>
            </a:fld>
            <a:endParaRPr lang="en-US" altLang="en-US"/>
          </a:p>
        </p:txBody>
      </p:sp>
      <p:sp>
        <p:nvSpPr>
          <p:cNvPr id="544770" name="Rectangle 2"/>
          <p:cNvSpPr>
            <a:spLocks noGrp="1" noRot="1" noChangeAspect="1" noChangeArrowheads="1" noTextEdit="1"/>
          </p:cNvSpPr>
          <p:nvPr>
            <p:ph type="sldImg"/>
          </p:nvPr>
        </p:nvSpPr>
        <p:spPr>
          <a:ln/>
        </p:spPr>
      </p:sp>
      <p:sp>
        <p:nvSpPr>
          <p:cNvPr id="544771" name="Rectangle 3"/>
          <p:cNvSpPr>
            <a:spLocks noGrp="1" noChangeArrowheads="1"/>
          </p:cNvSpPr>
          <p:nvPr>
            <p:ph type="body" idx="1"/>
          </p:nvPr>
        </p:nvSpPr>
        <p:spPr/>
        <p:txBody>
          <a:bodyPr/>
          <a:lstStyle/>
          <a:p>
            <a:r>
              <a:rPr lang="en-US" altLang="en-US"/>
              <a:t>What is the idiosyncratic volatility? We can put a firm’s return this way, R=E®+e, E® is specified under some benchmark model, and the e is the idiosyncratic error. Our idiosyncratic volatility is the volatility of e. </a:t>
            </a:r>
          </a:p>
          <a:p>
            <a:r>
              <a:rPr lang="en-US" altLang="en-US"/>
              <a:t>The question we ask is should this idiosyncratic volatility be priced?</a:t>
            </a:r>
          </a:p>
          <a:p>
            <a:r>
              <a:rPr lang="en-US" altLang="en-US"/>
              <a:t>The common sense answer will be, if the model is correct, and the market is perfect, investor can diversify away the idiosyncratic error, and idiosyncratic volatility shouldn’t matter for cross-sectional returns. </a:t>
            </a:r>
          </a:p>
          <a:p>
            <a:r>
              <a:rPr lang="en-US" altLang="en-US"/>
              <a:t>This argument has the following caveats.</a:t>
            </a:r>
          </a:p>
          <a:p>
            <a:r>
              <a:rPr lang="en-US" altLang="en-US"/>
              <a:t>There are papers discussing the second and third issue. For instance, Merton (1987) paper point out that if the investor can’t fully diversify the idiosyncratic risk, they would demand higher returns. There are also behavioral papers, like Huang and Barberis, arguing that investor require higher return for higher volatility. </a:t>
            </a:r>
          </a:p>
          <a:p>
            <a:r>
              <a:rPr lang="en-US" altLang="en-US"/>
              <a:t>What we are going to do first is to figure out whether idiosyncratic volatility matters at all for cross-sectional returns, and then we discuss possible explanations.</a:t>
            </a:r>
          </a:p>
        </p:txBody>
      </p:sp>
    </p:spTree>
    <p:extLst>
      <p:ext uri="{BB962C8B-B14F-4D97-AF65-F5344CB8AC3E}">
        <p14:creationId xmlns:p14="http://schemas.microsoft.com/office/powerpoint/2010/main" val="24226761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A5CE21-C518-4AE2-A382-1281CC518EE2}" type="slidenum">
              <a:rPr lang="en-US" altLang="en-US"/>
              <a:pPr/>
              <a:t>29</a:t>
            </a:fld>
            <a:endParaRPr lang="en-US" altLang="en-US"/>
          </a:p>
        </p:txBody>
      </p:sp>
      <p:sp>
        <p:nvSpPr>
          <p:cNvPr id="529410" name="Rectangle 2"/>
          <p:cNvSpPr>
            <a:spLocks noGrp="1" noRot="1" noChangeAspect="1" noChangeArrowheads="1" noTextEdit="1"/>
          </p:cNvSpPr>
          <p:nvPr>
            <p:ph type="sldImg"/>
          </p:nvPr>
        </p:nvSpPr>
        <p:spPr>
          <a:ln/>
        </p:spPr>
      </p:sp>
      <p:sp>
        <p:nvSpPr>
          <p:cNvPr id="529411" name="Rectangle 3"/>
          <p:cNvSpPr>
            <a:spLocks noGrp="1" noChangeArrowheads="1"/>
          </p:cNvSpPr>
          <p:nvPr>
            <p:ph type="body" idx="1"/>
          </p:nvPr>
        </p:nvSpPr>
        <p:spPr/>
        <p:txBody>
          <a:bodyPr/>
          <a:lstStyle/>
          <a:p>
            <a:r>
              <a:rPr lang="en-US" altLang="en-US"/>
              <a:t>In this paper, we choose CAPM and FF3 to be the benchmark model to calculate the idiosyncratic volatility. I will mainly discuss the results using FF3.</a:t>
            </a:r>
          </a:p>
          <a:p>
            <a:r>
              <a:rPr lang="en-US" altLang="en-US"/>
              <a:t>Of course, we are under the critique of model dependence. But in fact, we find the results is pretty robust to the choice of existing models.</a:t>
            </a:r>
          </a:p>
        </p:txBody>
      </p:sp>
    </p:spTree>
    <p:extLst>
      <p:ext uri="{BB962C8B-B14F-4D97-AF65-F5344CB8AC3E}">
        <p14:creationId xmlns:p14="http://schemas.microsoft.com/office/powerpoint/2010/main" val="2638574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EFC409-6ED4-45E1-8131-504D06A96877}" type="slidenum">
              <a:rPr lang="en-US" altLang="en-US"/>
              <a:pPr/>
              <a:t>30</a:t>
            </a:fld>
            <a:endParaRPr lang="en-US" altLang="en-US"/>
          </a:p>
        </p:txBody>
      </p:sp>
      <p:sp>
        <p:nvSpPr>
          <p:cNvPr id="532482" name="Rectangle 2"/>
          <p:cNvSpPr>
            <a:spLocks noGrp="1" noRot="1" noChangeAspect="1" noChangeArrowheads="1" noTextEdit="1"/>
          </p:cNvSpPr>
          <p:nvPr>
            <p:ph type="sldImg"/>
          </p:nvPr>
        </p:nvSpPr>
        <p:spPr>
          <a:ln/>
        </p:spPr>
      </p:sp>
      <p:sp>
        <p:nvSpPr>
          <p:cNvPr id="532483" name="Rectangle 3"/>
          <p:cNvSpPr>
            <a:spLocks noGrp="1" noChangeArrowheads="1"/>
          </p:cNvSpPr>
          <p:nvPr>
            <p:ph type="body" idx="1"/>
          </p:nvPr>
        </p:nvSpPr>
        <p:spPr/>
        <p:txBody>
          <a:bodyPr/>
          <a:lstStyle/>
          <a:p>
            <a:r>
              <a:rPr lang="en-US" altLang="en-US"/>
              <a:t>Again, now we sort firms into five portfolios according to their idiosyncratic volatilities. The first portfolio has the lowest idio. vol, and the last portfolio has the highest idio. vol. </a:t>
            </a:r>
          </a:p>
          <a:p>
            <a:r>
              <a:rPr lang="en-US" altLang="en-US"/>
              <a:t>Now we don’t have a monotonic pattern, the first three portfolios have roughly the same returns, and the last two portfolios have lower returns. The return difference is 1.06% per month. So first of all, we know that idio volatility does matter for cross-sectional returns.</a:t>
            </a:r>
          </a:p>
          <a:p>
            <a:r>
              <a:rPr lang="en-US" altLang="en-US"/>
              <a:t>But in terms of the pattern, remember Merton’s paper argue that firms with high idio vol should have higher returns, our result is just the opposite. </a:t>
            </a:r>
          </a:p>
          <a:p>
            <a:r>
              <a:rPr lang="en-US" altLang="en-US"/>
              <a:t>Then in terms of turnover, first and last portfolio are less traded. The last portfolio contains particularly small firms and high B/M firms. This is also contradictory to FF3. Because according to FF3, small firms with high BM should have higher returns. So no wander that the alphas from CAPM and FF3 are pretty big for the last portfolio. </a:t>
            </a:r>
          </a:p>
          <a:p>
            <a:r>
              <a:rPr lang="en-US" altLang="en-US"/>
              <a:t>Since the return spread is mainly driven by the last portfolio, and it is pretty small, we conduct several robustness checks.</a:t>
            </a:r>
          </a:p>
        </p:txBody>
      </p:sp>
    </p:spTree>
    <p:extLst>
      <p:ext uri="{BB962C8B-B14F-4D97-AF65-F5344CB8AC3E}">
        <p14:creationId xmlns:p14="http://schemas.microsoft.com/office/powerpoint/2010/main" val="2987110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A1FEBD-F8BB-4D4B-8CE1-E491885CEEB2}" type="slidenum">
              <a:rPr lang="en-US" altLang="en-US"/>
              <a:pPr/>
              <a:t>32</a:t>
            </a:fld>
            <a:endParaRPr lang="en-US" altLang="en-US"/>
          </a:p>
        </p:txBody>
      </p:sp>
      <p:sp>
        <p:nvSpPr>
          <p:cNvPr id="616450" name="Rectangle 2"/>
          <p:cNvSpPr>
            <a:spLocks noGrp="1" noRot="1" noChangeAspect="1" noChangeArrowheads="1" noTextEdit="1"/>
          </p:cNvSpPr>
          <p:nvPr>
            <p:ph type="sldImg"/>
          </p:nvPr>
        </p:nvSpPr>
        <p:spPr>
          <a:ln/>
        </p:spPr>
      </p:sp>
      <p:sp>
        <p:nvSpPr>
          <p:cNvPr id="616451" name="Rectangle 3"/>
          <p:cNvSpPr>
            <a:spLocks noGrp="1" noChangeArrowheads="1"/>
          </p:cNvSpPr>
          <p:nvPr>
            <p:ph type="body" idx="1"/>
          </p:nvPr>
        </p:nvSpPr>
        <p:spPr/>
        <p:txBody>
          <a:bodyPr/>
          <a:lstStyle/>
          <a:p>
            <a:r>
              <a:rPr lang="en-US" altLang="en-US"/>
              <a:t>The first concern was raised by Swami, who is not here today. He said probably the results are driven by the tiny tech firms listed on Nasdaq. So we take our Nasdaq firms, we only use NYSE firms. By using only NYSE firms, the spread is getting smaller somehow, but it is still big and significant.</a:t>
            </a:r>
          </a:p>
          <a:p>
            <a:r>
              <a:rPr lang="en-US" altLang="en-US"/>
              <a:t>In terms of size, we control for that by doing double sort. We first sort on size and then on idio vol. What we found is that the spread is actually the biggest for the mid-sized firms. So controlling for size doesn’t solve our problem.  </a:t>
            </a:r>
          </a:p>
          <a:p>
            <a:r>
              <a:rPr lang="en-US" altLang="en-US"/>
              <a:t>In terms of B/M, as we already saw, last quintile has the highest BM. We doublesorted. We first sort on B/M, then sort on idio. vol, and the pattern is still there and strong.</a:t>
            </a:r>
          </a:p>
          <a:p>
            <a:r>
              <a:rPr lang="en-US" altLang="en-US"/>
              <a:t>Since small firms are usually linked with low liquidity and low volume, we also check those.</a:t>
            </a:r>
          </a:p>
          <a:p>
            <a:r>
              <a:rPr lang="en-US" altLang="en-US"/>
              <a:t>Volatility is pretty consistent. So if the firms have high volatility and low return this period, it will probably continue to do that next period. So we also check the momentum. </a:t>
            </a:r>
          </a:p>
          <a:p>
            <a:r>
              <a:rPr lang="en-US" altLang="en-US"/>
              <a:t>In the end, we examine analyst forecast dispersion. As in Diether, Malloy and Schbina’s paper, firms with high analyst forecast dispersion should have higher returns, because those firms have higher uncertainties associated with them. This is actually quite in line with our results. So we did a double sort on that, but we still have a return spread of 0.4% per month. </a:t>
            </a:r>
          </a:p>
          <a:p>
            <a:r>
              <a:rPr lang="en-US" altLang="en-US"/>
              <a:t>Note that this one in fact achieves the smallest alpha. We did check whether our volatility effect explains their dispersion effect. Quite strikingly, if we control for the idio. vol, there is no spread along the dispersion dimension. </a:t>
            </a:r>
          </a:p>
          <a:p>
            <a:r>
              <a:rPr lang="en-US" altLang="en-US"/>
              <a:t>To summarize, we find our results are pretty robust and they are different from other results. So next, we try standard risk stories.</a:t>
            </a:r>
          </a:p>
          <a:p>
            <a:endParaRPr lang="en-US" altLang="en-US"/>
          </a:p>
        </p:txBody>
      </p:sp>
    </p:spTree>
    <p:extLst>
      <p:ext uri="{BB962C8B-B14F-4D97-AF65-F5344CB8AC3E}">
        <p14:creationId xmlns:p14="http://schemas.microsoft.com/office/powerpoint/2010/main" val="944866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2A8922-9978-4938-B938-F02B63BF7D39}" type="slidenum">
              <a:rPr lang="en-US" altLang="en-US"/>
              <a:pPr/>
              <a:t>33</a:t>
            </a:fld>
            <a:endParaRPr lang="en-US" altLang="en-US"/>
          </a:p>
        </p:txBody>
      </p:sp>
      <p:sp>
        <p:nvSpPr>
          <p:cNvPr id="619522" name="Rectangle 2"/>
          <p:cNvSpPr>
            <a:spLocks noGrp="1" noRot="1" noChangeAspect="1" noChangeArrowheads="1" noTextEdit="1"/>
          </p:cNvSpPr>
          <p:nvPr>
            <p:ph type="sldImg"/>
          </p:nvPr>
        </p:nvSpPr>
        <p:spPr>
          <a:ln/>
        </p:spPr>
      </p:sp>
      <p:sp>
        <p:nvSpPr>
          <p:cNvPr id="619523" name="Rectangle 3"/>
          <p:cNvSpPr>
            <a:spLocks noGrp="1" noChangeArrowheads="1"/>
          </p:cNvSpPr>
          <p:nvPr>
            <p:ph type="body" idx="1"/>
          </p:nvPr>
        </p:nvSpPr>
        <p:spPr/>
        <p:txBody>
          <a:bodyPr/>
          <a:lstStyle/>
          <a:p>
            <a:r>
              <a:rPr lang="en-US" altLang="en-US"/>
              <a:t>We first try the behavioral explanations. </a:t>
            </a:r>
          </a:p>
          <a:p>
            <a:r>
              <a:rPr lang="en-US" altLang="en-US"/>
              <a:t>As you see, to test this, we need to check the effect over different horizons.</a:t>
            </a:r>
          </a:p>
        </p:txBody>
      </p:sp>
    </p:spTree>
    <p:extLst>
      <p:ext uri="{BB962C8B-B14F-4D97-AF65-F5344CB8AC3E}">
        <p14:creationId xmlns:p14="http://schemas.microsoft.com/office/powerpoint/2010/main" val="3834150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444660-94CB-4A51-A829-D1C545C22365}" type="slidenum">
              <a:rPr lang="en-US" altLang="en-US"/>
              <a:pPr/>
              <a:t>34</a:t>
            </a:fld>
            <a:endParaRPr lang="en-US" altLang="en-US"/>
          </a:p>
        </p:txBody>
      </p:sp>
      <p:sp>
        <p:nvSpPr>
          <p:cNvPr id="617474" name="Rectangle 2"/>
          <p:cNvSpPr>
            <a:spLocks noGrp="1" noRot="1" noChangeAspect="1" noChangeArrowheads="1" noTextEdit="1"/>
          </p:cNvSpPr>
          <p:nvPr>
            <p:ph type="sldImg"/>
          </p:nvPr>
        </p:nvSpPr>
        <p:spPr>
          <a:ln/>
        </p:spPr>
      </p:sp>
      <p:sp>
        <p:nvSpPr>
          <p:cNvPr id="617475" name="Rectangle 3"/>
          <p:cNvSpPr>
            <a:spLocks noGrp="1" noChangeArrowheads="1"/>
          </p:cNvSpPr>
          <p:nvPr>
            <p:ph type="body" idx="1"/>
          </p:nvPr>
        </p:nvSpPr>
        <p:spPr/>
        <p:txBody>
          <a:bodyPr/>
          <a:lstStyle/>
          <a:p>
            <a:r>
              <a:rPr lang="en-US" altLang="en-US"/>
              <a:t>So we form portfolios over different horizons.</a:t>
            </a:r>
          </a:p>
          <a:p>
            <a:r>
              <a:rPr lang="en-US" altLang="en-US"/>
              <a:t>The first digit is forming period, over which we estimate the volatilities.</a:t>
            </a:r>
          </a:p>
          <a:p>
            <a:r>
              <a:rPr lang="en-US" altLang="en-US"/>
              <a:t>The second digit is how long we wait between forming period and holding period.</a:t>
            </a:r>
          </a:p>
          <a:p>
            <a:r>
              <a:rPr lang="en-US" altLang="en-US"/>
              <a:t>The third digit is the holding period, we form portfolios and we hold on to it.</a:t>
            </a:r>
          </a:p>
          <a:p>
            <a:r>
              <a:rPr lang="en-US" altLang="en-US"/>
              <a:t>The first strategy is quite close to what we have discussed before.</a:t>
            </a:r>
          </a:p>
          <a:p>
            <a:r>
              <a:rPr lang="en-US" altLang="en-US"/>
              <a:t>The second strategy use one month data to estimate the volatility, then hold it for 12 month. If there is a over-reaction or under-reaction, it will go away over 12 month, and that is not the case.</a:t>
            </a:r>
          </a:p>
          <a:p>
            <a:r>
              <a:rPr lang="en-US" altLang="en-US"/>
              <a:t>The third strategy use 12 month data to estimate the volatility, so we can reduce the impact of short-run effect, but the pattern is still there.</a:t>
            </a:r>
          </a:p>
          <a:p>
            <a:r>
              <a:rPr lang="en-US" altLang="en-US"/>
              <a:t>So we think the behavioral explanations don’t work well.</a:t>
            </a:r>
          </a:p>
        </p:txBody>
      </p:sp>
    </p:spTree>
    <p:extLst>
      <p:ext uri="{BB962C8B-B14F-4D97-AF65-F5344CB8AC3E}">
        <p14:creationId xmlns:p14="http://schemas.microsoft.com/office/powerpoint/2010/main" val="39370825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0BC833-C757-4812-9D22-3268EBDD2BF7}" type="slidenum">
              <a:rPr lang="en-US" altLang="en-US"/>
              <a:pPr/>
              <a:t>35</a:t>
            </a:fld>
            <a:endParaRPr lang="en-US" altLang="en-US"/>
          </a:p>
        </p:txBody>
      </p:sp>
      <p:sp>
        <p:nvSpPr>
          <p:cNvPr id="621570" name="Rectangle 2"/>
          <p:cNvSpPr>
            <a:spLocks noGrp="1" noRot="1" noChangeAspect="1" noChangeArrowheads="1" noTextEdit="1"/>
          </p:cNvSpPr>
          <p:nvPr>
            <p:ph type="sldImg"/>
          </p:nvPr>
        </p:nvSpPr>
        <p:spPr>
          <a:ln/>
        </p:spPr>
      </p:sp>
      <p:sp>
        <p:nvSpPr>
          <p:cNvPr id="621571" name="Rectangle 3"/>
          <p:cNvSpPr>
            <a:spLocks noGrp="1" noChangeArrowheads="1"/>
          </p:cNvSpPr>
          <p:nvPr>
            <p:ph type="body" idx="1"/>
          </p:nvPr>
        </p:nvSpPr>
        <p:spPr/>
        <p:txBody>
          <a:bodyPr/>
          <a:lstStyle/>
          <a:p>
            <a:r>
              <a:rPr lang="en-US" altLang="en-US"/>
              <a:t>The last thing we try is subperiods. </a:t>
            </a:r>
          </a:p>
          <a:p>
            <a:r>
              <a:rPr lang="en-US" altLang="en-US"/>
              <a:t>We check whether the effect is over particular period, bull or bea, recession or expansion, ...</a:t>
            </a:r>
          </a:p>
          <a:p>
            <a:r>
              <a:rPr lang="en-US" altLang="en-US"/>
              <a:t>It turns out we just couldn’t go away. </a:t>
            </a:r>
          </a:p>
          <a:p>
            <a:r>
              <a:rPr lang="en-US" altLang="en-US"/>
              <a:t>So it is a puzzle for us, why the idiosyncratic vol matters for cross-sectional returns, we are looking forward to new explanations or new models.</a:t>
            </a:r>
          </a:p>
        </p:txBody>
      </p:sp>
    </p:spTree>
    <p:extLst>
      <p:ext uri="{BB962C8B-B14F-4D97-AF65-F5344CB8AC3E}">
        <p14:creationId xmlns:p14="http://schemas.microsoft.com/office/powerpoint/2010/main" val="34922262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1C1AE9-3535-4993-A71F-F2A0713C7EEA}" type="slidenum">
              <a:rPr lang="en-US" altLang="en-US"/>
              <a:pPr/>
              <a:t>36</a:t>
            </a:fld>
            <a:endParaRPr lang="en-US" altLang="en-US"/>
          </a:p>
        </p:txBody>
      </p:sp>
      <p:sp>
        <p:nvSpPr>
          <p:cNvPr id="625666" name="Rectangle 2"/>
          <p:cNvSpPr>
            <a:spLocks noGrp="1" noRot="1" noChangeAspect="1" noChangeArrowheads="1" noTextEdit="1"/>
          </p:cNvSpPr>
          <p:nvPr>
            <p:ph type="sldImg"/>
          </p:nvPr>
        </p:nvSpPr>
        <p:spPr>
          <a:ln/>
        </p:spPr>
      </p:sp>
      <p:sp>
        <p:nvSpPr>
          <p:cNvPr id="625667" name="Rectangle 3"/>
          <p:cNvSpPr>
            <a:spLocks noGrp="1" noChangeArrowheads="1"/>
          </p:cNvSpPr>
          <p:nvPr>
            <p:ph type="body" idx="1"/>
          </p:nvPr>
        </p:nvSpPr>
        <p:spPr/>
        <p:txBody>
          <a:bodyPr/>
          <a:lstStyle/>
          <a:p>
            <a:r>
              <a:rPr lang="en-US" altLang="en-US"/>
              <a:t>Theoretically, </a:t>
            </a:r>
          </a:p>
          <a:p>
            <a:pPr lvl="1"/>
            <a:r>
              <a:rPr lang="en-US" altLang="en-US"/>
              <a:t>Campbell and Chen, people want to hedge away high volatility risk, which is associated with low returns</a:t>
            </a:r>
          </a:p>
          <a:p>
            <a:pPr lvl="1"/>
            <a:r>
              <a:rPr lang="en-US" altLang="en-US"/>
              <a:t>Harvey and Siddique, high return with high volatility means positive coskewness, it is expensive, because people might have preference over coskewness.</a:t>
            </a:r>
          </a:p>
          <a:p>
            <a:pPr lvl="1"/>
            <a:r>
              <a:rPr lang="en-US" altLang="en-US"/>
              <a:t>Bakshi and Kapadia, downside risk</a:t>
            </a:r>
          </a:p>
          <a:p>
            <a:pPr lvl="1">
              <a:buFontTx/>
              <a:buNone/>
            </a:pPr>
            <a:endParaRPr lang="en-US" altLang="en-US"/>
          </a:p>
        </p:txBody>
      </p:sp>
    </p:spTree>
    <p:extLst>
      <p:ext uri="{BB962C8B-B14F-4D97-AF65-F5344CB8AC3E}">
        <p14:creationId xmlns:p14="http://schemas.microsoft.com/office/powerpoint/2010/main" val="2569686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US"/>
          </a:p>
        </p:txBody>
      </p:sp>
      <p:sp>
        <p:nvSpPr>
          <p:cNvPr id="122882"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12288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p:txBody>
          <a:bodyPr/>
          <a:lstStyle>
            <a:lvl1pPr>
              <a:defRPr/>
            </a:lvl1pPr>
          </a:lstStyle>
          <a:p>
            <a:pPr>
              <a:defRPr/>
            </a:pPr>
            <a:fld id="{81A0D209-73B9-4BF8-BC1D-BE4AB6CE906E}"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b="1"/>
            </a:lvl1pPr>
          </a:lstStyle>
          <a:p>
            <a:r>
              <a:rPr lang="en-US" dirty="0"/>
              <a:t>Click to edit Master title style</a:t>
            </a:r>
          </a:p>
        </p:txBody>
      </p:sp>
      <p:sp>
        <p:nvSpPr>
          <p:cNvPr id="3" name="Content Placeholder 2"/>
          <p:cNvSpPr>
            <a:spLocks noGrp="1"/>
          </p:cNvSpPr>
          <p:nvPr>
            <p:ph idx="1"/>
          </p:nvPr>
        </p:nvSpPr>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63FD403-76C1-42C8-ACBB-2D07262FC14A}"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969EF43C-4D06-4F1E-AC16-88A34303270D}"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D2AACBDD-F4C5-4CD8-A728-2C20F9D9A3A1}"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09D7BBDB-4753-4FB1-98F2-7697D7A350E8}"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9F93618F-91F7-42F7-B77F-29E12DA950F8}"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245D7909-19AB-4E6A-A548-E6F67C3732A9}"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C12C31FF-E866-4B36-BF2B-61AC7A6CA92C}"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77564B63-4791-457E-BF61-A6D8153AF59E}"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FC79E24-515A-4BCF-85F2-41275908CD09}"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43389184-2B4D-4E2D-B079-E37FBBC42C9A}"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8E77569-4F13-44DF-A6CF-97FB7365F520}"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76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F9B2D81C-CB1C-4F2D-8733-816F0F29DE1D}" type="slidenum">
              <a:rPr lang="en-US" altLang="en-US"/>
              <a:pPr/>
              <a:t>‹#›</a:t>
            </a:fld>
            <a:endParaRPr lang="en-US" altLang="en-US"/>
          </a:p>
        </p:txBody>
      </p:sp>
    </p:spTree>
    <p:extLst>
      <p:ext uri="{BB962C8B-B14F-4D97-AF65-F5344CB8AC3E}">
        <p14:creationId xmlns:p14="http://schemas.microsoft.com/office/powerpoint/2010/main" val="9486716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76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AA376174-3CA6-462E-B643-5A7A607E20EB}" type="slidenum">
              <a:rPr lang="en-US" altLang="en-US"/>
              <a:pPr/>
              <a:t>‹#›</a:t>
            </a:fld>
            <a:endParaRPr lang="en-US" altLang="en-US"/>
          </a:p>
        </p:txBody>
      </p:sp>
    </p:spTree>
    <p:extLst>
      <p:ext uri="{BB962C8B-B14F-4D97-AF65-F5344CB8AC3E}">
        <p14:creationId xmlns:p14="http://schemas.microsoft.com/office/powerpoint/2010/main" val="127897948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77724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3962400"/>
            <a:ext cx="77724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BB191DA7-EAC9-4F7B-AF34-4F230CB2200A}" type="slidenum">
              <a:rPr lang="en-US" altLang="en-US"/>
              <a:pPr/>
              <a:t>‹#›</a:t>
            </a:fld>
            <a:endParaRPr lang="en-US" altLang="en-US"/>
          </a:p>
        </p:txBody>
      </p:sp>
    </p:spTree>
    <p:extLst>
      <p:ext uri="{BB962C8B-B14F-4D97-AF65-F5344CB8AC3E}">
        <p14:creationId xmlns:p14="http://schemas.microsoft.com/office/powerpoint/2010/main" val="156516420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09535161-ACE8-4D42-8FE0-8DA3E03B2ABE}" type="slidenum">
              <a:rPr lang="en-US" altLang="en-US"/>
              <a:pPr/>
              <a:t>‹#›</a:t>
            </a:fld>
            <a:endParaRPr lang="en-US" altLang="en-US"/>
          </a:p>
        </p:txBody>
      </p:sp>
    </p:spTree>
    <p:extLst>
      <p:ext uri="{BB962C8B-B14F-4D97-AF65-F5344CB8AC3E}">
        <p14:creationId xmlns:p14="http://schemas.microsoft.com/office/powerpoint/2010/main" val="3358874322"/>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p:cNvSpPr>
            <a:spLocks noGrp="1"/>
          </p:cNvSpPr>
          <p:nvPr>
            <p:ph type="dt" sz="half" idx="10"/>
          </p:nvPr>
        </p:nvSpPr>
        <p:spPr/>
        <p:txBody>
          <a:bodyPr/>
          <a:lstStyle/>
          <a:p>
            <a:fld id="{313A39BA-FB70-4A9B-9BA8-FE4183E3BF9A}" type="datetime1">
              <a:rPr lang="zh-CN" altLang="en-US" smtClean="0"/>
              <a:pPr/>
              <a:t>2023-11-15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4040598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lvl1pPr>
              <a:lnSpc>
                <a:spcPct val="110000"/>
              </a:lnSpc>
              <a:defRPr sz="3200">
                <a:latin typeface="Times New Roman" panose="02020603050405020304" pitchFamily="18" charset="0"/>
                <a:ea typeface="楷体" panose="02010609060101010101" pitchFamily="49" charset="-122"/>
                <a:cs typeface="Times New Roman" panose="02020603050405020304" pitchFamily="18" charset="0"/>
              </a:defRPr>
            </a:lvl1pPr>
            <a:lvl2pPr>
              <a:lnSpc>
                <a:spcPct val="110000"/>
              </a:lnSpc>
              <a:defRPr sz="2800">
                <a:latin typeface="Times New Roman" panose="02020603050405020304" pitchFamily="18" charset="0"/>
                <a:ea typeface="楷体" panose="02010609060101010101" pitchFamily="49" charset="-122"/>
                <a:cs typeface="Times New Roman" panose="02020603050405020304" pitchFamily="18" charset="0"/>
              </a:defRPr>
            </a:lvl2pPr>
            <a:lvl3pPr>
              <a:lnSpc>
                <a:spcPct val="110000"/>
              </a:lnSpc>
              <a:defRPr sz="2000">
                <a:latin typeface="Times New Roman" panose="02020603050405020304" pitchFamily="18" charset="0"/>
                <a:ea typeface="楷体" panose="02010609060101010101" pitchFamily="49" charset="-122"/>
                <a:cs typeface="Times New Roman" panose="02020603050405020304" pitchFamily="18" charset="0"/>
              </a:defRPr>
            </a:lvl3pPr>
            <a:lvl4pPr>
              <a:lnSpc>
                <a:spcPct val="110000"/>
              </a:lnSpc>
              <a:defRPr sz="1800">
                <a:latin typeface="Times New Roman" panose="02020603050405020304" pitchFamily="18" charset="0"/>
                <a:ea typeface="楷体" panose="02010609060101010101" pitchFamily="49" charset="-122"/>
                <a:cs typeface="Times New Roman" panose="02020603050405020304" pitchFamily="18" charset="0"/>
              </a:defRPr>
            </a:lvl4pPr>
            <a:lvl5pPr>
              <a:lnSpc>
                <a:spcPct val="110000"/>
              </a:lnSpc>
              <a:defRPr sz="18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8" name="直接连接符 7"/>
          <p:cNvCxnSpPr/>
          <p:nvPr userDrawn="1"/>
        </p:nvCxnSpPr>
        <p:spPr>
          <a:xfrm>
            <a:off x="628650" y="1391237"/>
            <a:ext cx="3002213" cy="4426"/>
          </a:xfrm>
          <a:prstGeom prst="line">
            <a:avLst/>
          </a:prstGeom>
          <a:ln w="28575"/>
        </p:spPr>
        <p:style>
          <a:lnRef idx="1">
            <a:schemeClr val="accent5"/>
          </a:lnRef>
          <a:fillRef idx="0">
            <a:schemeClr val="accent5"/>
          </a:fillRef>
          <a:effectRef idx="0">
            <a:schemeClr val="accent5"/>
          </a:effectRef>
          <a:fontRef idx="minor">
            <a:schemeClr val="tx1"/>
          </a:fontRef>
        </p:style>
      </p:cxnSp>
      <p:sp>
        <p:nvSpPr>
          <p:cNvPr id="10" name="标题 9"/>
          <p:cNvSpPr>
            <a:spLocks noGrp="1"/>
          </p:cNvSpPr>
          <p:nvPr>
            <p:ph type="title"/>
          </p:nvPr>
        </p:nvSpPr>
        <p:spPr/>
        <p:txBody>
          <a:bodyPr>
            <a:normAutofit/>
          </a:bodyPr>
          <a:lstStyle>
            <a:lvl1pPr>
              <a:defRPr sz="4400">
                <a:latin typeface="楷体" panose="02010609060101010101" pitchFamily="49" charset="-122"/>
                <a:ea typeface="楷体" panose="02010609060101010101" pitchFamily="49" charset="-122"/>
              </a:defRPr>
            </a:lvl1pPr>
          </a:lstStyle>
          <a:p>
            <a:r>
              <a:rPr lang="zh-CN" altLang="en-US" dirty="0"/>
              <a:t>单击此处编辑母版标题样式</a:t>
            </a:r>
          </a:p>
        </p:txBody>
      </p:sp>
      <p:sp>
        <p:nvSpPr>
          <p:cNvPr id="11" name="日期占位符 10"/>
          <p:cNvSpPr>
            <a:spLocks noGrp="1"/>
          </p:cNvSpPr>
          <p:nvPr>
            <p:ph type="dt" sz="half" idx="10"/>
          </p:nvPr>
        </p:nvSpPr>
        <p:spPr/>
        <p:txBody>
          <a:bodyPr/>
          <a:lstStyle/>
          <a:p>
            <a:fld id="{A05F126E-3794-4A67-9751-76DBFF34F24C}" type="datetime1">
              <a:rPr lang="zh-CN" altLang="en-US" smtClean="0"/>
              <a:pPr/>
              <a:t>2023-11-15</a:t>
            </a:fld>
            <a:endParaRPr lang="zh-CN" altLang="en-US"/>
          </a:p>
        </p:txBody>
      </p:sp>
      <p:sp>
        <p:nvSpPr>
          <p:cNvPr id="12" name="页脚占位符 11"/>
          <p:cNvSpPr>
            <a:spLocks noGrp="1"/>
          </p:cNvSpPr>
          <p:nvPr>
            <p:ph type="ftr" sz="quarter" idx="11"/>
          </p:nvPr>
        </p:nvSpPr>
        <p:spPr/>
        <p:txBody>
          <a:bodyPr/>
          <a:lstStyle/>
          <a:p>
            <a:endParaRPr lang="zh-CN" altLang="en-US"/>
          </a:p>
        </p:txBody>
      </p:sp>
      <p:sp>
        <p:nvSpPr>
          <p:cNvPr id="13" name="灯片编号占位符 12"/>
          <p:cNvSpPr>
            <a:spLocks noGrp="1"/>
          </p:cNvSpPr>
          <p:nvPr>
            <p:ph type="sldNum" sz="quarter" idx="12"/>
          </p:nvPr>
        </p:nvSpPr>
        <p:spPr/>
        <p:txBody>
          <a:bodyPr/>
          <a:lstStyle>
            <a:lvl1pPr>
              <a:defRPr sz="2000">
                <a:solidFill>
                  <a:schemeClr val="tx1"/>
                </a:solidFill>
                <a:latin typeface="楷体" panose="02010609060101010101" pitchFamily="49" charset="-122"/>
                <a:ea typeface="楷体" panose="02010609060101010101" pitchFamily="49" charset="-122"/>
              </a:defRPr>
            </a:lvl1p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4839853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50BE912C-6813-4866-9E70-7744921D3EA3}" type="datetime1">
              <a:rPr lang="zh-CN" altLang="en-US" smtClean="0"/>
              <a:pPr/>
              <a:t>2023-11-15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9390848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CD633D-9783-4122-998D-F2F20E3F4FB3}" type="datetime1">
              <a:rPr lang="zh-CN" altLang="en-US" smtClean="0"/>
              <a:pPr/>
              <a:t>2023-11-15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1165198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BADEC37-8992-4087-8CFF-D9C58924DE32}" type="datetime1">
              <a:rPr lang="zh-CN" altLang="en-US" smtClean="0"/>
              <a:pPr/>
              <a:t>2023-11-15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2643862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DEF3BBB-C54B-4BB8-AAB4-1CEB1E65999F}" type="datetime1">
              <a:rPr lang="zh-CN" altLang="en-US" smtClean="0"/>
              <a:pPr/>
              <a:t>2023-11-15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8342897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4C61729-F3E2-4EF1-AFC8-48B03F74DCFE}" type="datetime1">
              <a:rPr lang="zh-CN" altLang="en-US" smtClean="0"/>
              <a:pPr/>
              <a:t>2023-11-15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2037151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AC666B65-601F-4493-AC8C-B60F1760F862}" type="datetime1">
              <a:rPr lang="zh-CN" altLang="en-US" smtClean="0"/>
              <a:pPr/>
              <a:t>2023-11-15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30436652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3B2C8F8B-19B4-408F-B12C-C76EE6A13EF7}" type="datetime1">
              <a:rPr lang="zh-CN" altLang="en-US" smtClean="0"/>
              <a:pPr/>
              <a:t>2023-11-15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34989596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5E44F09-B309-4A2A-B52B-02857A7590E7}" type="datetime1">
              <a:rPr lang="zh-CN" altLang="en-US" smtClean="0"/>
              <a:pPr/>
              <a:t>2023-11-15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770037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B7746C0-BD57-401A-8B7E-1C3E1474CD48}" type="datetime1">
              <a:rPr lang="zh-CN" altLang="en-US" smtClean="0"/>
              <a:pPr/>
              <a:t>2023-11-15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3235340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1860"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Garamond" pitchFamily="18" charset="0"/>
              </a:defRPr>
            </a:lvl1pPr>
          </a:lstStyle>
          <a:p>
            <a:pPr>
              <a:defRPr/>
            </a:pPr>
            <a:endParaRPr lang="en-US" altLang="en-US"/>
          </a:p>
        </p:txBody>
      </p:sp>
      <p:sp>
        <p:nvSpPr>
          <p:cNvPr id="1218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Garamond" pitchFamily="18" charset="0"/>
              </a:defRPr>
            </a:lvl1pPr>
          </a:lstStyle>
          <a:p>
            <a:pPr>
              <a:defRPr/>
            </a:pPr>
            <a:endParaRPr lang="en-US" altLang="en-US"/>
          </a:p>
        </p:txBody>
      </p:sp>
      <p:sp>
        <p:nvSpPr>
          <p:cNvPr id="121862"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Garamond" pitchFamily="18" charset="0"/>
              </a:defRPr>
            </a:lvl1pPr>
          </a:lstStyle>
          <a:p>
            <a:pPr>
              <a:defRPr/>
            </a:pPr>
            <a:fld id="{65F27244-0A50-4C0D-A58A-F9E6A0E13F05}" type="slidenum">
              <a:rPr lang="en-US" altLang="en-US"/>
              <a:pPr>
                <a:defRPr/>
              </a:pPr>
              <a:t>‹#›</a:t>
            </a:fld>
            <a:endParaRPr lang="en-US" altLang="en-US"/>
          </a:p>
        </p:txBody>
      </p:sp>
      <p:sp>
        <p:nvSpPr>
          <p:cNvPr id="121863"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US"/>
          </a:p>
        </p:txBody>
      </p:sp>
      <p:sp>
        <p:nvSpPr>
          <p:cNvPr id="121864"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776"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7" r:id="rId13"/>
    <p:sldLayoutId id="2147483778" r:id="rId14"/>
    <p:sldLayoutId id="2147483779" r:id="rId15"/>
    <p:sldLayoutId id="2147483780" r:id="rId16"/>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Palatino Linotype" pitchFamily="18" charset="0"/>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Palatino Linotype" pitchFamily="18" charset="0"/>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Palatino Linotype" pitchFamily="18" charset="0"/>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Palatino Linotype" pitchFamily="18" charset="0"/>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Palatino Linotype" pitchFamily="18" charset="0"/>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213AEA0-715D-4C26-8D29-976564D38CA2}" type="datetime1">
              <a:rPr lang="zh-CN" altLang="en-US" smtClean="0"/>
              <a:pPr/>
              <a:t>2023-11-15</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3886279735"/>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onlinelibrary.wiley.com/doi/full/10.1111/j.1540-6261.2006.00836.x#citedby-section"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11.w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96253" y="2640932"/>
            <a:ext cx="8874531" cy="1817149"/>
          </a:xfrm>
        </p:spPr>
        <p:txBody>
          <a:bodyPr>
            <a:normAutofit/>
          </a:bodyPr>
          <a:lstStyle/>
          <a:p>
            <a:r>
              <a:rPr lang="zh-CN" altLang="en-US" sz="5400" dirty="0">
                <a:latin typeface="楷体" panose="02010609060101010101" pitchFamily="49" charset="-122"/>
                <a:ea typeface="楷体" panose="02010609060101010101" pitchFamily="49" charset="-122"/>
              </a:rPr>
              <a:t>实证资产定价</a:t>
            </a:r>
            <a:r>
              <a:rPr lang="en-US" altLang="zh-CN" sz="5400" dirty="0">
                <a:latin typeface="楷体" panose="02010609060101010101" pitchFamily="49" charset="-122"/>
                <a:ea typeface="楷体" panose="02010609060101010101" pitchFamily="49" charset="-122"/>
              </a:rPr>
              <a:t>:</a:t>
            </a:r>
            <a:r>
              <a:rPr lang="en-US" altLang="zh-CN" sz="5400" dirty="0">
                <a:latin typeface="Times New Roman" panose="02020603050405020304" pitchFamily="18" charset="0"/>
                <a:ea typeface="楷体" panose="02010609060101010101" pitchFamily="49" charset="-122"/>
                <a:cs typeface="Times New Roman" panose="02020603050405020304" pitchFamily="18" charset="0"/>
              </a:rPr>
              <a:t>Volatility</a:t>
            </a:r>
            <a:endParaRPr lang="zh-CN" altLang="en-US" sz="5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副标题 2"/>
          <p:cNvSpPr>
            <a:spLocks noGrp="1"/>
          </p:cNvSpPr>
          <p:nvPr>
            <p:ph type="subTitle" idx="1"/>
          </p:nvPr>
        </p:nvSpPr>
        <p:spPr>
          <a:xfrm>
            <a:off x="1920278" y="4923492"/>
            <a:ext cx="6858000" cy="1447800"/>
          </a:xfrm>
        </p:spPr>
        <p:txBody>
          <a:bodyPr>
            <a:noAutofit/>
          </a:bodyPr>
          <a:lstStyle/>
          <a:p>
            <a:pPr algn="r"/>
            <a:r>
              <a:rPr lang="zh-CN" altLang="en-US" sz="2400" dirty="0">
                <a:latin typeface="楷体" panose="02010609060101010101" pitchFamily="49" charset="-122"/>
                <a:ea typeface="楷体" panose="02010609060101010101" pitchFamily="49" charset="-122"/>
              </a:rPr>
              <a:t>张欣然</a:t>
            </a:r>
            <a:endParaRPr lang="en-US" altLang="zh-CN" sz="2400" dirty="0">
              <a:latin typeface="楷体" panose="02010609060101010101" pitchFamily="49" charset="-122"/>
              <a:ea typeface="楷体" panose="02010609060101010101" pitchFamily="49" charset="-122"/>
            </a:endParaRPr>
          </a:p>
          <a:p>
            <a:pPr algn="r"/>
            <a:r>
              <a:rPr lang="zh-CN" altLang="en-US" sz="2400" dirty="0">
                <a:latin typeface="楷体" panose="02010609060101010101" pitchFamily="49" charset="-122"/>
                <a:ea typeface="楷体" panose="02010609060101010101" pitchFamily="49" charset="-122"/>
              </a:rPr>
              <a:t>中央财经大学金融学院</a:t>
            </a:r>
            <a:endParaRPr lang="en-US" altLang="zh-CN" sz="2400" dirty="0">
              <a:latin typeface="楷体" panose="02010609060101010101" pitchFamily="49" charset="-122"/>
              <a:ea typeface="楷体" panose="02010609060101010101" pitchFamily="49" charset="-122"/>
            </a:endParaRPr>
          </a:p>
          <a:p>
            <a:pPr algn="r"/>
            <a:r>
              <a:rPr lang="zh-CN" altLang="en-US" sz="2400" dirty="0">
                <a:latin typeface="楷体" panose="02010609060101010101" pitchFamily="49" charset="-122"/>
                <a:ea typeface="楷体" panose="02010609060101010101" pitchFamily="49" charset="-122"/>
              </a:rPr>
              <a:t>邮箱：</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zhangxinran@cufe.edu.cn</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a:off x="3962400" y="4613218"/>
            <a:ext cx="5181600" cy="0"/>
          </a:xfrm>
          <a:prstGeom prst="line">
            <a:avLst/>
          </a:prstGeom>
          <a:ln w="57150"/>
        </p:spPr>
        <p:style>
          <a:lnRef idx="3">
            <a:schemeClr val="accent5"/>
          </a:lnRef>
          <a:fillRef idx="0">
            <a:schemeClr val="accent5"/>
          </a:fillRef>
          <a:effectRef idx="2">
            <a:schemeClr val="accent5"/>
          </a:effectRef>
          <a:fontRef idx="minor">
            <a:schemeClr val="tx1"/>
          </a:fontRef>
        </p:style>
      </p:cxnSp>
      <p:pic>
        <p:nvPicPr>
          <p:cNvPr id="4" name="图片 3"/>
          <p:cNvPicPr>
            <a:picLocks noChangeAspect="1"/>
          </p:cNvPicPr>
          <p:nvPr/>
        </p:nvPicPr>
        <p:blipFill>
          <a:blip r:embed="rId2" cstate="print"/>
          <a:stretch>
            <a:fillRect/>
          </a:stretch>
        </p:blipFill>
        <p:spPr>
          <a:xfrm>
            <a:off x="0" y="0"/>
            <a:ext cx="9144000" cy="2152055"/>
          </a:xfrm>
          <a:prstGeom prst="rect">
            <a:avLst/>
          </a:prstGeom>
        </p:spPr>
      </p:pic>
    </p:spTree>
    <p:extLst>
      <p:ext uri="{BB962C8B-B14F-4D97-AF65-F5344CB8AC3E}">
        <p14:creationId xmlns:p14="http://schemas.microsoft.com/office/powerpoint/2010/main" val="396349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ln>
            <a:noFill/>
          </a:ln>
          <a:extLst>
            <a:ext uri="{91240B29-F687-4F45-9708-019B960494DF}">
              <a14:hiddenLine xmlns:a14="http://schemas.microsoft.com/office/drawing/2010/main" w="9525">
                <a:solidFill>
                  <a:srgbClr val="333399"/>
                </a:solidFill>
                <a:miter lim="800000"/>
                <a:headEnd/>
                <a:tailEnd/>
              </a14:hiddenLine>
            </a:ext>
          </a:extLst>
        </p:spPr>
        <p:txBody>
          <a:bodyPr anchor="ctr"/>
          <a:lstStyle/>
          <a:p>
            <a:r>
              <a:rPr lang="en-US" altLang="en-US" sz="3600" b="1" dirty="0"/>
              <a:t>The Cross-Section of Volatility and </a:t>
            </a:r>
            <a:br>
              <a:rPr lang="en-US" altLang="en-US" sz="3600" b="1" dirty="0"/>
            </a:br>
            <a:r>
              <a:rPr lang="en-US" altLang="en-US" sz="3600" b="1" dirty="0"/>
              <a:t>Expected Returns</a:t>
            </a:r>
            <a:br>
              <a:rPr lang="en-US" altLang="en-US" sz="3600" b="1" dirty="0"/>
            </a:br>
            <a:br>
              <a:rPr lang="en-US" altLang="en-US" sz="3600" b="1" dirty="0"/>
            </a:br>
            <a:r>
              <a:rPr lang="en-US" altLang="en-US" sz="3600" b="1" dirty="0"/>
              <a:t>JF2006</a:t>
            </a:r>
          </a:p>
        </p:txBody>
      </p:sp>
      <p:sp>
        <p:nvSpPr>
          <p:cNvPr id="2051" name="Rectangle 3"/>
          <p:cNvSpPr>
            <a:spLocks noGrp="1" noChangeArrowheads="1"/>
          </p:cNvSpPr>
          <p:nvPr>
            <p:ph type="subTitle" idx="1"/>
          </p:nvPr>
        </p:nvSpPr>
        <p:spPr/>
        <p:txBody>
          <a:bodyPr/>
          <a:lstStyle/>
          <a:p>
            <a:pPr>
              <a:lnSpc>
                <a:spcPct val="90000"/>
              </a:lnSpc>
            </a:pPr>
            <a:r>
              <a:rPr lang="en-US" altLang="en-US" sz="2400" dirty="0"/>
              <a:t>Andrew Ang - Columbia and NBER</a:t>
            </a:r>
          </a:p>
          <a:p>
            <a:pPr>
              <a:lnSpc>
                <a:spcPct val="90000"/>
              </a:lnSpc>
            </a:pPr>
            <a:r>
              <a:rPr lang="en-US" altLang="en-US" sz="2400" dirty="0"/>
              <a:t>Robert Hodrick - Columbia and NBER</a:t>
            </a:r>
          </a:p>
          <a:p>
            <a:pPr>
              <a:lnSpc>
                <a:spcPct val="90000"/>
              </a:lnSpc>
            </a:pPr>
            <a:r>
              <a:rPr lang="en-US" altLang="en-US" sz="2400" dirty="0"/>
              <a:t>Yuhang Xing - Rice</a:t>
            </a:r>
          </a:p>
          <a:p>
            <a:pPr>
              <a:lnSpc>
                <a:spcPct val="90000"/>
              </a:lnSpc>
            </a:pPr>
            <a:r>
              <a:rPr lang="en-US" altLang="en-US" sz="2400" dirty="0"/>
              <a:t>Xiaoyan Zhang - Cornell</a:t>
            </a:r>
          </a:p>
        </p:txBody>
      </p:sp>
    </p:spTree>
    <p:extLst>
      <p:ext uri="{BB962C8B-B14F-4D97-AF65-F5344CB8AC3E}">
        <p14:creationId xmlns:p14="http://schemas.microsoft.com/office/powerpoint/2010/main" val="1621820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作者</a:t>
            </a:r>
            <a:endParaRPr lang="en-US" dirty="0"/>
          </a:p>
        </p:txBody>
      </p:sp>
      <p:pic>
        <p:nvPicPr>
          <p:cNvPr id="5" name="Picture 4"/>
          <p:cNvPicPr>
            <a:picLocks noChangeAspect="1"/>
          </p:cNvPicPr>
          <p:nvPr/>
        </p:nvPicPr>
        <p:blipFill>
          <a:blip r:embed="rId2"/>
          <a:stretch>
            <a:fillRect/>
          </a:stretch>
        </p:blipFill>
        <p:spPr>
          <a:xfrm>
            <a:off x="442912" y="990600"/>
            <a:ext cx="2147888" cy="2395316"/>
          </a:xfrm>
          <a:prstGeom prst="rect">
            <a:avLst/>
          </a:prstGeom>
        </p:spPr>
      </p:pic>
      <p:pic>
        <p:nvPicPr>
          <p:cNvPr id="6" name="Picture 5"/>
          <p:cNvPicPr>
            <a:picLocks noChangeAspect="1"/>
          </p:cNvPicPr>
          <p:nvPr/>
        </p:nvPicPr>
        <p:blipFill>
          <a:blip r:embed="rId3"/>
          <a:stretch>
            <a:fillRect/>
          </a:stretch>
        </p:blipFill>
        <p:spPr>
          <a:xfrm>
            <a:off x="1980170" y="3505201"/>
            <a:ext cx="2439430" cy="2428466"/>
          </a:xfrm>
          <a:prstGeom prst="rect">
            <a:avLst/>
          </a:prstGeom>
        </p:spPr>
      </p:pic>
      <p:pic>
        <p:nvPicPr>
          <p:cNvPr id="7" name="Picture 6"/>
          <p:cNvPicPr>
            <a:picLocks noChangeAspect="1"/>
          </p:cNvPicPr>
          <p:nvPr/>
        </p:nvPicPr>
        <p:blipFill>
          <a:blip r:embed="rId4"/>
          <a:stretch>
            <a:fillRect/>
          </a:stretch>
        </p:blipFill>
        <p:spPr>
          <a:xfrm>
            <a:off x="4343400" y="838200"/>
            <a:ext cx="2116134" cy="2565313"/>
          </a:xfrm>
          <a:prstGeom prst="rect">
            <a:avLst/>
          </a:prstGeom>
        </p:spPr>
      </p:pic>
      <p:pic>
        <p:nvPicPr>
          <p:cNvPr id="8" name="Picture 11"/>
          <p:cNvPicPr>
            <a:picLocks noChangeAspect="1"/>
          </p:cNvPicPr>
          <p:nvPr/>
        </p:nvPicPr>
        <p:blipFill rotWithShape="1">
          <a:blip r:embed="rId5"/>
          <a:srcRect l="23721" t="-190"/>
          <a:stretch/>
        </p:blipFill>
        <p:spPr>
          <a:xfrm>
            <a:off x="6248400" y="3505200"/>
            <a:ext cx="2250342" cy="2514600"/>
          </a:xfrm>
          <a:prstGeom prst="rect">
            <a:avLst/>
          </a:prstGeom>
        </p:spPr>
      </p:pic>
    </p:spTree>
    <p:extLst>
      <p:ext uri="{BB962C8B-B14F-4D97-AF65-F5344CB8AC3E}">
        <p14:creationId xmlns:p14="http://schemas.microsoft.com/office/powerpoint/2010/main" val="60605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altLang="zh-CN" dirty="0"/>
              <a:t>Andrew Ang</a:t>
            </a:r>
            <a:endParaRPr lang="en-US" dirty="0"/>
          </a:p>
        </p:txBody>
      </p:sp>
      <p:sp>
        <p:nvSpPr>
          <p:cNvPr id="3" name="Content Placeholder 2"/>
          <p:cNvSpPr>
            <a:spLocks noGrp="1"/>
          </p:cNvSpPr>
          <p:nvPr>
            <p:ph idx="1"/>
          </p:nvPr>
        </p:nvSpPr>
        <p:spPr>
          <a:xfrm>
            <a:off x="5105400" y="1600200"/>
            <a:ext cx="3581400" cy="4530725"/>
          </a:xfrm>
        </p:spPr>
        <p:txBody>
          <a:bodyPr/>
          <a:lstStyle/>
          <a:p>
            <a:r>
              <a:rPr lang="en-US" altLang="zh-CN" dirty="0"/>
              <a:t>1999</a:t>
            </a:r>
            <a:r>
              <a:rPr lang="zh-CN" altLang="en-US" dirty="0"/>
              <a:t>年获斯坦福大学金融学博士学位</a:t>
            </a:r>
            <a:endParaRPr lang="en-US" altLang="zh-CN" dirty="0"/>
          </a:p>
          <a:p>
            <a:endParaRPr lang="en-US" dirty="0"/>
          </a:p>
          <a:p>
            <a:r>
              <a:rPr lang="zh-CN" altLang="en-US" dirty="0"/>
              <a:t>任职经历：贝莱德，哥伦比亚，南加州</a:t>
            </a:r>
            <a:endParaRPr lang="en-US" altLang="zh-CN" dirty="0"/>
          </a:p>
          <a:p>
            <a:endParaRPr lang="en-US" dirty="0"/>
          </a:p>
          <a:p>
            <a:r>
              <a:rPr lang="zh-CN" altLang="en-US" dirty="0"/>
              <a:t>研究领域：</a:t>
            </a:r>
            <a:r>
              <a:rPr lang="en-US" dirty="0"/>
              <a:t> </a:t>
            </a:r>
          </a:p>
          <a:p>
            <a:pPr lvl="1"/>
            <a:r>
              <a:rPr lang="zh-CN" altLang="en-US" dirty="0">
                <a:ea typeface="+mn-ea"/>
                <a:cs typeface="+mn-cs"/>
              </a:rPr>
              <a:t>债券市场、权益、资产管理和投资组合配置以及另类投资</a:t>
            </a:r>
            <a:r>
              <a:rPr lang="en-US" altLang="zh-CN" dirty="0">
                <a:ea typeface="+mn-ea"/>
                <a:cs typeface="+mn-cs"/>
              </a:rPr>
              <a:t>......</a:t>
            </a:r>
            <a:endParaRPr lang="en-US" dirty="0">
              <a:ea typeface="+mn-ea"/>
              <a:cs typeface="+mn-cs"/>
            </a:endParaRPr>
          </a:p>
        </p:txBody>
      </p:sp>
      <p:pic>
        <p:nvPicPr>
          <p:cNvPr id="7" name="Picture 4">
            <a:extLst>
              <a:ext uri="{FF2B5EF4-FFF2-40B4-BE49-F238E27FC236}">
                <a16:creationId xmlns:a16="http://schemas.microsoft.com/office/drawing/2014/main" id="{D89F0E36-07E8-46AA-AA94-EB954549020A}"/>
              </a:ext>
            </a:extLst>
          </p:cNvPr>
          <p:cNvPicPr>
            <a:picLocks noChangeAspect="1"/>
          </p:cNvPicPr>
          <p:nvPr/>
        </p:nvPicPr>
        <p:blipFill>
          <a:blip r:embed="rId3"/>
          <a:stretch>
            <a:fillRect/>
          </a:stretch>
        </p:blipFill>
        <p:spPr>
          <a:xfrm>
            <a:off x="914400" y="1600200"/>
            <a:ext cx="2596494" cy="2895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altLang="zh-CN" dirty="0"/>
              <a:t> Andrew Ang</a:t>
            </a:r>
            <a:endParaRPr lang="en-US" dirty="0"/>
          </a:p>
        </p:txBody>
      </p:sp>
      <p:sp>
        <p:nvSpPr>
          <p:cNvPr id="3" name="Content Placeholder 2"/>
          <p:cNvSpPr>
            <a:spLocks noGrp="1"/>
          </p:cNvSpPr>
          <p:nvPr>
            <p:ph idx="1"/>
          </p:nvPr>
        </p:nvSpPr>
        <p:spPr/>
        <p:txBody>
          <a:bodyPr/>
          <a:lstStyle/>
          <a:p>
            <a:r>
              <a:rPr lang="zh-CN" altLang="en-US" dirty="0"/>
              <a:t>重要事项：</a:t>
            </a:r>
            <a:endParaRPr lang="en-US" dirty="0"/>
          </a:p>
          <a:p>
            <a:pPr lvl="1"/>
            <a:r>
              <a:rPr lang="zh-CN" altLang="zh-CN" dirty="0"/>
              <a:t>在美国规模最大的投资管理集团贝莱德，担任因子投资，可持续发展方面的</a:t>
            </a:r>
            <a:r>
              <a:rPr lang="zh-CN" altLang="en-US" dirty="0"/>
              <a:t>主管</a:t>
            </a:r>
            <a:endParaRPr lang="en-US" altLang="zh-CN" dirty="0"/>
          </a:p>
          <a:p>
            <a:pPr lvl="1"/>
            <a:endParaRPr lang="en-US" altLang="zh-CN" dirty="0">
              <a:ea typeface="+mn-ea"/>
              <a:cs typeface="+mn-cs"/>
            </a:endParaRPr>
          </a:p>
          <a:p>
            <a:pPr lvl="1"/>
            <a:r>
              <a:rPr lang="en-US" altLang="zh-CN" dirty="0"/>
              <a:t>2014 </a:t>
            </a:r>
            <a:r>
              <a:rPr lang="zh-CN" altLang="en-US" dirty="0"/>
              <a:t>年在</a:t>
            </a:r>
            <a:r>
              <a:rPr lang="zh-CN" altLang="en-US" dirty="0">
                <a:ea typeface="+mn-ea"/>
                <a:cs typeface="+mn-cs"/>
              </a:rPr>
              <a:t>牛津大学出版社出版的著作</a:t>
            </a:r>
            <a:r>
              <a:rPr lang="en-US" altLang="zh-CN" dirty="0">
                <a:ea typeface="+mn-ea"/>
                <a:cs typeface="+mn-cs"/>
              </a:rPr>
              <a:t>《</a:t>
            </a:r>
            <a:r>
              <a:rPr lang="en-US" altLang="zh-CN" dirty="0"/>
              <a:t> Asset Management: A Systematic Approach To Factor Investing </a:t>
            </a:r>
            <a:r>
              <a:rPr lang="en-US" altLang="zh-CN" dirty="0">
                <a:ea typeface="+mn-ea"/>
                <a:cs typeface="+mn-cs"/>
              </a:rPr>
              <a:t>》</a:t>
            </a:r>
            <a:r>
              <a:rPr lang="zh-CN" altLang="en-US" dirty="0">
                <a:ea typeface="+mn-ea"/>
                <a:cs typeface="+mn-cs"/>
              </a:rPr>
              <a:t>，系统展示了如何在投资组合中收获因子风险溢价并将其纳入投资管理的各个方面。</a:t>
            </a:r>
            <a:endParaRPr lang="en-US" altLang="zh-CN" dirty="0">
              <a:ea typeface="+mn-ea"/>
              <a:cs typeface="+mn-cs"/>
            </a:endParaRPr>
          </a:p>
          <a:p>
            <a:pPr lvl="1"/>
            <a:endParaRPr lang="en-US" altLang="zh-CN" dirty="0">
              <a:ea typeface="+mn-ea"/>
              <a:cs typeface="+mn-cs"/>
            </a:endParaRPr>
          </a:p>
          <a:p>
            <a:pPr lvl="1" algn="just"/>
            <a:r>
              <a:rPr lang="zh-CN" altLang="zh-CN" dirty="0"/>
              <a:t>发表了</a:t>
            </a:r>
            <a:r>
              <a:rPr lang="en-US" altLang="zh-CN" dirty="0"/>
              <a:t>100</a:t>
            </a:r>
            <a:r>
              <a:rPr lang="zh-CN" altLang="zh-CN" dirty="0"/>
              <a:t>多篇经济金融研究的文章</a:t>
            </a:r>
            <a:r>
              <a:rPr lang="zh-CN" altLang="en-US" dirty="0"/>
              <a:t>，</a:t>
            </a:r>
            <a:r>
              <a:rPr lang="en-US" altLang="zh-CN" dirty="0">
                <a:ea typeface="+mn-ea"/>
                <a:cs typeface="+mn-cs"/>
              </a:rPr>
              <a:t>2014</a:t>
            </a:r>
            <a:r>
              <a:rPr lang="zh-CN" altLang="en-US" dirty="0">
                <a:ea typeface="+mn-ea"/>
                <a:cs typeface="+mn-cs"/>
              </a:rPr>
              <a:t>年获得汤森路透高被引研究员称号</a:t>
            </a:r>
            <a:endParaRPr lang="en-US" altLang="zh-CN" dirty="0">
              <a:ea typeface="+mn-ea"/>
              <a:cs typeface="+mn-cs"/>
            </a:endParaRPr>
          </a:p>
          <a:p>
            <a:pPr marL="344170" lvl="1" indent="0">
              <a:buNone/>
            </a:pPr>
            <a:endParaRPr lang="en-US" dirty="0"/>
          </a:p>
          <a:p>
            <a:pPr lvl="1" algn="just"/>
            <a:r>
              <a:rPr lang="en-US" altLang="zh-CN" dirty="0"/>
              <a:t>2006</a:t>
            </a:r>
            <a:r>
              <a:rPr lang="zh-CN" altLang="en-US" dirty="0"/>
              <a:t>起担任</a:t>
            </a:r>
            <a:r>
              <a:rPr lang="en-US" altLang="zh-CN" dirty="0"/>
              <a:t>NBER</a:t>
            </a:r>
            <a:r>
              <a:rPr lang="zh-CN" altLang="en-US" dirty="0"/>
              <a:t>研究员</a:t>
            </a:r>
            <a:endParaRPr lang="en-US" altLang="zh-CN" dirty="0">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altLang="zh-CN" dirty="0"/>
              <a:t>Robert </a:t>
            </a:r>
            <a:r>
              <a:rPr lang="en-US" altLang="zh-CN" dirty="0" err="1"/>
              <a:t>Hodrick</a:t>
            </a:r>
            <a:endParaRPr lang="en-US" dirty="0"/>
          </a:p>
        </p:txBody>
      </p:sp>
      <p:sp>
        <p:nvSpPr>
          <p:cNvPr id="3" name="Content Placeholder 2"/>
          <p:cNvSpPr>
            <a:spLocks noGrp="1"/>
          </p:cNvSpPr>
          <p:nvPr>
            <p:ph idx="1"/>
          </p:nvPr>
        </p:nvSpPr>
        <p:spPr>
          <a:xfrm>
            <a:off x="5105400" y="1600200"/>
            <a:ext cx="3581400" cy="4530725"/>
          </a:xfrm>
        </p:spPr>
        <p:txBody>
          <a:bodyPr/>
          <a:lstStyle/>
          <a:p>
            <a:r>
              <a:rPr lang="en-US" altLang="zh-CN" dirty="0"/>
              <a:t>1976</a:t>
            </a:r>
            <a:r>
              <a:rPr lang="zh-CN" altLang="en-US" dirty="0"/>
              <a:t>年获芝加哥大学经济学博士学位</a:t>
            </a:r>
            <a:endParaRPr lang="en-US" altLang="zh-CN" dirty="0"/>
          </a:p>
          <a:p>
            <a:endParaRPr lang="en-US" dirty="0"/>
          </a:p>
          <a:p>
            <a:r>
              <a:rPr lang="zh-CN" altLang="en-US" dirty="0"/>
              <a:t>任职经历：哥伦比亚，西北大学，卡内基</a:t>
            </a:r>
            <a:r>
              <a:rPr lang="en-US" altLang="zh-CN" dirty="0"/>
              <a:t>·</a:t>
            </a:r>
            <a:r>
              <a:rPr lang="zh-CN" altLang="en-US" dirty="0"/>
              <a:t>梅隆</a:t>
            </a:r>
            <a:endParaRPr lang="en-US" altLang="zh-CN" dirty="0"/>
          </a:p>
          <a:p>
            <a:endParaRPr lang="en-US" dirty="0"/>
          </a:p>
          <a:p>
            <a:r>
              <a:rPr lang="zh-CN" altLang="en-US" dirty="0"/>
              <a:t>研究领域：</a:t>
            </a:r>
            <a:r>
              <a:rPr lang="en-US" dirty="0"/>
              <a:t> </a:t>
            </a:r>
          </a:p>
          <a:p>
            <a:pPr lvl="1"/>
            <a:r>
              <a:rPr lang="zh-CN" altLang="en-US" dirty="0">
                <a:ea typeface="+mn-ea"/>
                <a:cs typeface="+mn-cs"/>
              </a:rPr>
              <a:t>国际金融、资产定价</a:t>
            </a:r>
            <a:r>
              <a:rPr lang="en-US" altLang="zh-CN" dirty="0">
                <a:ea typeface="+mn-ea"/>
                <a:cs typeface="+mn-cs"/>
              </a:rPr>
              <a:t>......</a:t>
            </a:r>
            <a:endParaRPr lang="en-US" dirty="0">
              <a:ea typeface="+mn-ea"/>
              <a:cs typeface="+mn-cs"/>
            </a:endParaRPr>
          </a:p>
        </p:txBody>
      </p:sp>
      <p:pic>
        <p:nvPicPr>
          <p:cNvPr id="7" name="Picture 6">
            <a:extLst>
              <a:ext uri="{FF2B5EF4-FFF2-40B4-BE49-F238E27FC236}">
                <a16:creationId xmlns:a16="http://schemas.microsoft.com/office/drawing/2014/main" id="{049779ED-5780-4588-B7C9-69AFAC37C6DC}"/>
              </a:ext>
            </a:extLst>
          </p:cNvPr>
          <p:cNvPicPr>
            <a:picLocks noChangeAspect="1"/>
          </p:cNvPicPr>
          <p:nvPr/>
        </p:nvPicPr>
        <p:blipFill>
          <a:blip r:embed="rId3"/>
          <a:stretch>
            <a:fillRect/>
          </a:stretch>
        </p:blipFill>
        <p:spPr>
          <a:xfrm>
            <a:off x="914399" y="1600200"/>
            <a:ext cx="2592093" cy="31423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altLang="zh-CN" dirty="0"/>
              <a:t> Robert </a:t>
            </a:r>
            <a:r>
              <a:rPr lang="en-US" altLang="zh-CN" dirty="0" err="1"/>
              <a:t>Hodrick</a:t>
            </a:r>
            <a:endParaRPr lang="en-US" dirty="0"/>
          </a:p>
        </p:txBody>
      </p:sp>
      <p:sp>
        <p:nvSpPr>
          <p:cNvPr id="3" name="Content Placeholder 2"/>
          <p:cNvSpPr>
            <a:spLocks noGrp="1"/>
          </p:cNvSpPr>
          <p:nvPr>
            <p:ph idx="1"/>
          </p:nvPr>
        </p:nvSpPr>
        <p:spPr/>
        <p:txBody>
          <a:bodyPr/>
          <a:lstStyle/>
          <a:p>
            <a:r>
              <a:rPr lang="zh-CN" altLang="en-US" dirty="0"/>
              <a:t>重要事项：</a:t>
            </a:r>
            <a:endParaRPr lang="en-US" dirty="0"/>
          </a:p>
          <a:p>
            <a:pPr lvl="1"/>
            <a:r>
              <a:rPr lang="zh-CN" altLang="zh-CN" dirty="0"/>
              <a:t>哥伦比亚大学商学院的野村荣誉退休教授（</a:t>
            </a:r>
            <a:r>
              <a:rPr lang="en-US" altLang="zh-CN" dirty="0"/>
              <a:t>Nomura Professor Emeritus of International</a:t>
            </a:r>
            <a:r>
              <a:rPr lang="zh-CN" altLang="zh-CN" dirty="0"/>
              <a:t>）</a:t>
            </a:r>
            <a:endParaRPr lang="en-US" altLang="zh-CN" dirty="0"/>
          </a:p>
          <a:p>
            <a:pPr lvl="1"/>
            <a:endParaRPr lang="en-US" dirty="0"/>
          </a:p>
          <a:p>
            <a:pPr lvl="1"/>
            <a:r>
              <a:rPr lang="en-US" dirty="0"/>
              <a:t>2013</a:t>
            </a:r>
            <a:r>
              <a:rPr lang="zh-CN" altLang="en-US" dirty="0"/>
              <a:t>年担任中央财经大学中国金融与发展研究院名誉教授</a:t>
            </a:r>
            <a:endParaRPr lang="en-US" altLang="zh-CN" dirty="0"/>
          </a:p>
          <a:p>
            <a:pPr lvl="1"/>
            <a:endParaRPr lang="en-US" dirty="0"/>
          </a:p>
          <a:p>
            <a:pPr lvl="1"/>
            <a:r>
              <a:rPr lang="en-US" dirty="0"/>
              <a:t>1990 – 1995</a:t>
            </a:r>
            <a:r>
              <a:rPr lang="zh-CN" altLang="en-US" dirty="0"/>
              <a:t>年担任</a:t>
            </a:r>
            <a:r>
              <a:rPr lang="en-US" altLang="zh-CN" dirty="0"/>
              <a:t>American Economic Review</a:t>
            </a:r>
            <a:r>
              <a:rPr lang="zh-CN" altLang="en-US" dirty="0"/>
              <a:t>副主编</a:t>
            </a:r>
            <a:endParaRPr lang="en-US" dirty="0"/>
          </a:p>
          <a:p>
            <a:pPr lvl="1"/>
            <a:endParaRPr lang="en-US" dirty="0"/>
          </a:p>
          <a:p>
            <a:pPr lvl="1"/>
            <a:r>
              <a:rPr lang="en-US" dirty="0"/>
              <a:t>2013 – 2016</a:t>
            </a:r>
            <a:r>
              <a:rPr lang="zh-CN" altLang="en-US" dirty="0"/>
              <a:t>年担任</a:t>
            </a:r>
            <a:r>
              <a:rPr lang="en-US" altLang="zh-CN" dirty="0"/>
              <a:t>Review of Financial Studies</a:t>
            </a:r>
            <a:r>
              <a:rPr lang="zh-CN" altLang="en-US" dirty="0"/>
              <a:t>副主编</a:t>
            </a:r>
            <a:endParaRPr lang="en-US" altLang="zh-CN" dirty="0"/>
          </a:p>
          <a:p>
            <a:pPr marL="344487" lvl="1" indent="0">
              <a:buNone/>
            </a:pPr>
            <a:endParaRPr lang="en-US" dirty="0"/>
          </a:p>
          <a:p>
            <a:pPr lvl="1"/>
            <a:r>
              <a:rPr lang="en-US" altLang="zh-CN" dirty="0"/>
              <a:t> NBER</a:t>
            </a:r>
            <a:r>
              <a:rPr lang="zh-CN" altLang="en-US" dirty="0"/>
              <a:t>研究员</a:t>
            </a:r>
            <a:endParaRPr lang="en-US" dirty="0">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altLang="zh-CN" dirty="0" err="1"/>
              <a:t>Yuhang</a:t>
            </a:r>
            <a:r>
              <a:rPr lang="en-US" altLang="zh-CN" dirty="0"/>
              <a:t> Xing</a:t>
            </a:r>
            <a:endParaRPr lang="en-US" dirty="0"/>
          </a:p>
        </p:txBody>
      </p:sp>
      <p:sp>
        <p:nvSpPr>
          <p:cNvPr id="3" name="Content Placeholder 2"/>
          <p:cNvSpPr>
            <a:spLocks noGrp="1"/>
          </p:cNvSpPr>
          <p:nvPr>
            <p:ph idx="1"/>
          </p:nvPr>
        </p:nvSpPr>
        <p:spPr>
          <a:xfrm>
            <a:off x="5105400" y="1600200"/>
            <a:ext cx="3581400" cy="4530725"/>
          </a:xfrm>
        </p:spPr>
        <p:txBody>
          <a:bodyPr/>
          <a:lstStyle/>
          <a:p>
            <a:r>
              <a:rPr lang="en-US" altLang="zh-CN" dirty="0"/>
              <a:t>2003</a:t>
            </a:r>
            <a:r>
              <a:rPr lang="zh-CN" altLang="en-US" dirty="0"/>
              <a:t>年获哥伦比亚大学金融学博士学位</a:t>
            </a:r>
            <a:endParaRPr lang="en-US" altLang="zh-CN" dirty="0"/>
          </a:p>
          <a:p>
            <a:endParaRPr lang="en-US" dirty="0"/>
          </a:p>
          <a:p>
            <a:r>
              <a:rPr lang="zh-CN" altLang="en-US" dirty="0"/>
              <a:t>任职经历：莱斯大学</a:t>
            </a:r>
            <a:endParaRPr lang="en-US" altLang="zh-CN" dirty="0"/>
          </a:p>
          <a:p>
            <a:endParaRPr lang="en-US" dirty="0"/>
          </a:p>
          <a:p>
            <a:r>
              <a:rPr lang="zh-CN" altLang="en-US" dirty="0"/>
              <a:t>研究领域：</a:t>
            </a:r>
            <a:r>
              <a:rPr lang="en-US" dirty="0"/>
              <a:t> </a:t>
            </a:r>
          </a:p>
          <a:p>
            <a:pPr lvl="1"/>
            <a:r>
              <a:rPr lang="zh-CN" altLang="en-US" dirty="0">
                <a:ea typeface="+mn-ea"/>
                <a:cs typeface="+mn-cs"/>
              </a:rPr>
              <a:t>资产定价、宏观经济、股票估值、投资组合选择、家庭金融</a:t>
            </a:r>
            <a:r>
              <a:rPr lang="en-US" altLang="zh-CN" dirty="0">
                <a:ea typeface="+mn-ea"/>
                <a:cs typeface="+mn-cs"/>
              </a:rPr>
              <a:t>......</a:t>
            </a:r>
            <a:endParaRPr lang="en-US" dirty="0">
              <a:ea typeface="+mn-ea"/>
              <a:cs typeface="+mn-cs"/>
            </a:endParaRPr>
          </a:p>
        </p:txBody>
      </p:sp>
      <p:pic>
        <p:nvPicPr>
          <p:cNvPr id="5" name="Picture 5">
            <a:extLst>
              <a:ext uri="{FF2B5EF4-FFF2-40B4-BE49-F238E27FC236}">
                <a16:creationId xmlns:a16="http://schemas.microsoft.com/office/drawing/2014/main" id="{32BDF424-0EA6-4CA5-A98C-0A4456D31EB0}"/>
              </a:ext>
            </a:extLst>
          </p:cNvPr>
          <p:cNvPicPr>
            <a:picLocks noChangeAspect="1"/>
          </p:cNvPicPr>
          <p:nvPr/>
        </p:nvPicPr>
        <p:blipFill>
          <a:blip r:embed="rId3"/>
          <a:stretch>
            <a:fillRect/>
          </a:stretch>
        </p:blipFill>
        <p:spPr>
          <a:xfrm>
            <a:off x="914399" y="1600200"/>
            <a:ext cx="3367937" cy="3352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altLang="zh-CN" dirty="0"/>
              <a:t> </a:t>
            </a:r>
            <a:r>
              <a:rPr lang="en-US" altLang="zh-CN" dirty="0" err="1"/>
              <a:t>Yuhang</a:t>
            </a:r>
            <a:r>
              <a:rPr lang="en-US" altLang="zh-CN" dirty="0"/>
              <a:t> Xing</a:t>
            </a:r>
            <a:endParaRPr lang="en-US" dirty="0"/>
          </a:p>
        </p:txBody>
      </p:sp>
      <p:sp>
        <p:nvSpPr>
          <p:cNvPr id="3" name="Content Placeholder 2"/>
          <p:cNvSpPr>
            <a:spLocks noGrp="1"/>
          </p:cNvSpPr>
          <p:nvPr>
            <p:ph idx="1"/>
          </p:nvPr>
        </p:nvSpPr>
        <p:spPr/>
        <p:txBody>
          <a:bodyPr/>
          <a:lstStyle/>
          <a:p>
            <a:r>
              <a:rPr lang="zh-CN" altLang="en-US" sz="2800" dirty="0"/>
              <a:t>重要事项：</a:t>
            </a:r>
            <a:endParaRPr lang="en-US" sz="2800" dirty="0"/>
          </a:p>
          <a:p>
            <a:pPr lvl="1"/>
            <a:r>
              <a:rPr lang="en-US" altLang="zh-CN" sz="2800" dirty="0">
                <a:ea typeface="+mn-ea"/>
                <a:cs typeface="+mn-cs"/>
              </a:rPr>
              <a:t>2012</a:t>
            </a:r>
            <a:r>
              <a:rPr lang="zh-CN" altLang="en-US" sz="2800" dirty="0">
                <a:ea typeface="+mn-ea"/>
                <a:cs typeface="+mn-cs"/>
              </a:rPr>
              <a:t>年起担任上海高级金融学院</a:t>
            </a:r>
            <a:r>
              <a:rPr lang="en-US" altLang="zh-CN" sz="2800" dirty="0">
                <a:ea typeface="+mn-ea"/>
                <a:cs typeface="+mn-cs"/>
              </a:rPr>
              <a:t>SAIF</a:t>
            </a:r>
            <a:r>
              <a:rPr lang="zh-CN" altLang="en-US" sz="2800" dirty="0">
                <a:ea typeface="+mn-ea"/>
                <a:cs typeface="+mn-cs"/>
              </a:rPr>
              <a:t>研究员</a:t>
            </a:r>
            <a:endParaRPr lang="en-US" altLang="zh-CN" sz="2800" dirty="0">
              <a:ea typeface="+mn-ea"/>
              <a:cs typeface="+mn-cs"/>
            </a:endParaRPr>
          </a:p>
          <a:p>
            <a:pPr lvl="1"/>
            <a:endParaRPr lang="en-US" altLang="zh-CN" sz="2800" dirty="0">
              <a:ea typeface="+mn-ea"/>
              <a:cs typeface="+mn-cs"/>
            </a:endParaRPr>
          </a:p>
          <a:p>
            <a:pPr lvl="1"/>
            <a:r>
              <a:rPr lang="en-US" altLang="zh-CN" sz="2800" dirty="0">
                <a:ea typeface="+mn-ea"/>
                <a:cs typeface="+mn-cs"/>
              </a:rPr>
              <a:t>2007 </a:t>
            </a:r>
            <a:r>
              <a:rPr lang="zh-CN" altLang="en-US" sz="2800" dirty="0">
                <a:ea typeface="+mn-ea"/>
                <a:cs typeface="+mn-cs"/>
              </a:rPr>
              <a:t>年获得琼斯管理学院卓越研究员称号</a:t>
            </a:r>
            <a:endParaRPr lang="en-US" altLang="zh-CN" sz="2800" dirty="0">
              <a:ea typeface="+mn-ea"/>
              <a:cs typeface="+mn-cs"/>
            </a:endParaRPr>
          </a:p>
          <a:p>
            <a:pPr lvl="1"/>
            <a:endParaRPr lang="zh-CN" altLang="en-US" sz="2800" dirty="0">
              <a:ea typeface="+mn-ea"/>
              <a:cs typeface="+mn-cs"/>
            </a:endParaRPr>
          </a:p>
          <a:p>
            <a:pPr lvl="1"/>
            <a:r>
              <a:rPr lang="zh-CN" altLang="en-US" sz="2800" dirty="0">
                <a:ea typeface="+mn-ea"/>
                <a:cs typeface="+mn-cs"/>
              </a:rPr>
              <a:t>美国金融协会、西方金融协会成员</a:t>
            </a:r>
            <a:endParaRPr lang="en-US" sz="2800" dirty="0">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altLang="zh-CN" dirty="0" err="1"/>
              <a:t>Xiaoyan</a:t>
            </a:r>
            <a:r>
              <a:rPr lang="en-US" altLang="zh-CN" dirty="0"/>
              <a:t> Zhang</a:t>
            </a:r>
            <a:endParaRPr lang="en-US" dirty="0"/>
          </a:p>
        </p:txBody>
      </p:sp>
      <p:sp>
        <p:nvSpPr>
          <p:cNvPr id="3" name="Content Placeholder 2"/>
          <p:cNvSpPr>
            <a:spLocks noGrp="1"/>
          </p:cNvSpPr>
          <p:nvPr>
            <p:ph idx="1"/>
          </p:nvPr>
        </p:nvSpPr>
        <p:spPr>
          <a:xfrm>
            <a:off x="5105400" y="1600200"/>
            <a:ext cx="3581400" cy="4530725"/>
          </a:xfrm>
        </p:spPr>
        <p:txBody>
          <a:bodyPr/>
          <a:lstStyle/>
          <a:p>
            <a:r>
              <a:rPr lang="en-US" altLang="zh-CN" dirty="0"/>
              <a:t>2002</a:t>
            </a:r>
            <a:r>
              <a:rPr lang="zh-CN" altLang="en-US" dirty="0"/>
              <a:t>年获哥伦比亚大学金融学博士学位</a:t>
            </a:r>
            <a:endParaRPr lang="en-US" altLang="zh-CN" dirty="0"/>
          </a:p>
          <a:p>
            <a:endParaRPr lang="en-US" dirty="0"/>
          </a:p>
          <a:p>
            <a:r>
              <a:rPr lang="zh-CN" altLang="en-US" dirty="0"/>
              <a:t>任职经历：康奈尔，杜克、清华</a:t>
            </a:r>
            <a:endParaRPr lang="en-US" altLang="zh-CN" dirty="0"/>
          </a:p>
          <a:p>
            <a:endParaRPr lang="en-US" dirty="0"/>
          </a:p>
          <a:p>
            <a:r>
              <a:rPr lang="zh-CN" altLang="en-US" dirty="0"/>
              <a:t>研究领域：</a:t>
            </a:r>
            <a:r>
              <a:rPr lang="en-US" dirty="0"/>
              <a:t> </a:t>
            </a:r>
          </a:p>
          <a:p>
            <a:pPr lvl="1"/>
            <a:r>
              <a:rPr lang="zh-CN" altLang="en-US" dirty="0"/>
              <a:t>国际金融、实证资产定价、金融科技、中国资本市场</a:t>
            </a:r>
            <a:r>
              <a:rPr lang="en-US" altLang="zh-CN" dirty="0">
                <a:ea typeface="+mn-ea"/>
                <a:cs typeface="+mn-cs"/>
              </a:rPr>
              <a:t>......</a:t>
            </a:r>
            <a:endParaRPr lang="en-US" dirty="0">
              <a:ea typeface="+mn-ea"/>
              <a:cs typeface="+mn-cs"/>
            </a:endParaRPr>
          </a:p>
        </p:txBody>
      </p:sp>
      <p:pic>
        <p:nvPicPr>
          <p:cNvPr id="5" name="Picture 11">
            <a:extLst>
              <a:ext uri="{FF2B5EF4-FFF2-40B4-BE49-F238E27FC236}">
                <a16:creationId xmlns:a16="http://schemas.microsoft.com/office/drawing/2014/main" id="{C43107C5-CCA9-4FFF-8CF3-0BEBCEC89688}"/>
              </a:ext>
            </a:extLst>
          </p:cNvPr>
          <p:cNvPicPr>
            <a:picLocks noChangeAspect="1"/>
          </p:cNvPicPr>
          <p:nvPr/>
        </p:nvPicPr>
        <p:blipFill rotWithShape="1">
          <a:blip r:embed="rId3"/>
          <a:srcRect l="23721" t="-190"/>
          <a:stretch/>
        </p:blipFill>
        <p:spPr>
          <a:xfrm>
            <a:off x="911771" y="1600199"/>
            <a:ext cx="2592093" cy="28964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altLang="zh-CN" dirty="0" err="1"/>
              <a:t>Xiaoyan</a:t>
            </a:r>
            <a:r>
              <a:rPr lang="en-US" altLang="zh-CN" dirty="0"/>
              <a:t> Zhang</a:t>
            </a:r>
            <a:endParaRPr lang="en-US" dirty="0"/>
          </a:p>
        </p:txBody>
      </p:sp>
      <p:sp>
        <p:nvSpPr>
          <p:cNvPr id="3" name="Content Placeholder 2"/>
          <p:cNvSpPr>
            <a:spLocks noGrp="1"/>
          </p:cNvSpPr>
          <p:nvPr>
            <p:ph idx="1"/>
          </p:nvPr>
        </p:nvSpPr>
        <p:spPr/>
        <p:txBody>
          <a:bodyPr/>
          <a:lstStyle/>
          <a:p>
            <a:r>
              <a:rPr lang="zh-CN" altLang="en-US" dirty="0"/>
              <a:t>重要事项：</a:t>
            </a:r>
            <a:endParaRPr lang="en-US" dirty="0"/>
          </a:p>
          <a:p>
            <a:pPr lvl="1"/>
            <a:r>
              <a:rPr lang="zh-CN" altLang="en-US" dirty="0"/>
              <a:t>目前担任世界经济论坛未来理事会委员，上海证券交易所高级金融专家，亚洲金融与经济研究局（</a:t>
            </a:r>
            <a:r>
              <a:rPr lang="en-US" altLang="zh-CN" dirty="0"/>
              <a:t>ABFER</a:t>
            </a:r>
            <a:r>
              <a:rPr lang="zh-CN" altLang="en-US" dirty="0"/>
              <a:t>）的高级研究员、中国全球经济治理</a:t>
            </a:r>
            <a:r>
              <a:rPr lang="en-US" altLang="zh-CN" dirty="0"/>
              <a:t>50</a:t>
            </a:r>
            <a:r>
              <a:rPr lang="zh-CN" altLang="en-US" dirty="0"/>
              <a:t>人论坛成员、及中国互联网金融协会金融科技发展与研究专业委员会委员</a:t>
            </a:r>
            <a:endParaRPr lang="en-US" altLang="zh-CN" dirty="0"/>
          </a:p>
          <a:p>
            <a:pPr lvl="1"/>
            <a:endParaRPr lang="en-US" altLang="zh-CN" dirty="0">
              <a:ea typeface="+mn-ea"/>
              <a:cs typeface="+mn-cs"/>
            </a:endParaRPr>
          </a:p>
          <a:p>
            <a:pPr lvl="1" algn="just"/>
            <a:r>
              <a:rPr lang="zh-CN" altLang="en-US" dirty="0"/>
              <a:t>曾担任证监会第十七届发行审核委员会委员</a:t>
            </a:r>
            <a:endParaRPr lang="en-US" altLang="zh-CN" dirty="0"/>
          </a:p>
          <a:p>
            <a:pPr lvl="1" algn="just"/>
            <a:endParaRPr lang="en-US" dirty="0"/>
          </a:p>
          <a:p>
            <a:pPr lvl="1" algn="just"/>
            <a:r>
              <a:rPr lang="en-US" altLang="zh-CN" i="1" dirty="0"/>
              <a:t>Management Science</a:t>
            </a:r>
            <a:r>
              <a:rPr lang="zh-CN" altLang="en-US" i="1" dirty="0"/>
              <a:t>、</a:t>
            </a:r>
            <a:r>
              <a:rPr lang="en-US" altLang="zh-CN" i="1" dirty="0"/>
              <a:t>Financial Management</a:t>
            </a:r>
            <a:r>
              <a:rPr lang="zh-CN" altLang="en-US" i="1" dirty="0"/>
              <a:t>、</a:t>
            </a:r>
            <a:r>
              <a:rPr lang="en-US" altLang="zh-CN" i="1" dirty="0"/>
              <a:t>Journal of Banking and Finance</a:t>
            </a:r>
            <a:r>
              <a:rPr lang="zh-CN" altLang="en-US" i="1" dirty="0"/>
              <a:t>以及</a:t>
            </a:r>
            <a:r>
              <a:rPr lang="en-US" altLang="zh-CN" i="1" dirty="0"/>
              <a:t>Journal of Empirical Finance</a:t>
            </a:r>
            <a:r>
              <a:rPr lang="zh-CN" altLang="en-US" dirty="0"/>
              <a:t>的副主编</a:t>
            </a: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出版细节</a:t>
            </a:r>
            <a:endParaRPr lang="en-US" dirty="0"/>
          </a:p>
        </p:txBody>
      </p:sp>
      <p:sp>
        <p:nvSpPr>
          <p:cNvPr id="3" name="内容占位符 2"/>
          <p:cNvSpPr>
            <a:spLocks noGrp="1"/>
          </p:cNvSpPr>
          <p:nvPr>
            <p:ph idx="1"/>
          </p:nvPr>
        </p:nvSpPr>
        <p:spPr/>
        <p:txBody>
          <a:bodyPr/>
          <a:lstStyle/>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altLang="zh-CN" dirty="0"/>
          </a:p>
          <a:p>
            <a:r>
              <a:rPr lang="en-US" altLang="zh-CN" dirty="0"/>
              <a:t>Web of Science </a:t>
            </a:r>
            <a:r>
              <a:rPr lang="zh-CN" altLang="en-US" dirty="0"/>
              <a:t>引用</a:t>
            </a:r>
            <a:r>
              <a:rPr lang="en-US" altLang="zh-CN" dirty="0"/>
              <a:t>: </a:t>
            </a:r>
            <a:r>
              <a:rPr lang="en-US" altLang="zh-CN" dirty="0">
                <a:hlinkClick r:id="rId3"/>
              </a:rPr>
              <a:t>2,547</a:t>
            </a:r>
            <a:endParaRPr lang="en-US" altLang="zh-CN" dirty="0"/>
          </a:p>
          <a:p>
            <a:r>
              <a:rPr lang="en-US" altLang="zh-CN" dirty="0"/>
              <a:t>Google Scholar </a:t>
            </a:r>
            <a:r>
              <a:rPr lang="zh-CN" altLang="en-US" dirty="0"/>
              <a:t>引用</a:t>
            </a:r>
            <a:r>
              <a:rPr lang="en-US" dirty="0"/>
              <a:t>: 4,857</a:t>
            </a:r>
          </a:p>
        </p:txBody>
      </p:sp>
      <p:pic>
        <p:nvPicPr>
          <p:cNvPr id="5" name="图片 4">
            <a:extLst>
              <a:ext uri="{FF2B5EF4-FFF2-40B4-BE49-F238E27FC236}">
                <a16:creationId xmlns:a16="http://schemas.microsoft.com/office/drawing/2014/main" id="{FB0122BC-50E7-40E1-A51C-BFCBE268C04B}"/>
              </a:ext>
            </a:extLst>
          </p:cNvPr>
          <p:cNvPicPr>
            <a:picLocks noChangeAspect="1"/>
          </p:cNvPicPr>
          <p:nvPr/>
        </p:nvPicPr>
        <p:blipFill rotWithShape="1">
          <a:blip r:embed="rId4">
            <a:extLst>
              <a:ext uri="{28A0092B-C50C-407E-A947-70E740481C1C}">
                <a14:useLocalDpi xmlns:a14="http://schemas.microsoft.com/office/drawing/2010/main" val="0"/>
              </a:ext>
            </a:extLst>
          </a:blip>
          <a:srcRect l="3333" r="5000"/>
          <a:stretch/>
        </p:blipFill>
        <p:spPr>
          <a:xfrm>
            <a:off x="304800" y="1228725"/>
            <a:ext cx="8382000" cy="3724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a:ln/>
        </p:spPr>
        <p:txBody>
          <a:bodyPr/>
          <a:lstStyle/>
          <a:p>
            <a:r>
              <a:rPr lang="en-US" altLang="en-US"/>
              <a:t>Motivation</a:t>
            </a:r>
          </a:p>
        </p:txBody>
      </p:sp>
      <p:sp>
        <p:nvSpPr>
          <p:cNvPr id="2" name="Content Placeholder 1"/>
          <p:cNvSpPr>
            <a:spLocks noGrp="1"/>
          </p:cNvSpPr>
          <p:nvPr>
            <p:ph idx="1"/>
          </p:nvPr>
        </p:nvSpPr>
        <p:spPr/>
        <p:txBody>
          <a:bodyPr/>
          <a:lstStyle/>
          <a:p>
            <a:r>
              <a:rPr lang="en-US" altLang="en-US" dirty="0"/>
              <a:t>In theory, aggregate volatility affects aggregate expected returns.</a:t>
            </a:r>
          </a:p>
          <a:p>
            <a:pPr lvl="1"/>
            <a:r>
              <a:rPr lang="en-US" altLang="en-US" dirty="0">
                <a:ea typeface="+mn-ea"/>
                <a:cs typeface="+mn-cs"/>
              </a:rPr>
              <a:t>Does aggregate volatility affect cross-sectional average returns?</a:t>
            </a:r>
          </a:p>
          <a:p>
            <a:pPr lvl="1"/>
            <a:r>
              <a:rPr lang="en-US" dirty="0"/>
              <a:t>The first goal of this paper is to provide a systematic investigation of how the stochastic volatility of the market is priced in the cross-section of expected stock returns.</a:t>
            </a:r>
            <a:endParaRPr lang="en-US" dirty="0">
              <a:ea typeface="+mn-ea"/>
              <a:cs typeface="+mn-cs"/>
            </a:endParaRPr>
          </a:p>
          <a:p>
            <a:endParaRPr lang="en-US" altLang="en-US" dirty="0"/>
          </a:p>
          <a:p>
            <a:r>
              <a:rPr lang="en-US" altLang="en-US" dirty="0"/>
              <a:t>In theory, idiosyncratic volatility does not affect expected returns.  </a:t>
            </a:r>
          </a:p>
          <a:p>
            <a:pPr lvl="1"/>
            <a:r>
              <a:rPr lang="en-US" altLang="en-US" dirty="0">
                <a:ea typeface="+mn-ea"/>
                <a:cs typeface="+mn-cs"/>
              </a:rPr>
              <a:t>If risk-adjustment model is not correct, idiosyncratic volatility may be priced cross-</a:t>
            </a:r>
            <a:r>
              <a:rPr lang="en-US" altLang="en-US" dirty="0" err="1">
                <a:ea typeface="+mn-ea"/>
                <a:cs typeface="+mn-cs"/>
              </a:rPr>
              <a:t>sectionally</a:t>
            </a:r>
            <a:r>
              <a:rPr lang="en-US" altLang="en-US" dirty="0">
                <a:ea typeface="+mn-ea"/>
                <a:cs typeface="+mn-cs"/>
              </a:rPr>
              <a:t>? </a:t>
            </a:r>
          </a:p>
          <a:p>
            <a:pPr lvl="1"/>
            <a:r>
              <a:rPr lang="en-US" dirty="0"/>
              <a:t>The second goal of the paper is to examine the cross-sectional relationship between idiosyncratic volatility and expected returns, where idiosyncratic volatility is defined relative to the standard </a:t>
            </a:r>
            <a:r>
              <a:rPr lang="en-US" dirty="0" err="1"/>
              <a:t>Fama</a:t>
            </a:r>
            <a:r>
              <a:rPr lang="en-US" dirty="0"/>
              <a:t> and French (1993) model.</a:t>
            </a:r>
          </a:p>
          <a:p>
            <a:endParaRPr lang="en-US" dirty="0"/>
          </a:p>
        </p:txBody>
      </p:sp>
      <p:sp>
        <p:nvSpPr>
          <p:cNvPr id="4" name="Slide Number Placeholder 3"/>
          <p:cNvSpPr>
            <a:spLocks noGrp="1"/>
          </p:cNvSpPr>
          <p:nvPr>
            <p:ph type="sldNum" sz="quarter" idx="12"/>
          </p:nvPr>
        </p:nvSpPr>
        <p:spPr/>
        <p:txBody>
          <a:bodyPr/>
          <a:lstStyle/>
          <a:p>
            <a:r>
              <a:rPr lang="en-US" altLang="en-US"/>
              <a:t>Ang, Hodrick, Xing and Zhang / </a:t>
            </a:r>
            <a:fld id="{B52221E1-AC40-4367-A896-FE053345EFF7}" type="slidenum">
              <a:rPr lang="en-US" altLang="en-US"/>
              <a:pPr/>
              <a:t>13</a:t>
            </a:fld>
            <a:endParaRPr lang="en-US" altLang="en-US"/>
          </a:p>
        </p:txBody>
      </p:sp>
    </p:spTree>
    <p:extLst>
      <p:ext uri="{BB962C8B-B14F-4D97-AF65-F5344CB8AC3E}">
        <p14:creationId xmlns:p14="http://schemas.microsoft.com/office/powerpoint/2010/main" val="303796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a:ln/>
        </p:spPr>
        <p:txBody>
          <a:bodyPr/>
          <a:lstStyle/>
          <a:p>
            <a:r>
              <a:rPr lang="en-US" altLang="en-US" dirty="0" err="1"/>
              <a:t>AggVol</a:t>
            </a:r>
            <a:r>
              <a:rPr lang="en-US" altLang="en-US" dirty="0"/>
              <a:t>: Theoretical Predictions</a:t>
            </a:r>
          </a:p>
        </p:txBody>
      </p:sp>
      <p:sp>
        <p:nvSpPr>
          <p:cNvPr id="622595" name="Rectangle 3"/>
          <p:cNvSpPr>
            <a:spLocks noGrp="1" noChangeArrowheads="1"/>
          </p:cNvSpPr>
          <p:nvPr>
            <p:ph idx="1"/>
          </p:nvPr>
        </p:nvSpPr>
        <p:spPr/>
        <p:txBody>
          <a:bodyPr/>
          <a:lstStyle/>
          <a:p>
            <a:r>
              <a:rPr lang="en-US" altLang="en-US" dirty="0"/>
              <a:t>Merton (1973) and Ross (1976): there are risk </a:t>
            </a:r>
            <a:r>
              <a:rPr lang="en-US" altLang="en-US" dirty="0" err="1"/>
              <a:t>premia</a:t>
            </a:r>
            <a:r>
              <a:rPr lang="en-US" altLang="en-US" dirty="0"/>
              <a:t> associated with innovations in the state variables that describe the time variation of investment opportunities.</a:t>
            </a:r>
          </a:p>
          <a:p>
            <a:r>
              <a:rPr lang="en-US" altLang="en-US" dirty="0"/>
              <a:t>Campbell (1996) and Chen (2002): market volatility is a state variable for asset returns, which affects investment opportunities, and should be priced.</a:t>
            </a:r>
          </a:p>
          <a:p>
            <a:endParaRPr lang="en-US" altLang="en-US" dirty="0"/>
          </a:p>
          <a:p>
            <a:r>
              <a:rPr lang="en-US" altLang="en-US" dirty="0"/>
              <a:t>Market volatility also should carry a negative price.</a:t>
            </a:r>
          </a:p>
          <a:p>
            <a:pPr lvl="1"/>
            <a:r>
              <a:rPr lang="en-US" altLang="en-US" dirty="0"/>
              <a:t>Hedge volatility risk or downside risk</a:t>
            </a:r>
          </a:p>
          <a:p>
            <a:pPr lvl="1"/>
            <a:r>
              <a:rPr lang="en-US" altLang="en-US" dirty="0"/>
              <a:t>Preference for positive </a:t>
            </a:r>
            <a:r>
              <a:rPr lang="en-US" altLang="en-US" dirty="0" err="1"/>
              <a:t>coskewness</a:t>
            </a:r>
            <a:endParaRPr lang="en-US" altLang="en-US" dirty="0"/>
          </a:p>
        </p:txBody>
      </p:sp>
      <p:sp>
        <p:nvSpPr>
          <p:cNvPr id="4" name="Slide Number Placeholder 3"/>
          <p:cNvSpPr>
            <a:spLocks noGrp="1"/>
          </p:cNvSpPr>
          <p:nvPr>
            <p:ph type="sldNum" sz="quarter" idx="12"/>
          </p:nvPr>
        </p:nvSpPr>
        <p:spPr/>
        <p:txBody>
          <a:bodyPr/>
          <a:lstStyle/>
          <a:p>
            <a:r>
              <a:rPr lang="en-US" altLang="en-US"/>
              <a:t>Ang, Hodrick, Xing and Zhang / </a:t>
            </a:r>
            <a:fld id="{3C4F0474-CDA1-4020-8506-5BFE573DA185}" type="slidenum">
              <a:rPr lang="en-US" altLang="en-US"/>
              <a:pPr/>
              <a:t>14</a:t>
            </a:fld>
            <a:endParaRPr lang="en-US" altLang="en-US"/>
          </a:p>
        </p:txBody>
      </p:sp>
    </p:spTree>
    <p:extLst>
      <p:ext uri="{BB962C8B-B14F-4D97-AF65-F5344CB8AC3E}">
        <p14:creationId xmlns:p14="http://schemas.microsoft.com/office/powerpoint/2010/main" val="2215172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Pricing Implications</a:t>
            </a:r>
          </a:p>
        </p:txBody>
      </p:sp>
      <p:pic>
        <p:nvPicPr>
          <p:cNvPr id="6" name="Picture 5"/>
          <p:cNvPicPr>
            <a:picLocks noChangeAspect="1"/>
          </p:cNvPicPr>
          <p:nvPr/>
        </p:nvPicPr>
        <p:blipFill>
          <a:blip r:embed="rId2"/>
          <a:stretch>
            <a:fillRect/>
          </a:stretch>
        </p:blipFill>
        <p:spPr>
          <a:xfrm>
            <a:off x="457200" y="1219200"/>
            <a:ext cx="8086725" cy="5057775"/>
          </a:xfrm>
          <a:prstGeom prst="rect">
            <a:avLst/>
          </a:prstGeom>
        </p:spPr>
      </p:pic>
    </p:spTree>
    <p:extLst>
      <p:ext uri="{BB962C8B-B14F-4D97-AF65-F5344CB8AC3E}">
        <p14:creationId xmlns:p14="http://schemas.microsoft.com/office/powerpoint/2010/main" val="3394204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Pricing Implications</a:t>
            </a:r>
          </a:p>
        </p:txBody>
      </p:sp>
      <p:pic>
        <p:nvPicPr>
          <p:cNvPr id="4" name="Picture 3"/>
          <p:cNvPicPr>
            <a:picLocks noChangeAspect="1"/>
          </p:cNvPicPr>
          <p:nvPr/>
        </p:nvPicPr>
        <p:blipFill>
          <a:blip r:embed="rId2"/>
          <a:stretch>
            <a:fillRect/>
          </a:stretch>
        </p:blipFill>
        <p:spPr>
          <a:xfrm>
            <a:off x="457200" y="1752600"/>
            <a:ext cx="8420907" cy="2767012"/>
          </a:xfrm>
          <a:prstGeom prst="rect">
            <a:avLst/>
          </a:prstGeom>
        </p:spPr>
      </p:pic>
    </p:spTree>
    <p:extLst>
      <p:ext uri="{BB962C8B-B14F-4D97-AF65-F5344CB8AC3E}">
        <p14:creationId xmlns:p14="http://schemas.microsoft.com/office/powerpoint/2010/main" val="1584186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Ang, Hodrick, Xing and Zhang / </a:t>
            </a:r>
            <a:fld id="{398F39B2-6135-4B33-BE25-294639C24E63}" type="slidenum">
              <a:rPr lang="en-US" altLang="en-US"/>
              <a:pPr/>
              <a:t>17</a:t>
            </a:fld>
            <a:endParaRPr lang="en-US" altLang="en-US"/>
          </a:p>
        </p:txBody>
      </p:sp>
      <p:sp>
        <p:nvSpPr>
          <p:cNvPr id="476162" name="Rectangle 2"/>
          <p:cNvSpPr>
            <a:spLocks noGrp="1" noChangeArrowheads="1"/>
          </p:cNvSpPr>
          <p:nvPr>
            <p:ph type="title"/>
          </p:nvPr>
        </p:nvSpPr>
        <p:spPr>
          <a:ln/>
        </p:spPr>
        <p:txBody>
          <a:bodyPr/>
          <a:lstStyle/>
          <a:p>
            <a:r>
              <a:rPr lang="en-US" altLang="en-US"/>
              <a:t>Aggregate Volatility: VIX</a:t>
            </a:r>
          </a:p>
        </p:txBody>
      </p:sp>
      <p:pic>
        <p:nvPicPr>
          <p:cNvPr id="476166" name="Picture 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404154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Empirical Framework</a:t>
            </a:r>
          </a:p>
        </p:txBody>
      </p:sp>
      <p:sp>
        <p:nvSpPr>
          <p:cNvPr id="3" name="Content Placeholder 2"/>
          <p:cNvSpPr>
            <a:spLocks noGrp="1"/>
          </p:cNvSpPr>
          <p:nvPr>
            <p:ph idx="1"/>
          </p:nvPr>
        </p:nvSpPr>
        <p:spPr/>
        <p:txBody>
          <a:bodyPr/>
          <a:lstStyle/>
          <a:p>
            <a:r>
              <a:rPr lang="en-US" dirty="0"/>
              <a:t>Innovations in volatility state variable</a:t>
            </a:r>
          </a:p>
          <a:p>
            <a:pPr lvl="1"/>
            <a:r>
              <a:rPr lang="en-US" dirty="0"/>
              <a:t>Because the </a:t>
            </a:r>
            <a:r>
              <a:rPr lang="en-US" i="1" dirty="0"/>
              <a:t>VIX </a:t>
            </a:r>
            <a:r>
              <a:rPr lang="en-US" dirty="0"/>
              <a:t>index is highly serially correlated with a first-order autocorrelation of 0.94, we measure daily innovations in aggregate volatility by using daily changes in </a:t>
            </a:r>
            <a:r>
              <a:rPr lang="en-US" i="1" dirty="0"/>
              <a:t>VIX</a:t>
            </a:r>
            <a:r>
              <a:rPr lang="en-US" dirty="0"/>
              <a:t>, which we denote as </a:t>
            </a:r>
            <a:r>
              <a:rPr lang="en-US" dirty="0">
                <a:sym typeface="Symbol" panose="05050102010706020507" pitchFamily="18" charset="2"/>
              </a:rPr>
              <a:t></a:t>
            </a:r>
            <a:r>
              <a:rPr lang="en-US" i="1" dirty="0"/>
              <a:t>VIX</a:t>
            </a:r>
            <a:r>
              <a:rPr lang="en-US" dirty="0"/>
              <a:t>.</a:t>
            </a:r>
          </a:p>
          <a:p>
            <a:pPr lvl="1"/>
            <a:endParaRPr lang="en-US" dirty="0"/>
          </a:p>
          <a:p>
            <a:r>
              <a:rPr lang="en-US" dirty="0"/>
              <a:t>Concerns</a:t>
            </a:r>
          </a:p>
          <a:p>
            <a:pPr lvl="1"/>
            <a:r>
              <a:rPr lang="en-US" dirty="0"/>
              <a:t>Implied volatility</a:t>
            </a:r>
          </a:p>
          <a:p>
            <a:pPr lvl="1"/>
            <a:r>
              <a:rPr lang="en-US" dirty="0"/>
              <a:t>Risk vs. risk premium</a:t>
            </a:r>
          </a:p>
        </p:txBody>
      </p:sp>
    </p:spTree>
    <p:extLst>
      <p:ext uri="{BB962C8B-B14F-4D97-AF65-F5344CB8AC3E}">
        <p14:creationId xmlns:p14="http://schemas.microsoft.com/office/powerpoint/2010/main" val="3607275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r>
              <a:rPr lang="en-US" altLang="en-US"/>
              <a:t>Ang, Hodrick, Xing and Zhang / </a:t>
            </a:r>
            <a:fld id="{ED783B2B-D83E-4692-97C4-7DF4F135BDE1}" type="slidenum">
              <a:rPr lang="en-US" altLang="en-US"/>
              <a:pPr/>
              <a:t>19</a:t>
            </a:fld>
            <a:endParaRPr lang="en-US" altLang="en-US"/>
          </a:p>
        </p:txBody>
      </p:sp>
      <p:sp>
        <p:nvSpPr>
          <p:cNvPr id="626690" name="Rectangle 2"/>
          <p:cNvSpPr>
            <a:spLocks noGrp="1" noChangeArrowheads="1"/>
          </p:cNvSpPr>
          <p:nvPr>
            <p:ph type="title"/>
          </p:nvPr>
        </p:nvSpPr>
        <p:spPr>
          <a:ln/>
        </p:spPr>
        <p:txBody>
          <a:bodyPr/>
          <a:lstStyle/>
          <a:p>
            <a:r>
              <a:rPr lang="en-US" altLang="en-US"/>
              <a:t>Cross-Section Implications</a:t>
            </a:r>
          </a:p>
        </p:txBody>
      </p:sp>
      <p:sp>
        <p:nvSpPr>
          <p:cNvPr id="626691" name="Rectangle 3"/>
          <p:cNvSpPr>
            <a:spLocks noGrp="1" noChangeArrowheads="1"/>
          </p:cNvSpPr>
          <p:nvPr>
            <p:ph type="body" idx="1"/>
          </p:nvPr>
        </p:nvSpPr>
        <p:spPr/>
        <p:txBody>
          <a:bodyPr/>
          <a:lstStyle/>
          <a:p>
            <a:r>
              <a:rPr lang="en-US" altLang="en-US" dirty="0"/>
              <a:t>Our factor specification:</a:t>
            </a:r>
          </a:p>
          <a:p>
            <a:endParaRPr lang="en-US" altLang="en-US" dirty="0"/>
          </a:p>
          <a:p>
            <a:endParaRPr lang="en-US" altLang="en-US" dirty="0"/>
          </a:p>
          <a:p>
            <a:pPr lvl="1"/>
            <a:r>
              <a:rPr lang="en-US" altLang="en-US" dirty="0"/>
              <a:t>If aggregate volatility is priced, portfolios sorted by their sensitivities to aggregate volatility, 	    , should have different average returns.</a:t>
            </a:r>
          </a:p>
          <a:p>
            <a:pPr lvl="2"/>
            <a:r>
              <a:rPr lang="en-US" altLang="en-US" dirty="0"/>
              <a:t>Firms with higher 		should have lower returns.</a:t>
            </a:r>
          </a:p>
          <a:p>
            <a:endParaRPr lang="en-US" altLang="en-US" dirty="0"/>
          </a:p>
          <a:p>
            <a:pPr lvl="2"/>
            <a:r>
              <a:rPr lang="en-US" altLang="en-US" dirty="0"/>
              <a:t>Volatility risk should receive a negative risk price.</a:t>
            </a:r>
          </a:p>
          <a:p>
            <a:pPr lvl="1"/>
            <a:endParaRPr lang="en-US" altLang="en-US" dirty="0"/>
          </a:p>
          <a:p>
            <a:pPr lvl="1"/>
            <a:r>
              <a:rPr lang="en-US" altLang="en-US" dirty="0"/>
              <a:t>Daily data regression within every month,  form quintile portfolios and hold for one month</a:t>
            </a:r>
          </a:p>
          <a:p>
            <a:pPr lvl="1"/>
            <a:endParaRPr lang="en-US" altLang="en-US" dirty="0"/>
          </a:p>
        </p:txBody>
      </p:sp>
      <p:grpSp>
        <p:nvGrpSpPr>
          <p:cNvPr id="626700" name="Group 12"/>
          <p:cNvGrpSpPr>
            <a:grpSpLocks/>
          </p:cNvGrpSpPr>
          <p:nvPr/>
        </p:nvGrpSpPr>
        <p:grpSpPr bwMode="auto">
          <a:xfrm>
            <a:off x="1752600" y="2133601"/>
            <a:ext cx="4281488" cy="1951038"/>
            <a:chOff x="720" y="1351"/>
            <a:chExt cx="2697" cy="1229"/>
          </a:xfrm>
        </p:grpSpPr>
        <p:graphicFrame>
          <p:nvGraphicFramePr>
            <p:cNvPr id="626692" name="Object 4"/>
            <p:cNvGraphicFramePr>
              <a:graphicFrameLocks noChangeAspect="1"/>
            </p:cNvGraphicFramePr>
            <p:nvPr/>
          </p:nvGraphicFramePr>
          <p:xfrm>
            <a:off x="720" y="1351"/>
            <a:ext cx="2697" cy="263"/>
          </p:xfrm>
          <a:graphic>
            <a:graphicData uri="http://schemas.openxmlformats.org/presentationml/2006/ole">
              <mc:AlternateContent xmlns:mc="http://schemas.openxmlformats.org/markup-compatibility/2006">
                <mc:Choice xmlns:v="urn:schemas-microsoft-com:vml" Requires="v">
                  <p:oleObj name="Equation" r:id="rId2" imgW="2476440" imgH="241200" progId="Equation.3">
                    <p:embed/>
                  </p:oleObj>
                </mc:Choice>
                <mc:Fallback>
                  <p:oleObj name="Equation" r:id="rId2" imgW="2476440" imgH="241200" progId="Equation.3">
                    <p:embed/>
                    <p:pic>
                      <p:nvPicPr>
                        <p:cNvPr id="62669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1351"/>
                          <a:ext cx="2697"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6694" name="Object 6"/>
            <p:cNvGraphicFramePr>
              <a:graphicFrameLocks noChangeAspect="1"/>
            </p:cNvGraphicFramePr>
            <p:nvPr/>
          </p:nvGraphicFramePr>
          <p:xfrm>
            <a:off x="3008" y="1878"/>
            <a:ext cx="409" cy="277"/>
          </p:xfrm>
          <a:graphic>
            <a:graphicData uri="http://schemas.openxmlformats.org/presentationml/2006/ole">
              <mc:AlternateContent xmlns:mc="http://schemas.openxmlformats.org/markup-compatibility/2006">
                <mc:Choice xmlns:v="urn:schemas-microsoft-com:vml" Requires="v">
                  <p:oleObj name="Equation" r:id="rId4" imgW="355320" imgH="241200" progId="Equation.3">
                    <p:embed/>
                  </p:oleObj>
                </mc:Choice>
                <mc:Fallback>
                  <p:oleObj name="Equation" r:id="rId4" imgW="355320" imgH="241200" progId="Equation.3">
                    <p:embed/>
                    <p:pic>
                      <p:nvPicPr>
                        <p:cNvPr id="62669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8" y="1878"/>
                          <a:ext cx="409"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6696" name="Object 8"/>
            <p:cNvGraphicFramePr>
              <a:graphicFrameLocks noChangeAspect="1"/>
            </p:cNvGraphicFramePr>
            <p:nvPr/>
          </p:nvGraphicFramePr>
          <p:xfrm>
            <a:off x="2062" y="2303"/>
            <a:ext cx="409" cy="277"/>
          </p:xfrm>
          <a:graphic>
            <a:graphicData uri="http://schemas.openxmlformats.org/presentationml/2006/ole">
              <mc:AlternateContent xmlns:mc="http://schemas.openxmlformats.org/markup-compatibility/2006">
                <mc:Choice xmlns:v="urn:schemas-microsoft-com:vml" Requires="v">
                  <p:oleObj name="Equation" r:id="rId6" imgW="355320" imgH="241200" progId="Equation.3">
                    <p:embed/>
                  </p:oleObj>
                </mc:Choice>
                <mc:Fallback>
                  <p:oleObj name="Equation" r:id="rId6" imgW="355320" imgH="241200" progId="Equation.3">
                    <p:embed/>
                    <p:pic>
                      <p:nvPicPr>
                        <p:cNvPr id="626696"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2" y="2303"/>
                          <a:ext cx="409"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2831984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ln/>
        </p:spPr>
        <p:txBody>
          <a:bodyPr/>
          <a:lstStyle/>
          <a:p>
            <a:r>
              <a:rPr lang="en-US" altLang="en-US" dirty="0"/>
              <a:t>Portfolios sorted on </a:t>
            </a:r>
          </a:p>
        </p:txBody>
      </p:sp>
      <p:graphicFrame>
        <p:nvGraphicFramePr>
          <p:cNvPr id="490282" name="Object 810"/>
          <p:cNvGraphicFramePr>
            <a:graphicFrameLocks noGrp="1" noChangeAspect="1"/>
          </p:cNvGraphicFramePr>
          <p:nvPr>
            <p:ph idx="1"/>
          </p:nvPr>
        </p:nvGraphicFramePr>
        <p:xfrm>
          <a:off x="4876800" y="390524"/>
          <a:ext cx="914400" cy="587829"/>
        </p:xfrm>
        <a:graphic>
          <a:graphicData uri="http://schemas.openxmlformats.org/presentationml/2006/ole">
            <mc:AlternateContent xmlns:mc="http://schemas.openxmlformats.org/markup-compatibility/2006">
              <mc:Choice xmlns:v="urn:schemas-microsoft-com:vml" Requires="v">
                <p:oleObj name="Equation" r:id="rId3" imgW="355320" imgH="228600" progId="Equation.3">
                  <p:embed/>
                </p:oleObj>
              </mc:Choice>
              <mc:Fallback>
                <p:oleObj name="Equation" r:id="rId3" imgW="355320" imgH="228600" progId="Equation.3">
                  <p:embed/>
                  <p:pic>
                    <p:nvPicPr>
                      <p:cNvPr id="490282" name="Object 8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390524"/>
                        <a:ext cx="914400" cy="587829"/>
                      </a:xfrm>
                      <a:prstGeom prst="rect">
                        <a:avLst/>
                      </a:prstGeom>
                      <a:noFill/>
                      <a:ln>
                        <a:noFill/>
                      </a:ln>
                      <a:effectLst/>
                    </p:spPr>
                  </p:pic>
                </p:oleObj>
              </mc:Fallback>
            </mc:AlternateContent>
          </a:graphicData>
        </a:graphic>
      </p:graphicFrame>
      <p:sp>
        <p:nvSpPr>
          <p:cNvPr id="127" name="Slide Number Placeholder 3"/>
          <p:cNvSpPr>
            <a:spLocks noGrp="1"/>
          </p:cNvSpPr>
          <p:nvPr>
            <p:ph type="sldNum" sz="quarter" idx="12"/>
          </p:nvPr>
        </p:nvSpPr>
        <p:spPr/>
        <p:txBody>
          <a:bodyPr/>
          <a:lstStyle/>
          <a:p>
            <a:r>
              <a:rPr lang="en-US" altLang="en-US"/>
              <a:t>Ang, Hodrick, Xing and Zhang / </a:t>
            </a:r>
            <a:fld id="{98A05A45-F44C-4D7F-BCFC-8D7BA912F6B6}" type="slidenum">
              <a:rPr lang="en-US" altLang="en-US"/>
              <a:pPr/>
              <a:t>20</a:t>
            </a:fld>
            <a:endParaRPr lang="en-US" altLang="en-US"/>
          </a:p>
        </p:txBody>
      </p:sp>
      <p:graphicFrame>
        <p:nvGraphicFramePr>
          <p:cNvPr id="495818" name="Group 202"/>
          <p:cNvGraphicFramePr>
            <a:graphicFrameLocks noGrp="1"/>
          </p:cNvGraphicFramePr>
          <p:nvPr>
            <p:ph idx="4294967295"/>
          </p:nvPr>
        </p:nvGraphicFramePr>
        <p:xfrm>
          <a:off x="609600" y="1295400"/>
          <a:ext cx="7772400" cy="4464054"/>
        </p:xfrm>
        <a:graphic>
          <a:graphicData uri="http://schemas.openxmlformats.org/drawingml/2006/table">
            <a:tbl>
              <a:tblPr/>
              <a:tblGrid>
                <a:gridCol w="852488">
                  <a:extLst>
                    <a:ext uri="{9D8B030D-6E8A-4147-A177-3AD203B41FA5}">
                      <a16:colId xmlns:a16="http://schemas.microsoft.com/office/drawing/2014/main" val="835893418"/>
                    </a:ext>
                  </a:extLst>
                </a:gridCol>
                <a:gridCol w="885825">
                  <a:extLst>
                    <a:ext uri="{9D8B030D-6E8A-4147-A177-3AD203B41FA5}">
                      <a16:colId xmlns:a16="http://schemas.microsoft.com/office/drawing/2014/main" val="1814808422"/>
                    </a:ext>
                  </a:extLst>
                </a:gridCol>
                <a:gridCol w="776287">
                  <a:extLst>
                    <a:ext uri="{9D8B030D-6E8A-4147-A177-3AD203B41FA5}">
                      <a16:colId xmlns:a16="http://schemas.microsoft.com/office/drawing/2014/main" val="2456556828"/>
                    </a:ext>
                  </a:extLst>
                </a:gridCol>
                <a:gridCol w="928688">
                  <a:extLst>
                    <a:ext uri="{9D8B030D-6E8A-4147-A177-3AD203B41FA5}">
                      <a16:colId xmlns:a16="http://schemas.microsoft.com/office/drawing/2014/main" val="290459672"/>
                    </a:ext>
                  </a:extLst>
                </a:gridCol>
                <a:gridCol w="922337">
                  <a:extLst>
                    <a:ext uri="{9D8B030D-6E8A-4147-A177-3AD203B41FA5}">
                      <a16:colId xmlns:a16="http://schemas.microsoft.com/office/drawing/2014/main" val="296571668"/>
                    </a:ext>
                  </a:extLst>
                </a:gridCol>
                <a:gridCol w="850900">
                  <a:extLst>
                    <a:ext uri="{9D8B030D-6E8A-4147-A177-3AD203B41FA5}">
                      <a16:colId xmlns:a16="http://schemas.microsoft.com/office/drawing/2014/main" val="1384044322"/>
                    </a:ext>
                  </a:extLst>
                </a:gridCol>
                <a:gridCol w="852488">
                  <a:extLst>
                    <a:ext uri="{9D8B030D-6E8A-4147-A177-3AD203B41FA5}">
                      <a16:colId xmlns:a16="http://schemas.microsoft.com/office/drawing/2014/main" val="2554486039"/>
                    </a:ext>
                  </a:extLst>
                </a:gridCol>
                <a:gridCol w="850900">
                  <a:extLst>
                    <a:ext uri="{9D8B030D-6E8A-4147-A177-3AD203B41FA5}">
                      <a16:colId xmlns:a16="http://schemas.microsoft.com/office/drawing/2014/main" val="3821011497"/>
                    </a:ext>
                  </a:extLst>
                </a:gridCol>
                <a:gridCol w="852487">
                  <a:extLst>
                    <a:ext uri="{9D8B030D-6E8A-4147-A177-3AD203B41FA5}">
                      <a16:colId xmlns:a16="http://schemas.microsoft.com/office/drawing/2014/main" val="3357810055"/>
                    </a:ext>
                  </a:extLst>
                </a:gridCol>
              </a:tblGrid>
              <a:tr h="577850">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Rank</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mean</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turnover</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mkt share</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Log (size)</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B/M</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CAPM alpha</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FF3 alpha</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3123848"/>
                  </a:ext>
                </a:extLst>
              </a:tr>
              <a:tr h="215900">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1.64%</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5.53%</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0.74</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9.40%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3.70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0.89</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0.27%</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0.30%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3697279552"/>
                  </a:ext>
                </a:extLst>
              </a:tr>
              <a:tr h="327025">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dirty="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dirty="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1.66</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1.77</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47444561"/>
                  </a:ext>
                </a:extLst>
              </a:tr>
              <a:tr h="300038">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1.39%</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4.43%</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0.78</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28.70%</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4.77</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0.73</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0.18%</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0.09%</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465002880"/>
                  </a:ext>
                </a:extLst>
              </a:tr>
              <a:tr h="327025">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dirty="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dirty="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dirty="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1.82</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1.18</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3166025725"/>
                  </a:ext>
                </a:extLst>
              </a:tr>
              <a:tr h="29686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1.36%</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4.40%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0.72</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30.40%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4.77</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0.76</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0.13%</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0.08%</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3238084788"/>
                  </a:ext>
                </a:extLst>
              </a:tr>
              <a:tr h="32861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1.32</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378029501"/>
                  </a:ext>
                </a:extLst>
              </a:tr>
              <a:tr h="32861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1.21%</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4.79%</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0.78</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24.00%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4.76</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0.73</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-0.08%</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-0.06%</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3219384432"/>
                  </a:ext>
                </a:extLst>
              </a:tr>
              <a:tr h="32861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-0.87</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-0.65</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918198874"/>
                  </a:ext>
                </a:extLst>
              </a:tr>
              <a:tr h="327025">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0.60%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6.55%</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0.73</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7.40%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3.73</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0.89</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-0.88%</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-0.53%</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61535969"/>
                  </a:ext>
                </a:extLst>
              </a:tr>
              <a:tr h="32861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-3.42</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-2.88</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615772649"/>
                  </a:ext>
                </a:extLst>
              </a:tr>
              <a:tr h="32861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5-1</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-1.04%</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
                        </a:lnSpc>
                        <a:spcBef>
                          <a:spcPct val="20000"/>
                        </a:spcBef>
                        <a:spcAft>
                          <a:spcPct val="0"/>
                        </a:spcAft>
                        <a:buClrTx/>
                        <a:buSzTx/>
                        <a:buFontTx/>
                        <a:buNone/>
                        <a:tabLst/>
                      </a:pPr>
                      <a:endParaRPr kumimoji="0" lang="en-US" altLang="en-US" sz="1600" b="0" i="0" u="none" strike="noStrike" cap="none" normalizeH="0" baseline="0">
                        <a:ln>
                          <a:noFill/>
                        </a:ln>
                        <a:solidFill>
                          <a:srgbClr val="000099"/>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-1.15%</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-0.83%</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448422245"/>
                  </a:ext>
                </a:extLst>
              </a:tr>
              <a:tr h="32861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-3.90</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-3.54</a:t>
                      </a:r>
                      <a:endParaRPr kumimoji="0" lang="en-US" altLang="en-US" sz="1600" b="0" i="0" u="none" strike="noStrike" cap="none" normalizeH="0" baseline="0">
                        <a:ln>
                          <a:noFill/>
                        </a:ln>
                        <a:solidFill>
                          <a:schemeClr val="tx1"/>
                        </a:solidFill>
                        <a:effectLst/>
                        <a:latin typeface="Times New Roman" panose="02020603050405020304" pitchFamily="18"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1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-2.93</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txBody>
                  <a:tcPr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799432"/>
                  </a:ext>
                </a:extLst>
              </a:tr>
            </a:tbl>
          </a:graphicData>
        </a:graphic>
      </p:graphicFrame>
    </p:spTree>
    <p:extLst>
      <p:ext uri="{BB962C8B-B14F-4D97-AF65-F5344CB8AC3E}">
        <p14:creationId xmlns:p14="http://schemas.microsoft.com/office/powerpoint/2010/main" val="2983409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r>
              <a:rPr lang="en-US" altLang="en-US"/>
              <a:t>Ang, Hodrick, Xing and Zhang / </a:t>
            </a:r>
            <a:fld id="{33861C2F-9819-46DB-BC1F-4A312684D704}" type="slidenum">
              <a:rPr lang="en-US" altLang="en-US"/>
              <a:pPr/>
              <a:t>21</a:t>
            </a:fld>
            <a:endParaRPr lang="en-US" altLang="en-US"/>
          </a:p>
        </p:txBody>
      </p:sp>
      <p:sp>
        <p:nvSpPr>
          <p:cNvPr id="681986" name="Rectangle 2"/>
          <p:cNvSpPr>
            <a:spLocks noGrp="1" noChangeArrowheads="1"/>
          </p:cNvSpPr>
          <p:nvPr>
            <p:ph type="title"/>
          </p:nvPr>
        </p:nvSpPr>
        <p:spPr>
          <a:ln/>
        </p:spPr>
        <p:txBody>
          <a:bodyPr/>
          <a:lstStyle/>
          <a:p>
            <a:r>
              <a:rPr lang="en-US" altLang="en-US"/>
              <a:t>Tracking Portfolios</a:t>
            </a:r>
          </a:p>
        </p:txBody>
      </p:sp>
      <p:sp>
        <p:nvSpPr>
          <p:cNvPr id="681988" name="Text Box 4"/>
          <p:cNvSpPr txBox="1">
            <a:spLocks noChangeArrowheads="1"/>
          </p:cNvSpPr>
          <p:nvPr/>
        </p:nvSpPr>
        <p:spPr bwMode="auto">
          <a:xfrm>
            <a:off x="1127125" y="3622675"/>
            <a:ext cx="5273675"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sz="2400">
                <a:solidFill>
                  <a:schemeClr val="tx1"/>
                </a:solidFill>
                <a:latin typeface="Times New Roman" panose="02020603050405020304" pitchFamily="18" charset="0"/>
              </a:defRPr>
            </a:lvl1pPr>
            <a:lvl2pPr>
              <a:spcBef>
                <a:spcPct val="0"/>
              </a:spcBef>
              <a:defRPr sz="2400">
                <a:solidFill>
                  <a:schemeClr val="tx1"/>
                </a:solidFill>
                <a:latin typeface="Times New Roman" panose="02020603050405020304" pitchFamily="18" charset="0"/>
              </a:defRPr>
            </a:lvl2pPr>
            <a:lvl3pPr>
              <a:spcBef>
                <a:spcPct val="0"/>
              </a:spcBef>
              <a:defRPr sz="2400">
                <a:solidFill>
                  <a:schemeClr val="tx1"/>
                </a:solidFill>
                <a:latin typeface="Times New Roman" panose="02020603050405020304" pitchFamily="18" charset="0"/>
              </a:defRPr>
            </a:lvl3pPr>
            <a:lvl4pPr>
              <a:spcBef>
                <a:spcPct val="0"/>
              </a:spcBef>
              <a:defRPr sz="2400">
                <a:solidFill>
                  <a:schemeClr val="tx1"/>
                </a:solidFill>
                <a:latin typeface="Times New Roman" panose="02020603050405020304" pitchFamily="18" charset="0"/>
              </a:defRPr>
            </a:lvl4pPr>
            <a:lvl5pPr>
              <a:spcBef>
                <a:spcPct val="0"/>
              </a:spcBef>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a:spcBef>
                <a:spcPct val="20000"/>
              </a:spcBef>
              <a:buFontTx/>
              <a:buChar char="•"/>
            </a:pPr>
            <a:endParaRPr lang="en-US" altLang="en-US">
              <a:solidFill>
                <a:srgbClr val="000099"/>
              </a:solidFill>
            </a:endParaRPr>
          </a:p>
          <a:p>
            <a:pPr>
              <a:spcBef>
                <a:spcPct val="20000"/>
              </a:spcBef>
              <a:buFontTx/>
              <a:buChar char="•"/>
            </a:pPr>
            <a:endParaRPr lang="en-US" altLang="en-US">
              <a:solidFill>
                <a:srgbClr val="000099"/>
              </a:solidFill>
            </a:endParaRPr>
          </a:p>
          <a:p>
            <a:pPr>
              <a:spcBef>
                <a:spcPct val="20000"/>
              </a:spcBef>
              <a:buFontTx/>
              <a:buChar char="•"/>
            </a:pPr>
            <a:endParaRPr lang="en-US" altLang="en-US"/>
          </a:p>
        </p:txBody>
      </p:sp>
      <p:pic>
        <p:nvPicPr>
          <p:cNvPr id="2" name="Picture 1"/>
          <p:cNvPicPr>
            <a:picLocks noChangeAspect="1"/>
          </p:cNvPicPr>
          <p:nvPr/>
        </p:nvPicPr>
        <p:blipFill>
          <a:blip r:embed="rId3"/>
          <a:stretch>
            <a:fillRect/>
          </a:stretch>
        </p:blipFill>
        <p:spPr>
          <a:xfrm>
            <a:off x="614362" y="1519237"/>
            <a:ext cx="7915275" cy="3819525"/>
          </a:xfrm>
          <a:prstGeom prst="rect">
            <a:avLst/>
          </a:prstGeom>
        </p:spPr>
      </p:pic>
    </p:spTree>
    <p:extLst>
      <p:ext uri="{BB962C8B-B14F-4D97-AF65-F5344CB8AC3E}">
        <p14:creationId xmlns:p14="http://schemas.microsoft.com/office/powerpoint/2010/main" val="3514590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09600" y="609600"/>
            <a:ext cx="7943850" cy="5334000"/>
          </a:xfrm>
          <a:prstGeom prst="rect">
            <a:avLst/>
          </a:prstGeom>
        </p:spPr>
      </p:pic>
      <p:pic>
        <p:nvPicPr>
          <p:cNvPr id="5" name="Picture 4"/>
          <p:cNvPicPr>
            <a:picLocks noChangeAspect="1"/>
          </p:cNvPicPr>
          <p:nvPr/>
        </p:nvPicPr>
        <p:blipFill>
          <a:blip r:embed="rId3"/>
          <a:stretch>
            <a:fillRect/>
          </a:stretch>
        </p:blipFill>
        <p:spPr>
          <a:xfrm>
            <a:off x="519112" y="809625"/>
            <a:ext cx="8105775" cy="5238750"/>
          </a:xfrm>
          <a:prstGeom prst="rect">
            <a:avLst/>
          </a:prstGeom>
        </p:spPr>
      </p:pic>
    </p:spTree>
    <p:extLst>
      <p:ext uri="{BB962C8B-B14F-4D97-AF65-F5344CB8AC3E}">
        <p14:creationId xmlns:p14="http://schemas.microsoft.com/office/powerpoint/2010/main" val="941907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ChangeArrowheads="1"/>
          </p:cNvSpPr>
          <p:nvPr>
            <p:ph type="title"/>
          </p:nvPr>
        </p:nvSpPr>
        <p:spPr>
          <a:ln/>
        </p:spPr>
        <p:txBody>
          <a:bodyPr/>
          <a:lstStyle/>
          <a:p>
            <a:pPr algn="l"/>
            <a:r>
              <a:rPr lang="en-US" altLang="en-US" dirty="0"/>
              <a:t>Loadings</a:t>
            </a:r>
          </a:p>
        </p:txBody>
      </p:sp>
      <p:sp>
        <p:nvSpPr>
          <p:cNvPr id="44" name="Slide Number Placeholder 5"/>
          <p:cNvSpPr>
            <a:spLocks noGrp="1"/>
          </p:cNvSpPr>
          <p:nvPr>
            <p:ph type="sldNum" sz="quarter" idx="12"/>
          </p:nvPr>
        </p:nvSpPr>
        <p:spPr/>
        <p:txBody>
          <a:bodyPr/>
          <a:lstStyle/>
          <a:p>
            <a:r>
              <a:rPr lang="en-US" altLang="en-US"/>
              <a:t>Ang, Hodrick, Xing and Zhang / </a:t>
            </a:r>
            <a:fld id="{468BB4B7-D234-44FA-B710-53C48938FFC7}" type="slidenum">
              <a:rPr lang="en-US" altLang="en-US"/>
              <a:pPr/>
              <a:t>23</a:t>
            </a:fld>
            <a:endParaRPr lang="en-US" altLang="en-US"/>
          </a:p>
        </p:txBody>
      </p:sp>
      <p:pic>
        <p:nvPicPr>
          <p:cNvPr id="2" name="Picture 1"/>
          <p:cNvPicPr>
            <a:picLocks noChangeAspect="1"/>
          </p:cNvPicPr>
          <p:nvPr/>
        </p:nvPicPr>
        <p:blipFill>
          <a:blip r:embed="rId3"/>
          <a:stretch>
            <a:fillRect/>
          </a:stretch>
        </p:blipFill>
        <p:spPr>
          <a:xfrm>
            <a:off x="2166938" y="1417638"/>
            <a:ext cx="6519862" cy="3983773"/>
          </a:xfrm>
          <a:prstGeom prst="rect">
            <a:avLst/>
          </a:prstGeom>
        </p:spPr>
      </p:pic>
      <p:pic>
        <p:nvPicPr>
          <p:cNvPr id="4" name="Picture 3"/>
          <p:cNvPicPr>
            <a:picLocks noChangeAspect="1"/>
          </p:cNvPicPr>
          <p:nvPr/>
        </p:nvPicPr>
        <p:blipFill>
          <a:blip r:embed="rId4"/>
          <a:stretch>
            <a:fillRect/>
          </a:stretch>
        </p:blipFill>
        <p:spPr>
          <a:xfrm>
            <a:off x="381000" y="1330044"/>
            <a:ext cx="1676400" cy="4516670"/>
          </a:xfrm>
          <a:prstGeom prst="rect">
            <a:avLst/>
          </a:prstGeom>
        </p:spPr>
      </p:pic>
    </p:spTree>
    <p:extLst>
      <p:ext uri="{BB962C8B-B14F-4D97-AF65-F5344CB8AC3E}">
        <p14:creationId xmlns:p14="http://schemas.microsoft.com/office/powerpoint/2010/main" val="942636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304800"/>
            <a:ext cx="8162925" cy="2133600"/>
          </a:xfrm>
          <a:prstGeom prst="rect">
            <a:avLst/>
          </a:prstGeom>
        </p:spPr>
      </p:pic>
      <p:pic>
        <p:nvPicPr>
          <p:cNvPr id="5" name="Picture 4"/>
          <p:cNvPicPr>
            <a:picLocks noChangeAspect="1"/>
          </p:cNvPicPr>
          <p:nvPr/>
        </p:nvPicPr>
        <p:blipFill>
          <a:blip r:embed="rId3"/>
          <a:stretch>
            <a:fillRect/>
          </a:stretch>
        </p:blipFill>
        <p:spPr>
          <a:xfrm>
            <a:off x="990600" y="2438400"/>
            <a:ext cx="7313123" cy="3886200"/>
          </a:xfrm>
          <a:prstGeom prst="rect">
            <a:avLst/>
          </a:prstGeom>
        </p:spPr>
      </p:pic>
    </p:spTree>
    <p:extLst>
      <p:ext uri="{BB962C8B-B14F-4D97-AF65-F5344CB8AC3E}">
        <p14:creationId xmlns:p14="http://schemas.microsoft.com/office/powerpoint/2010/main" val="62517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Ang, Hodrick, Xing and Zhang / </a:t>
            </a:r>
            <a:fld id="{F96FA24A-5B06-418D-8E33-9F446459D8F5}" type="slidenum">
              <a:rPr lang="en-US" altLang="en-US"/>
              <a:pPr/>
              <a:t>25</a:t>
            </a:fld>
            <a:endParaRPr lang="en-US" altLang="en-US"/>
          </a:p>
        </p:txBody>
      </p:sp>
      <p:sp>
        <p:nvSpPr>
          <p:cNvPr id="684034" name="Rectangle 2"/>
          <p:cNvSpPr>
            <a:spLocks noGrp="1" noChangeArrowheads="1"/>
          </p:cNvSpPr>
          <p:nvPr>
            <p:ph type="title"/>
          </p:nvPr>
        </p:nvSpPr>
        <p:spPr>
          <a:ln/>
        </p:spPr>
        <p:txBody>
          <a:bodyPr/>
          <a:lstStyle/>
          <a:p>
            <a:r>
              <a:rPr lang="en-US" altLang="en-US"/>
              <a:t>Tradable Volatility Portfolio</a:t>
            </a:r>
          </a:p>
        </p:txBody>
      </p:sp>
      <p:sp>
        <p:nvSpPr>
          <p:cNvPr id="684035" name="Rectangle 3"/>
          <p:cNvSpPr>
            <a:spLocks noGrp="1" noChangeArrowheads="1"/>
          </p:cNvSpPr>
          <p:nvPr>
            <p:ph type="body" idx="1"/>
          </p:nvPr>
        </p:nvSpPr>
        <p:spPr/>
        <p:txBody>
          <a:bodyPr/>
          <a:lstStyle/>
          <a:p>
            <a:r>
              <a:rPr lang="en-US" altLang="en-US" dirty="0"/>
              <a:t>Zero-beta straddle returns (STR) as in </a:t>
            </a:r>
            <a:r>
              <a:rPr lang="en-US" altLang="en-US" dirty="0" err="1"/>
              <a:t>Coval</a:t>
            </a:r>
            <a:r>
              <a:rPr lang="en-US" altLang="en-US" dirty="0"/>
              <a:t> and Shumway (2001),</a:t>
            </a:r>
          </a:p>
          <a:p>
            <a:pPr lvl="1"/>
            <a:r>
              <a:rPr lang="en-US" altLang="en-US" dirty="0"/>
              <a:t>Portfolio of at-the-money call and put options with no sensitivity to market returns but strong sensitivity to market volatility.</a:t>
            </a:r>
          </a:p>
          <a:p>
            <a:pPr lvl="1"/>
            <a:endParaRPr lang="en-US" altLang="en-US" dirty="0"/>
          </a:p>
          <a:p>
            <a:pPr lvl="1"/>
            <a:r>
              <a:rPr lang="en-US" altLang="en-US" dirty="0"/>
              <a:t>Correlations: STR and FVIX =0.83</a:t>
            </a:r>
          </a:p>
        </p:txBody>
      </p:sp>
    </p:spTree>
    <p:extLst>
      <p:ext uri="{BB962C8B-B14F-4D97-AF65-F5344CB8AC3E}">
        <p14:creationId xmlns:p14="http://schemas.microsoft.com/office/powerpoint/2010/main" val="2591292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a:ln/>
        </p:spPr>
        <p:txBody>
          <a:bodyPr/>
          <a:lstStyle/>
          <a:p>
            <a:r>
              <a:rPr lang="en-US" altLang="en-US" dirty="0"/>
              <a:t>Volatility Risk Price: </a:t>
            </a:r>
            <a:r>
              <a:rPr lang="en-US" altLang="en-US" dirty="0" err="1"/>
              <a:t>Fama-MacBeth</a:t>
            </a:r>
            <a:r>
              <a:rPr lang="en-US" altLang="en-US" dirty="0"/>
              <a:t> Estimation</a:t>
            </a:r>
          </a:p>
        </p:txBody>
      </p:sp>
      <p:sp>
        <p:nvSpPr>
          <p:cNvPr id="5" name="Slide Number Placeholder 4"/>
          <p:cNvSpPr>
            <a:spLocks noGrp="1"/>
          </p:cNvSpPr>
          <p:nvPr>
            <p:ph type="sldNum" sz="quarter" idx="12"/>
          </p:nvPr>
        </p:nvSpPr>
        <p:spPr/>
        <p:txBody>
          <a:bodyPr/>
          <a:lstStyle/>
          <a:p>
            <a:r>
              <a:rPr lang="en-US" altLang="en-US"/>
              <a:t>Ang, Hodrick, Xing and Zhang / </a:t>
            </a:r>
            <a:fld id="{8ED34A9C-31DB-44B9-A02B-5207A9D94563}" type="slidenum">
              <a:rPr lang="en-US" altLang="en-US"/>
              <a:pPr/>
              <a:t>26</a:t>
            </a:fld>
            <a:endParaRPr lang="en-US" altLang="en-US"/>
          </a:p>
        </p:txBody>
      </p:sp>
      <p:sp>
        <p:nvSpPr>
          <p:cNvPr id="662531" name="Rectangle 3"/>
          <p:cNvSpPr>
            <a:spLocks noGrp="1" noChangeArrowheads="1"/>
          </p:cNvSpPr>
          <p:nvPr>
            <p:ph type="body" sz="half" idx="4294967295"/>
          </p:nvPr>
        </p:nvSpPr>
        <p:spPr>
          <a:xfrm>
            <a:off x="457200" y="1776413"/>
            <a:ext cx="7772400" cy="4419600"/>
          </a:xfrm>
        </p:spPr>
        <p:txBody>
          <a:bodyPr/>
          <a:lstStyle/>
          <a:p>
            <a:r>
              <a:rPr lang="en-US" altLang="en-US" sz="2000" dirty="0"/>
              <a:t>Estimation:</a:t>
            </a:r>
          </a:p>
          <a:p>
            <a:pPr lvl="1"/>
            <a:r>
              <a:rPr lang="en-US" altLang="en-US" sz="2000" dirty="0"/>
              <a:t>We form 25 portfolios sorted according to sensitivities to market returns and innovations in volatility with daily returns.</a:t>
            </a:r>
          </a:p>
          <a:p>
            <a:pPr lvl="1"/>
            <a:r>
              <a:rPr lang="en-US" altLang="en-US" sz="2000" dirty="0"/>
              <a:t>As in </a:t>
            </a:r>
            <a:r>
              <a:rPr lang="en-US" altLang="en-US" sz="2000" dirty="0" err="1"/>
              <a:t>Fama-MacBeth</a:t>
            </a:r>
            <a:r>
              <a:rPr lang="en-US" altLang="en-US" sz="2000" dirty="0"/>
              <a:t>, the monthly portfolio returns are regressed on several linear factor models to estimate risk premiums:  </a:t>
            </a:r>
            <a:r>
              <a:rPr lang="en-US" altLang="en-US" sz="2000" dirty="0">
                <a:sym typeface="Symbol" panose="05050102010706020507" pitchFamily="18" charset="2"/>
              </a:rPr>
              <a:t>’s.</a:t>
            </a:r>
          </a:p>
        </p:txBody>
      </p:sp>
      <p:pic>
        <p:nvPicPr>
          <p:cNvPr id="2" name="Picture 1"/>
          <p:cNvPicPr>
            <a:picLocks noChangeAspect="1"/>
          </p:cNvPicPr>
          <p:nvPr/>
        </p:nvPicPr>
        <p:blipFill>
          <a:blip r:embed="rId3"/>
          <a:stretch>
            <a:fillRect/>
          </a:stretch>
        </p:blipFill>
        <p:spPr>
          <a:xfrm>
            <a:off x="990600" y="4419600"/>
            <a:ext cx="6877050" cy="809625"/>
          </a:xfrm>
          <a:prstGeom prst="rect">
            <a:avLst/>
          </a:prstGeom>
        </p:spPr>
      </p:pic>
    </p:spTree>
    <p:extLst>
      <p:ext uri="{BB962C8B-B14F-4D97-AF65-F5344CB8AC3E}">
        <p14:creationId xmlns:p14="http://schemas.microsoft.com/office/powerpoint/2010/main" val="2425492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a:ln/>
        </p:spPr>
        <p:txBody>
          <a:bodyPr/>
          <a:lstStyle/>
          <a:p>
            <a:r>
              <a:rPr lang="en-US" altLang="en-US" dirty="0" err="1"/>
              <a:t>Fama-MacBeth</a:t>
            </a:r>
            <a:r>
              <a:rPr lang="en-US" altLang="en-US" dirty="0"/>
              <a:t> Factor Premiums</a:t>
            </a:r>
            <a:endParaRPr lang="en-US" altLang="en-US" dirty="0">
              <a:cs typeface="Times New Roman" panose="02020603050405020304" pitchFamily="18" charset="0"/>
              <a:sym typeface="Symbol" panose="05050102010706020507" pitchFamily="18" charset="2"/>
            </a:endParaRPr>
          </a:p>
        </p:txBody>
      </p:sp>
      <p:sp>
        <p:nvSpPr>
          <p:cNvPr id="118" name="Slide Number Placeholder 3"/>
          <p:cNvSpPr>
            <a:spLocks noGrp="1"/>
          </p:cNvSpPr>
          <p:nvPr>
            <p:ph type="sldNum" sz="quarter" idx="12"/>
          </p:nvPr>
        </p:nvSpPr>
        <p:spPr/>
        <p:txBody>
          <a:bodyPr/>
          <a:lstStyle/>
          <a:p>
            <a:r>
              <a:rPr lang="en-US" altLang="en-US"/>
              <a:t>Ang, Hodrick, Xing and Zhang / </a:t>
            </a:r>
            <a:fld id="{A958E788-109B-4653-8169-854E3B1907BE}" type="slidenum">
              <a:rPr lang="en-US" altLang="en-US"/>
              <a:pPr/>
              <a:t>27</a:t>
            </a:fld>
            <a:endParaRPr lang="en-US" altLang="en-US"/>
          </a:p>
        </p:txBody>
      </p:sp>
      <p:pic>
        <p:nvPicPr>
          <p:cNvPr id="3" name="Picture 2"/>
          <p:cNvPicPr>
            <a:picLocks noChangeAspect="1"/>
          </p:cNvPicPr>
          <p:nvPr/>
        </p:nvPicPr>
        <p:blipFill>
          <a:blip r:embed="rId3"/>
          <a:stretch>
            <a:fillRect/>
          </a:stretch>
        </p:blipFill>
        <p:spPr>
          <a:xfrm>
            <a:off x="576262" y="1014412"/>
            <a:ext cx="7991475" cy="4829175"/>
          </a:xfrm>
          <a:prstGeom prst="rect">
            <a:avLst/>
          </a:prstGeom>
        </p:spPr>
      </p:pic>
    </p:spTree>
    <p:extLst>
      <p:ext uri="{BB962C8B-B14F-4D97-AF65-F5344CB8AC3E}">
        <p14:creationId xmlns:p14="http://schemas.microsoft.com/office/powerpoint/2010/main" val="904201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Ang, Hodrick, Xing and Zhang / </a:t>
            </a:r>
            <a:fld id="{FF7F31EE-4EB2-4D10-BA07-D6CF5175FE2D}" type="slidenum">
              <a:rPr lang="en-US" altLang="en-US"/>
              <a:pPr/>
              <a:t>28</a:t>
            </a:fld>
            <a:endParaRPr lang="en-US" altLang="en-US"/>
          </a:p>
        </p:txBody>
      </p:sp>
      <p:sp>
        <p:nvSpPr>
          <p:cNvPr id="523266" name="Rectangle 2"/>
          <p:cNvSpPr>
            <a:spLocks noGrp="1" noChangeArrowheads="1"/>
          </p:cNvSpPr>
          <p:nvPr>
            <p:ph type="title"/>
          </p:nvPr>
        </p:nvSpPr>
        <p:spPr>
          <a:ln/>
        </p:spPr>
        <p:txBody>
          <a:bodyPr/>
          <a:lstStyle/>
          <a:p>
            <a:r>
              <a:rPr lang="en-US" altLang="en-US"/>
              <a:t>Idiosyncratic Volatility</a:t>
            </a:r>
          </a:p>
        </p:txBody>
      </p:sp>
      <p:sp>
        <p:nvSpPr>
          <p:cNvPr id="523267" name="Rectangle 3"/>
          <p:cNvSpPr>
            <a:spLocks noGrp="1" noChangeArrowheads="1"/>
          </p:cNvSpPr>
          <p:nvPr>
            <p:ph type="body" idx="1"/>
          </p:nvPr>
        </p:nvSpPr>
        <p:spPr/>
        <p:txBody>
          <a:bodyPr/>
          <a:lstStyle/>
          <a:p>
            <a:r>
              <a:rPr lang="en-US" altLang="en-US"/>
              <a:t>Should idiosyncratic volatility be priced?</a:t>
            </a:r>
          </a:p>
          <a:p>
            <a:pPr lvl="1"/>
            <a:r>
              <a:rPr lang="en-US" altLang="en-US"/>
              <a:t>If the model is correct and the market is perfect, idiosyncratic volatility should not be priced.</a:t>
            </a:r>
          </a:p>
          <a:p>
            <a:endParaRPr lang="en-US" altLang="en-US"/>
          </a:p>
          <a:p>
            <a:r>
              <a:rPr lang="en-US" altLang="en-US"/>
              <a:t>Caveats:</a:t>
            </a:r>
          </a:p>
          <a:p>
            <a:pPr lvl="1"/>
            <a:r>
              <a:rPr lang="en-US" altLang="en-US"/>
              <a:t>Models might mis-specify relevant risks.</a:t>
            </a:r>
          </a:p>
          <a:p>
            <a:pPr lvl="1"/>
            <a:r>
              <a:rPr lang="en-US" altLang="en-US"/>
              <a:t>Investors may not want to fully diversify because of asymmetric information or illiquidity.</a:t>
            </a:r>
          </a:p>
          <a:p>
            <a:pPr lvl="1"/>
            <a:r>
              <a:rPr lang="en-US" altLang="en-US"/>
              <a:t>Short-sale constraints may prevent arbitrage.</a:t>
            </a:r>
          </a:p>
        </p:txBody>
      </p:sp>
    </p:spTree>
    <p:extLst>
      <p:ext uri="{BB962C8B-B14F-4D97-AF65-F5344CB8AC3E}">
        <p14:creationId xmlns:p14="http://schemas.microsoft.com/office/powerpoint/2010/main" val="33022888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r>
              <a:rPr lang="en-US" altLang="en-US"/>
              <a:t>Ang, Hodrick, Xing and Zhang / </a:t>
            </a:r>
            <a:fld id="{1A46BBE4-5A30-459C-BC33-FB483C5B03FD}" type="slidenum">
              <a:rPr lang="en-US" altLang="en-US"/>
              <a:pPr/>
              <a:t>29</a:t>
            </a:fld>
            <a:endParaRPr lang="en-US" altLang="en-US"/>
          </a:p>
        </p:txBody>
      </p:sp>
      <p:sp>
        <p:nvSpPr>
          <p:cNvPr id="526338" name="Rectangle 2"/>
          <p:cNvSpPr>
            <a:spLocks noGrp="1" noChangeArrowheads="1"/>
          </p:cNvSpPr>
          <p:nvPr>
            <p:ph type="title"/>
          </p:nvPr>
        </p:nvSpPr>
        <p:spPr>
          <a:ln/>
        </p:spPr>
        <p:txBody>
          <a:bodyPr/>
          <a:lstStyle/>
          <a:p>
            <a:r>
              <a:rPr lang="en-US" altLang="en-US"/>
              <a:t>Estimate Idiosyncratic Volatility</a:t>
            </a:r>
          </a:p>
        </p:txBody>
      </p:sp>
      <p:sp>
        <p:nvSpPr>
          <p:cNvPr id="526339" name="Rectangle 3"/>
          <p:cNvSpPr>
            <a:spLocks noGrp="1" noChangeArrowheads="1"/>
          </p:cNvSpPr>
          <p:nvPr>
            <p:ph type="body" idx="1"/>
          </p:nvPr>
        </p:nvSpPr>
        <p:spPr/>
        <p:txBody>
          <a:bodyPr/>
          <a:lstStyle/>
          <a:p>
            <a:r>
              <a:rPr lang="en-US" altLang="en-US" dirty="0"/>
              <a:t>We measure systematic risk with the FF3 model:</a:t>
            </a:r>
          </a:p>
          <a:p>
            <a:endParaRPr lang="en-US" altLang="en-US" dirty="0"/>
          </a:p>
          <a:p>
            <a:endParaRPr lang="en-US" altLang="en-US" dirty="0"/>
          </a:p>
          <a:p>
            <a:pPr lvl="1"/>
            <a:endParaRPr lang="en-US" altLang="en-US" dirty="0"/>
          </a:p>
          <a:p>
            <a:pPr lvl="1"/>
            <a:r>
              <a:rPr lang="en-US" altLang="en-US" dirty="0"/>
              <a:t>We measure idiosyncratic volatility as the square root of </a:t>
            </a:r>
            <a:r>
              <a:rPr lang="en-US" altLang="en-US" i="1" dirty="0"/>
              <a:t>var(</a:t>
            </a:r>
            <a:r>
              <a:rPr lang="en-US" altLang="en-US" i="1" dirty="0">
                <a:sym typeface="Symbol" panose="05050102010706020507" pitchFamily="18" charset="2"/>
              </a:rPr>
              <a:t></a:t>
            </a:r>
            <a:r>
              <a:rPr lang="en-US" altLang="en-US" i="1" baseline="-25000" dirty="0" err="1">
                <a:sym typeface="Symbol" panose="05050102010706020507" pitchFamily="18" charset="2"/>
              </a:rPr>
              <a:t>t</a:t>
            </a:r>
            <a:r>
              <a:rPr lang="en-US" altLang="en-US" i="1" baseline="30000" dirty="0" err="1">
                <a:sym typeface="Symbol" panose="05050102010706020507" pitchFamily="18" charset="2"/>
              </a:rPr>
              <a:t>i</a:t>
            </a:r>
            <a:r>
              <a:rPr lang="en-US" altLang="en-US" i="1" dirty="0">
                <a:sym typeface="Symbol" panose="05050102010706020507" pitchFamily="18" charset="2"/>
              </a:rPr>
              <a:t>)</a:t>
            </a:r>
            <a:endParaRPr lang="en-US" altLang="en-US" i="1" baseline="30000" dirty="0">
              <a:sym typeface="Symbol" panose="05050102010706020507" pitchFamily="18" charset="2"/>
            </a:endParaRPr>
          </a:p>
          <a:p>
            <a:endParaRPr lang="en-US" altLang="en-US" i="1" dirty="0"/>
          </a:p>
        </p:txBody>
      </p:sp>
      <p:graphicFrame>
        <p:nvGraphicFramePr>
          <p:cNvPr id="526346" name="Object 10"/>
          <p:cNvGraphicFramePr>
            <a:graphicFrameLocks noChangeAspect="1"/>
          </p:cNvGraphicFramePr>
          <p:nvPr/>
        </p:nvGraphicFramePr>
        <p:xfrm>
          <a:off x="1295400" y="2438400"/>
          <a:ext cx="6008688" cy="439738"/>
        </p:xfrm>
        <a:graphic>
          <a:graphicData uri="http://schemas.openxmlformats.org/presentationml/2006/ole">
            <mc:AlternateContent xmlns:mc="http://schemas.openxmlformats.org/markup-compatibility/2006">
              <mc:Choice xmlns:v="urn:schemas-microsoft-com:vml" Requires="v">
                <p:oleObj name="Equation" r:id="rId3" imgW="3301920" imgH="241200" progId="Equation.3">
                  <p:embed/>
                </p:oleObj>
              </mc:Choice>
              <mc:Fallback>
                <p:oleObj name="Equation" r:id="rId3" imgW="3301920" imgH="241200" progId="Equation.3">
                  <p:embed/>
                  <p:pic>
                    <p:nvPicPr>
                      <p:cNvPr id="526346"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438400"/>
                        <a:ext cx="6008688"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38232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1026"/>
          <p:cNvSpPr>
            <a:spLocks noGrp="1" noChangeArrowheads="1"/>
          </p:cNvSpPr>
          <p:nvPr>
            <p:ph type="title"/>
          </p:nvPr>
        </p:nvSpPr>
        <p:spPr>
          <a:ln/>
        </p:spPr>
        <p:txBody>
          <a:bodyPr/>
          <a:lstStyle/>
          <a:p>
            <a:r>
              <a:rPr lang="en-US" altLang="en-US" dirty="0"/>
              <a:t>Idiosyncratic Volatility Sorted Portfolios</a:t>
            </a:r>
          </a:p>
        </p:txBody>
      </p:sp>
      <p:graphicFrame>
        <p:nvGraphicFramePr>
          <p:cNvPr id="531861" name="Group 1429"/>
          <p:cNvGraphicFramePr>
            <a:graphicFrameLocks noGrp="1"/>
          </p:cNvGraphicFramePr>
          <p:nvPr>
            <p:ph idx="1"/>
          </p:nvPr>
        </p:nvGraphicFramePr>
        <p:xfrm>
          <a:off x="457200" y="1600200"/>
          <a:ext cx="8229598" cy="4476500"/>
        </p:xfrm>
        <a:graphic>
          <a:graphicData uri="http://schemas.openxmlformats.org/drawingml/2006/table">
            <a:tbl>
              <a:tblPr/>
              <a:tblGrid>
                <a:gridCol w="902634">
                  <a:extLst>
                    <a:ext uri="{9D8B030D-6E8A-4147-A177-3AD203B41FA5}">
                      <a16:colId xmlns:a16="http://schemas.microsoft.com/office/drawing/2014/main" val="2944364716"/>
                    </a:ext>
                  </a:extLst>
                </a:gridCol>
                <a:gridCol w="939613">
                  <a:extLst>
                    <a:ext uri="{9D8B030D-6E8A-4147-A177-3AD203B41FA5}">
                      <a16:colId xmlns:a16="http://schemas.microsoft.com/office/drawing/2014/main" val="1145749622"/>
                    </a:ext>
                  </a:extLst>
                </a:gridCol>
                <a:gridCol w="902634">
                  <a:extLst>
                    <a:ext uri="{9D8B030D-6E8A-4147-A177-3AD203B41FA5}">
                      <a16:colId xmlns:a16="http://schemas.microsoft.com/office/drawing/2014/main" val="2128757490"/>
                    </a:ext>
                  </a:extLst>
                </a:gridCol>
                <a:gridCol w="885824">
                  <a:extLst>
                    <a:ext uri="{9D8B030D-6E8A-4147-A177-3AD203B41FA5}">
                      <a16:colId xmlns:a16="http://schemas.microsoft.com/office/drawing/2014/main" val="2452140795"/>
                    </a:ext>
                  </a:extLst>
                </a:gridCol>
                <a:gridCol w="990040">
                  <a:extLst>
                    <a:ext uri="{9D8B030D-6E8A-4147-A177-3AD203B41FA5}">
                      <a16:colId xmlns:a16="http://schemas.microsoft.com/office/drawing/2014/main" val="2504932888"/>
                    </a:ext>
                  </a:extLst>
                </a:gridCol>
                <a:gridCol w="902633">
                  <a:extLst>
                    <a:ext uri="{9D8B030D-6E8A-4147-A177-3AD203B41FA5}">
                      <a16:colId xmlns:a16="http://schemas.microsoft.com/office/drawing/2014/main" val="1203999753"/>
                    </a:ext>
                  </a:extLst>
                </a:gridCol>
                <a:gridCol w="902634">
                  <a:extLst>
                    <a:ext uri="{9D8B030D-6E8A-4147-A177-3AD203B41FA5}">
                      <a16:colId xmlns:a16="http://schemas.microsoft.com/office/drawing/2014/main" val="3973996642"/>
                    </a:ext>
                  </a:extLst>
                </a:gridCol>
                <a:gridCol w="900953">
                  <a:extLst>
                    <a:ext uri="{9D8B030D-6E8A-4147-A177-3AD203B41FA5}">
                      <a16:colId xmlns:a16="http://schemas.microsoft.com/office/drawing/2014/main" val="4187595687"/>
                    </a:ext>
                  </a:extLst>
                </a:gridCol>
                <a:gridCol w="902633">
                  <a:extLst>
                    <a:ext uri="{9D8B030D-6E8A-4147-A177-3AD203B41FA5}">
                      <a16:colId xmlns:a16="http://schemas.microsoft.com/office/drawing/2014/main" val="3426593754"/>
                    </a:ext>
                  </a:extLst>
                </a:gridCol>
              </a:tblGrid>
              <a:tr h="552450">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Rank</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mean</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std dev</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Turn over</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mkt share</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Log (size)</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B/M</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CAPM alpha</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FF3 alpha</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3264067"/>
                  </a:ext>
                </a:extLst>
              </a:tr>
              <a:tr h="336550">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3.83%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0.41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53.50%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4.86</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0.11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2507681046"/>
                  </a:ext>
                </a:extLst>
              </a:tr>
              <a:tr h="382588">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1.57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0.99</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394504885"/>
                  </a:ext>
                </a:extLst>
              </a:tr>
              <a:tr h="24606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1.16%</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0.64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27.40%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0.11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0.09</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3593836931"/>
                  </a:ext>
                </a:extLst>
              </a:tr>
              <a:tr h="381000">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1.98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1.51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31413155"/>
                  </a:ext>
                </a:extLst>
              </a:tr>
              <a:tr h="24606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5.85%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0.68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11.90%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4.07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819916198"/>
                  </a:ext>
                </a:extLst>
              </a:tr>
              <a:tr h="382588">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0.37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772173276"/>
                  </a:ext>
                </a:extLst>
              </a:tr>
              <a:tr h="24606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7.13%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0.65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5.20%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3.42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-0.38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-0.32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3835288464"/>
                  </a:ext>
                </a:extLst>
              </a:tr>
              <a:tr h="382588">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-2.32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-3.15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255597662"/>
                  </a:ext>
                </a:extLst>
              </a:tr>
              <a:tr h="24606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8.16%</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0.42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1.90%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2.52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8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3400016556"/>
                  </a:ext>
                </a:extLst>
              </a:tr>
              <a:tr h="382588">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-5.09</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-7.68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976959446"/>
                  </a:ext>
                </a:extLst>
              </a:tr>
              <a:tr h="381000">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-1.06%</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5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-1.38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-1.31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471061413"/>
                  </a:ext>
                </a:extLst>
              </a:tr>
              <a:tr h="246063">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t-stat</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-3.10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-4.56</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ctr" defTabSz="914400" rtl="0" eaLnBrk="1" fontAlgn="b" latinLnBrk="0" hangingPunct="1">
                        <a:lnSpc>
                          <a:spcPct val="50000"/>
                        </a:lnSpc>
                        <a:spcBef>
                          <a:spcPct val="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-7.00</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72987073"/>
                  </a:ext>
                </a:extLst>
              </a:tr>
            </a:tbl>
          </a:graphicData>
        </a:graphic>
      </p:graphicFrame>
      <p:sp>
        <p:nvSpPr>
          <p:cNvPr id="126" name="Slide Number Placeholder 3"/>
          <p:cNvSpPr>
            <a:spLocks noGrp="1"/>
          </p:cNvSpPr>
          <p:nvPr>
            <p:ph type="sldNum" sz="quarter" idx="12"/>
          </p:nvPr>
        </p:nvSpPr>
        <p:spPr/>
        <p:txBody>
          <a:bodyPr/>
          <a:lstStyle/>
          <a:p>
            <a:r>
              <a:rPr lang="en-US" altLang="en-US"/>
              <a:t>Ang, Hodrick, Xing and Zhang / </a:t>
            </a:r>
            <a:fld id="{36A9FA9F-BA67-4A36-A4ED-0B546E294DBA}" type="slidenum">
              <a:rPr lang="en-US" altLang="en-US"/>
              <a:pPr/>
              <a:t>30</a:t>
            </a:fld>
            <a:endParaRPr lang="en-US" altLang="en-US"/>
          </a:p>
        </p:txBody>
      </p:sp>
    </p:spTree>
    <p:extLst>
      <p:ext uri="{BB962C8B-B14F-4D97-AF65-F5344CB8AC3E}">
        <p14:creationId xmlns:p14="http://schemas.microsoft.com/office/powerpoint/2010/main" val="1409641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Ang, Hodrick, Xing and Zhang / </a:t>
            </a:r>
            <a:fld id="{E213A4CF-D849-48AC-8C89-CDE725F55CBC}" type="slidenum">
              <a:rPr lang="en-US" altLang="en-US"/>
              <a:pPr/>
              <a:t>31</a:t>
            </a:fld>
            <a:endParaRPr lang="en-US" altLang="en-US"/>
          </a:p>
        </p:txBody>
      </p:sp>
      <p:sp>
        <p:nvSpPr>
          <p:cNvPr id="533506" name="Rectangle 2"/>
          <p:cNvSpPr>
            <a:spLocks noGrp="1" noChangeArrowheads="1"/>
          </p:cNvSpPr>
          <p:nvPr>
            <p:ph type="title"/>
          </p:nvPr>
        </p:nvSpPr>
        <p:spPr>
          <a:ln/>
        </p:spPr>
        <p:txBody>
          <a:bodyPr/>
          <a:lstStyle/>
          <a:p>
            <a:r>
              <a:rPr lang="en-US" altLang="en-US"/>
              <a:t>Possible Explanations</a:t>
            </a:r>
          </a:p>
        </p:txBody>
      </p:sp>
      <p:sp>
        <p:nvSpPr>
          <p:cNvPr id="533507" name="Rectangle 3"/>
          <p:cNvSpPr>
            <a:spLocks noGrp="1" noChangeArrowheads="1"/>
          </p:cNvSpPr>
          <p:nvPr>
            <p:ph type="body" idx="1"/>
          </p:nvPr>
        </p:nvSpPr>
        <p:spPr/>
        <p:txBody>
          <a:bodyPr/>
          <a:lstStyle/>
          <a:p>
            <a:r>
              <a:rPr lang="en-US" altLang="en-US" sz="2000"/>
              <a:t>NYSE vs. Nasdaq stocks</a:t>
            </a:r>
          </a:p>
          <a:p>
            <a:r>
              <a:rPr lang="en-US" altLang="en-US" sz="2000"/>
              <a:t>Size  </a:t>
            </a:r>
          </a:p>
          <a:p>
            <a:r>
              <a:rPr lang="en-US" altLang="en-US" sz="2000"/>
              <a:t>Book to Market</a:t>
            </a:r>
          </a:p>
          <a:p>
            <a:r>
              <a:rPr lang="en-US" altLang="en-US" sz="2000"/>
              <a:t>Leverage</a:t>
            </a:r>
          </a:p>
          <a:p>
            <a:r>
              <a:rPr lang="en-US" altLang="en-US" sz="2000"/>
              <a:t>Liquidity</a:t>
            </a:r>
          </a:p>
          <a:p>
            <a:r>
              <a:rPr lang="en-US" altLang="en-US" sz="2000"/>
              <a:t>Volume</a:t>
            </a:r>
          </a:p>
          <a:p>
            <a:r>
              <a:rPr lang="en-US" altLang="en-US" sz="2000"/>
              <a:t>Turnover</a:t>
            </a:r>
          </a:p>
          <a:p>
            <a:r>
              <a:rPr lang="en-US" altLang="en-US" sz="2000"/>
              <a:t>Bid-Ask Spread</a:t>
            </a:r>
          </a:p>
          <a:p>
            <a:r>
              <a:rPr lang="en-US" altLang="en-US" sz="2000"/>
              <a:t>Dispersion in analyst forecasts</a:t>
            </a:r>
          </a:p>
          <a:p>
            <a:r>
              <a:rPr lang="en-US" altLang="en-US" sz="2000"/>
              <a:t>Momentum</a:t>
            </a:r>
          </a:p>
          <a:p>
            <a:r>
              <a:rPr lang="en-US" altLang="en-US" sz="2000"/>
              <a:t>Risk Premium</a:t>
            </a:r>
          </a:p>
        </p:txBody>
      </p:sp>
    </p:spTree>
    <p:extLst>
      <p:ext uri="{BB962C8B-B14F-4D97-AF65-F5344CB8AC3E}">
        <p14:creationId xmlns:p14="http://schemas.microsoft.com/office/powerpoint/2010/main" val="4063404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1026"/>
          <p:cNvSpPr>
            <a:spLocks noGrp="1" noChangeArrowheads="1"/>
          </p:cNvSpPr>
          <p:nvPr>
            <p:ph type="title"/>
          </p:nvPr>
        </p:nvSpPr>
        <p:spPr>
          <a:ln/>
        </p:spPr>
        <p:txBody>
          <a:bodyPr/>
          <a:lstStyle/>
          <a:p>
            <a:r>
              <a:rPr lang="en-US" altLang="en-US"/>
              <a:t>Robustness</a:t>
            </a:r>
          </a:p>
        </p:txBody>
      </p:sp>
      <p:sp>
        <p:nvSpPr>
          <p:cNvPr id="164" name="Slide Number Placeholder 4"/>
          <p:cNvSpPr>
            <a:spLocks noGrp="1"/>
          </p:cNvSpPr>
          <p:nvPr>
            <p:ph type="sldNum" sz="quarter" idx="12"/>
          </p:nvPr>
        </p:nvSpPr>
        <p:spPr/>
        <p:txBody>
          <a:bodyPr/>
          <a:lstStyle/>
          <a:p>
            <a:r>
              <a:rPr lang="en-US" altLang="en-US"/>
              <a:t>Ang, Hodrick, Xing and Zhang / </a:t>
            </a:r>
            <a:fld id="{3BFDC84E-B47D-4807-8AD7-DAAB7C86ABEF}" type="slidenum">
              <a:rPr lang="en-US" altLang="en-US"/>
              <a:pPr/>
              <a:t>32</a:t>
            </a:fld>
            <a:endParaRPr lang="en-US" altLang="en-US"/>
          </a:p>
        </p:txBody>
      </p:sp>
      <p:pic>
        <p:nvPicPr>
          <p:cNvPr id="2" name="Picture 1"/>
          <p:cNvPicPr>
            <a:picLocks noChangeAspect="1"/>
          </p:cNvPicPr>
          <p:nvPr/>
        </p:nvPicPr>
        <p:blipFill>
          <a:blip r:embed="rId3"/>
          <a:stretch>
            <a:fillRect/>
          </a:stretch>
        </p:blipFill>
        <p:spPr>
          <a:xfrm>
            <a:off x="446314" y="990600"/>
            <a:ext cx="7953375" cy="1257300"/>
          </a:xfrm>
          <a:prstGeom prst="rect">
            <a:avLst/>
          </a:prstGeom>
        </p:spPr>
      </p:pic>
      <p:pic>
        <p:nvPicPr>
          <p:cNvPr id="4" name="Picture 3"/>
          <p:cNvPicPr>
            <a:picLocks noChangeAspect="1"/>
          </p:cNvPicPr>
          <p:nvPr/>
        </p:nvPicPr>
        <p:blipFill>
          <a:blip r:embed="rId4"/>
          <a:stretch>
            <a:fillRect/>
          </a:stretch>
        </p:blipFill>
        <p:spPr>
          <a:xfrm>
            <a:off x="422501" y="2200955"/>
            <a:ext cx="8001000" cy="3705225"/>
          </a:xfrm>
          <a:prstGeom prst="rect">
            <a:avLst/>
          </a:prstGeom>
        </p:spPr>
      </p:pic>
    </p:spTree>
    <p:extLst>
      <p:ext uri="{BB962C8B-B14F-4D97-AF65-F5344CB8AC3E}">
        <p14:creationId xmlns:p14="http://schemas.microsoft.com/office/powerpoint/2010/main" val="25283284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Ang, Hodrick, Xing and Zhang / </a:t>
            </a:r>
            <a:fld id="{E83AC00C-33DD-4B50-B95E-C5100CE03137}" type="slidenum">
              <a:rPr lang="en-US" altLang="en-US"/>
              <a:pPr/>
              <a:t>33</a:t>
            </a:fld>
            <a:endParaRPr lang="en-US" altLang="en-US"/>
          </a:p>
        </p:txBody>
      </p:sp>
      <p:sp>
        <p:nvSpPr>
          <p:cNvPr id="618498" name="Rectangle 2"/>
          <p:cNvSpPr>
            <a:spLocks noGrp="1" noChangeArrowheads="1"/>
          </p:cNvSpPr>
          <p:nvPr>
            <p:ph type="title"/>
          </p:nvPr>
        </p:nvSpPr>
        <p:spPr>
          <a:ln/>
        </p:spPr>
        <p:txBody>
          <a:bodyPr/>
          <a:lstStyle/>
          <a:p>
            <a:r>
              <a:rPr lang="en-US" altLang="en-US"/>
              <a:t>Can We Explain It?</a:t>
            </a:r>
          </a:p>
        </p:txBody>
      </p:sp>
      <p:sp>
        <p:nvSpPr>
          <p:cNvPr id="618499" name="Rectangle 3"/>
          <p:cNvSpPr>
            <a:spLocks noGrp="1" noChangeArrowheads="1"/>
          </p:cNvSpPr>
          <p:nvPr>
            <p:ph type="body" idx="1"/>
          </p:nvPr>
        </p:nvSpPr>
        <p:spPr/>
        <p:txBody>
          <a:bodyPr/>
          <a:lstStyle/>
          <a:p>
            <a:r>
              <a:rPr lang="en-US" altLang="en-US"/>
              <a:t>Behavioral explanations</a:t>
            </a:r>
          </a:p>
          <a:p>
            <a:pPr lvl="1"/>
            <a:r>
              <a:rPr lang="en-US" altLang="en-US"/>
              <a:t>Over/under-reaction?</a:t>
            </a:r>
          </a:p>
          <a:p>
            <a:pPr lvl="2"/>
            <a:r>
              <a:rPr lang="en-US" altLang="en-US"/>
              <a:t>If over/under-reaction, over the long holding period, it will converge back to zero.</a:t>
            </a:r>
          </a:p>
          <a:p>
            <a:pPr lvl="1"/>
            <a:r>
              <a:rPr lang="en-US" altLang="en-US"/>
              <a:t>Short term corporate event?</a:t>
            </a:r>
          </a:p>
          <a:p>
            <a:pPr lvl="2"/>
            <a:r>
              <a:rPr lang="en-US" altLang="en-US"/>
              <a:t>If we increase the forming period, the return spread is not going to be big.</a:t>
            </a:r>
          </a:p>
        </p:txBody>
      </p:sp>
    </p:spTree>
    <p:extLst>
      <p:ext uri="{BB962C8B-B14F-4D97-AF65-F5344CB8AC3E}">
        <p14:creationId xmlns:p14="http://schemas.microsoft.com/office/powerpoint/2010/main" val="3159667189"/>
      </p:ext>
    </p:extLst>
  </p:cSld>
  <p:clrMapOvr>
    <a:masterClrMapping/>
  </p:clrMapOvr>
  <mc:AlternateContent xmlns:mc="http://schemas.openxmlformats.org/markup-compatibility/2006" xmlns:p14="http://schemas.microsoft.com/office/powerpoint/2010/main">
    <mc:Choice Requires="p14">
      <p:transition spd="slow" p14:dur="2000" advTm="26912"/>
    </mc:Choice>
    <mc:Fallback xmlns="">
      <p:transition spd="slow" advTm="26912"/>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438" name="Rectangle 166"/>
          <p:cNvSpPr>
            <a:spLocks noGrp="1" noChangeArrowheads="1"/>
          </p:cNvSpPr>
          <p:nvPr>
            <p:ph type="title"/>
          </p:nvPr>
        </p:nvSpPr>
        <p:spPr>
          <a:ln/>
        </p:spPr>
        <p:txBody>
          <a:bodyPr/>
          <a:lstStyle/>
          <a:p>
            <a:r>
              <a:rPr lang="en-US" altLang="en-US"/>
              <a:t>Fama-French alphas for alternative strategies</a:t>
            </a:r>
          </a:p>
        </p:txBody>
      </p:sp>
      <p:graphicFrame>
        <p:nvGraphicFramePr>
          <p:cNvPr id="566448" name="Group 176"/>
          <p:cNvGraphicFramePr>
            <a:graphicFrameLocks noGrp="1"/>
          </p:cNvGraphicFramePr>
          <p:nvPr>
            <p:ph idx="1"/>
          </p:nvPr>
        </p:nvGraphicFramePr>
        <p:xfrm>
          <a:off x="457200" y="1600200"/>
          <a:ext cx="8229600" cy="3769997"/>
        </p:xfrm>
        <a:graphic>
          <a:graphicData uri="http://schemas.openxmlformats.org/drawingml/2006/table">
            <a:tbl>
              <a:tblPr/>
              <a:tblGrid>
                <a:gridCol w="1314450">
                  <a:extLst>
                    <a:ext uri="{9D8B030D-6E8A-4147-A177-3AD203B41FA5}">
                      <a16:colId xmlns:a16="http://schemas.microsoft.com/office/drawing/2014/main" val="703941715"/>
                    </a:ext>
                  </a:extLst>
                </a:gridCol>
                <a:gridCol w="1075765">
                  <a:extLst>
                    <a:ext uri="{9D8B030D-6E8A-4147-A177-3AD203B41FA5}">
                      <a16:colId xmlns:a16="http://schemas.microsoft.com/office/drawing/2014/main" val="3001571547"/>
                    </a:ext>
                  </a:extLst>
                </a:gridCol>
                <a:gridCol w="1074084">
                  <a:extLst>
                    <a:ext uri="{9D8B030D-6E8A-4147-A177-3AD203B41FA5}">
                      <a16:colId xmlns:a16="http://schemas.microsoft.com/office/drawing/2014/main" val="681646840"/>
                    </a:ext>
                  </a:extLst>
                </a:gridCol>
                <a:gridCol w="1191745">
                  <a:extLst>
                    <a:ext uri="{9D8B030D-6E8A-4147-A177-3AD203B41FA5}">
                      <a16:colId xmlns:a16="http://schemas.microsoft.com/office/drawing/2014/main" val="1925953033"/>
                    </a:ext>
                  </a:extLst>
                </a:gridCol>
                <a:gridCol w="1190065">
                  <a:extLst>
                    <a:ext uri="{9D8B030D-6E8A-4147-A177-3AD203B41FA5}">
                      <a16:colId xmlns:a16="http://schemas.microsoft.com/office/drawing/2014/main" val="3929486009"/>
                    </a:ext>
                  </a:extLst>
                </a:gridCol>
                <a:gridCol w="1191746">
                  <a:extLst>
                    <a:ext uri="{9D8B030D-6E8A-4147-A177-3AD203B41FA5}">
                      <a16:colId xmlns:a16="http://schemas.microsoft.com/office/drawing/2014/main" val="2729431933"/>
                    </a:ext>
                  </a:extLst>
                </a:gridCol>
                <a:gridCol w="1191745">
                  <a:extLst>
                    <a:ext uri="{9D8B030D-6E8A-4147-A177-3AD203B41FA5}">
                      <a16:colId xmlns:a16="http://schemas.microsoft.com/office/drawing/2014/main" val="3767804352"/>
                    </a:ext>
                  </a:extLst>
                </a:gridCol>
              </a:tblGrid>
              <a:tr h="373063">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gridSpan="6">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Rank</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04951343"/>
                  </a:ext>
                </a:extLst>
              </a:tr>
              <a:tr h="373063">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Strategy</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0474815"/>
                  </a:ext>
                </a:extLst>
              </a:tr>
              <a:tr h="473075">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0.06</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0.09</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-0.18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-0.88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2996572044"/>
                  </a:ext>
                </a:extLst>
              </a:tr>
              <a:tr h="304800">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marT="0" marB="0" anchor="b" horzOverflow="overflow">
                    <a:lnL cap="flat">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1.47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marT="0" marB="0"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0.77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marT="0" marB="0"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marT="0" marB="0"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-1.78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marT="0" marB="0"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-4.88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marT="0" marB="0"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-4.63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marT="0" marB="0"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4273611198"/>
                  </a:ext>
                </a:extLst>
              </a:tr>
              <a:tr h="387350">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1/1/12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-0.17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-0.64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-0.67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278238903"/>
                  </a:ext>
                </a:extLst>
              </a:tr>
              <a:tr h="304800">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0.91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0.43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-0.37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-1.79</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-5.27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3803074792"/>
                  </a:ext>
                </a:extLst>
              </a:tr>
              <a:tr h="304800">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12/1/1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-0.29</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028034773"/>
                  </a:ext>
                </a:extLst>
              </a:tr>
              <a:tr h="381000">
                <a:tc>
                  <a:txBody>
                    <a:bodyPr/>
                    <a:lstStyle>
                      <a:lvl1pPr>
                        <a:defRPr sz="2000">
                          <a:solidFill>
                            <a:srgbClr val="000099"/>
                          </a:solidFill>
                          <a:latin typeface="Times New Roman" panose="02020603050405020304" pitchFamily="18" charset="0"/>
                        </a:defRPr>
                      </a:lvl1pPr>
                      <a:lvl2pPr>
                        <a:defRPr sz="2000">
                          <a:solidFill>
                            <a:srgbClr val="000099"/>
                          </a:solidFill>
                          <a:latin typeface="Times New Roman" panose="02020603050405020304" pitchFamily="18" charset="0"/>
                        </a:defRPr>
                      </a:lvl2pPr>
                      <a:lvl3pPr>
                        <a:buSzPct val="70000"/>
                        <a:buFont typeface="Wingdings" panose="05000000000000000000" pitchFamily="2" charset="2"/>
                        <a:defRPr sz="2000">
                          <a:solidFill>
                            <a:srgbClr val="000099"/>
                          </a:solidFill>
                          <a:latin typeface="Times New Roman" panose="02020603050405020304" pitchFamily="18" charset="0"/>
                        </a:defRPr>
                      </a:lvl3pPr>
                      <a:lvl4pPr>
                        <a:defRPr sz="2000">
                          <a:solidFill>
                            <a:srgbClr val="000099"/>
                          </a:solidFill>
                          <a:latin typeface="Times New Roman" panose="02020603050405020304" pitchFamily="18" charset="0"/>
                        </a:defRPr>
                      </a:lvl4pPr>
                      <a:lvl5pPr>
                        <a:defRPr sz="2000">
                          <a:solidFill>
                            <a:srgbClr val="000099"/>
                          </a:solidFill>
                          <a:latin typeface="Times New Roman" panose="02020603050405020304" pitchFamily="18" charset="0"/>
                        </a:defRPr>
                      </a:lvl5pPr>
                      <a:lvl6pPr fontAlgn="base">
                        <a:spcBef>
                          <a:spcPct val="20000"/>
                        </a:spcBef>
                        <a:spcAft>
                          <a:spcPct val="0"/>
                        </a:spcAft>
                        <a:defRPr sz="2000">
                          <a:solidFill>
                            <a:srgbClr val="000099"/>
                          </a:solidFill>
                          <a:latin typeface="Times New Roman" panose="02020603050405020304" pitchFamily="18" charset="0"/>
                        </a:defRPr>
                      </a:lvl6pPr>
                      <a:lvl7pPr fontAlgn="base">
                        <a:spcBef>
                          <a:spcPct val="20000"/>
                        </a:spcBef>
                        <a:spcAft>
                          <a:spcPct val="0"/>
                        </a:spcAft>
                        <a:defRPr sz="2000">
                          <a:solidFill>
                            <a:srgbClr val="000099"/>
                          </a:solidFill>
                          <a:latin typeface="Times New Roman" panose="02020603050405020304" pitchFamily="18" charset="0"/>
                        </a:defRPr>
                      </a:lvl7pPr>
                      <a:lvl8pPr fontAlgn="base">
                        <a:spcBef>
                          <a:spcPct val="20000"/>
                        </a:spcBef>
                        <a:spcAft>
                          <a:spcPct val="0"/>
                        </a:spcAft>
                        <a:defRPr sz="2000">
                          <a:solidFill>
                            <a:srgbClr val="000099"/>
                          </a:solidFill>
                          <a:latin typeface="Times New Roman" panose="02020603050405020304" pitchFamily="18" charset="0"/>
                        </a:defRPr>
                      </a:lvl8pPr>
                      <a:lvl9pPr fontAlgn="base">
                        <a:spcBef>
                          <a:spcPct val="20000"/>
                        </a:spcBef>
                        <a:spcAft>
                          <a:spcPct val="0"/>
                        </a:spcAft>
                        <a:defRPr sz="2000">
                          <a:solidFill>
                            <a:srgbClr val="000099"/>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99"/>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1.32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-5.36</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-5.13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3188258189"/>
                  </a:ext>
                </a:extLst>
              </a:tr>
              <a:tr h="373063">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12/1/12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-0.02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-0.35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-0.73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a:noFill/>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-0.77</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922484902"/>
                  </a:ext>
                </a:extLst>
              </a:tr>
              <a:tr h="373063">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0.54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-0.23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-2.8</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000">
                          <a:solidFill>
                            <a:srgbClr val="000099"/>
                          </a:solidFill>
                          <a:latin typeface="Times New Roman" panose="02020603050405020304" pitchFamily="18" charset="0"/>
                        </a:defRPr>
                      </a:lvl1pPr>
                      <a:lvl2pPr marL="742950" indent="-285750">
                        <a:defRPr sz="2000">
                          <a:solidFill>
                            <a:srgbClr val="000099"/>
                          </a:solidFill>
                          <a:latin typeface="Times New Roman" panose="02020603050405020304" pitchFamily="18" charset="0"/>
                        </a:defRPr>
                      </a:lvl2pPr>
                      <a:lvl3pPr marL="1143000" indent="-228600">
                        <a:buSzPct val="70000"/>
                        <a:buFont typeface="Wingdings" panose="05000000000000000000" pitchFamily="2" charset="2"/>
                        <a:defRPr sz="2000">
                          <a:solidFill>
                            <a:srgbClr val="000099"/>
                          </a:solidFill>
                          <a:latin typeface="Times New Roman" panose="02020603050405020304" pitchFamily="18" charset="0"/>
                        </a:defRPr>
                      </a:lvl3pPr>
                      <a:lvl4pPr marL="1600200" indent="-228600">
                        <a:defRPr sz="2000">
                          <a:solidFill>
                            <a:srgbClr val="000099"/>
                          </a:solidFill>
                          <a:latin typeface="Times New Roman" panose="02020603050405020304" pitchFamily="18" charset="0"/>
                        </a:defRPr>
                      </a:lvl4pPr>
                      <a:lvl5pPr marL="2057400" indent="-228600">
                        <a:defRPr sz="2000">
                          <a:solidFill>
                            <a:srgbClr val="000099"/>
                          </a:solidFill>
                          <a:latin typeface="Times New Roman" panose="02020603050405020304" pitchFamily="18" charset="0"/>
                        </a:defRPr>
                      </a:lvl5pPr>
                      <a:lvl6pPr marL="2514600" indent="-228600" fontAlgn="base">
                        <a:spcBef>
                          <a:spcPct val="20000"/>
                        </a:spcBef>
                        <a:spcAft>
                          <a:spcPct val="0"/>
                        </a:spcAft>
                        <a:defRPr sz="2000">
                          <a:solidFill>
                            <a:srgbClr val="000099"/>
                          </a:solidFill>
                          <a:latin typeface="Times New Roman" panose="02020603050405020304" pitchFamily="18" charset="0"/>
                        </a:defRPr>
                      </a:lvl6pPr>
                      <a:lvl7pPr marL="2971800" indent="-228600" fontAlgn="base">
                        <a:spcBef>
                          <a:spcPct val="20000"/>
                        </a:spcBef>
                        <a:spcAft>
                          <a:spcPct val="0"/>
                        </a:spcAft>
                        <a:defRPr sz="2000">
                          <a:solidFill>
                            <a:srgbClr val="000099"/>
                          </a:solidFill>
                          <a:latin typeface="Times New Roman" panose="02020603050405020304" pitchFamily="18" charset="0"/>
                        </a:defRPr>
                      </a:lvl7pPr>
                      <a:lvl8pPr marL="3429000" indent="-228600" fontAlgn="base">
                        <a:spcBef>
                          <a:spcPct val="20000"/>
                        </a:spcBef>
                        <a:spcAft>
                          <a:spcPct val="0"/>
                        </a:spcAft>
                        <a:defRPr sz="2000">
                          <a:solidFill>
                            <a:srgbClr val="000099"/>
                          </a:solidFill>
                          <a:latin typeface="Times New Roman" panose="02020603050405020304" pitchFamily="18" charset="0"/>
                        </a:defRPr>
                      </a:lvl8pPr>
                      <a:lvl9pPr marL="3886200" indent="-228600" fontAlgn="base">
                        <a:spcBef>
                          <a:spcPct val="20000"/>
                        </a:spcBef>
                        <a:spcAft>
                          <a:spcPct val="0"/>
                        </a:spcAft>
                        <a:defRPr sz="2000">
                          <a:solidFill>
                            <a:srgbClr val="000099"/>
                          </a:solidFill>
                          <a:latin typeface="Times New Roman" panose="02020603050405020304" pitchFamily="18"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-4.34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L="96819" marR="96819"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8406391"/>
                  </a:ext>
                </a:extLst>
              </a:tr>
            </a:tbl>
          </a:graphicData>
        </a:graphic>
      </p:graphicFrame>
      <p:sp>
        <p:nvSpPr>
          <p:cNvPr id="74" name="Slide Number Placeholder 3"/>
          <p:cNvSpPr>
            <a:spLocks noGrp="1"/>
          </p:cNvSpPr>
          <p:nvPr>
            <p:ph type="sldNum" sz="quarter" idx="12"/>
          </p:nvPr>
        </p:nvSpPr>
        <p:spPr/>
        <p:txBody>
          <a:bodyPr/>
          <a:lstStyle/>
          <a:p>
            <a:r>
              <a:rPr lang="en-US" altLang="en-US"/>
              <a:t>Ang, Hodrick, Xing and Zhang / </a:t>
            </a:r>
            <a:fld id="{1E0BEB08-2538-4312-86E3-43E3DE7FA681}" type="slidenum">
              <a:rPr lang="en-US" altLang="en-US"/>
              <a:pPr/>
              <a:t>34</a:t>
            </a:fld>
            <a:endParaRPr lang="en-US" altLang="en-US"/>
          </a:p>
        </p:txBody>
      </p:sp>
    </p:spTree>
    <p:extLst>
      <p:ext uri="{BB962C8B-B14F-4D97-AF65-F5344CB8AC3E}">
        <p14:creationId xmlns:p14="http://schemas.microsoft.com/office/powerpoint/2010/main" val="3313703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Ang, Hodrick, Xing and Zhang / </a:t>
            </a:r>
            <a:fld id="{3CC26617-2C78-4D8C-9274-A7C1591FA765}" type="slidenum">
              <a:rPr lang="en-US" altLang="en-US"/>
              <a:pPr/>
              <a:t>35</a:t>
            </a:fld>
            <a:endParaRPr lang="en-US" altLang="en-US"/>
          </a:p>
        </p:txBody>
      </p:sp>
      <p:sp>
        <p:nvSpPr>
          <p:cNvPr id="620546" name="Rectangle 2"/>
          <p:cNvSpPr>
            <a:spLocks noGrp="1" noChangeArrowheads="1"/>
          </p:cNvSpPr>
          <p:nvPr>
            <p:ph type="title"/>
          </p:nvPr>
        </p:nvSpPr>
        <p:spPr>
          <a:ln/>
        </p:spPr>
        <p:txBody>
          <a:bodyPr/>
          <a:lstStyle/>
          <a:p>
            <a:r>
              <a:rPr lang="en-US" altLang="en-US"/>
              <a:t>Can We Explain It?</a:t>
            </a:r>
          </a:p>
        </p:txBody>
      </p:sp>
      <p:sp>
        <p:nvSpPr>
          <p:cNvPr id="620547" name="Rectangle 3"/>
          <p:cNvSpPr>
            <a:spLocks noGrp="1" noChangeArrowheads="1"/>
          </p:cNvSpPr>
          <p:nvPr>
            <p:ph type="body" idx="1"/>
          </p:nvPr>
        </p:nvSpPr>
        <p:spPr/>
        <p:txBody>
          <a:bodyPr/>
          <a:lstStyle/>
          <a:p>
            <a:r>
              <a:rPr lang="en-US" altLang="en-US"/>
              <a:t>Business cycles</a:t>
            </a:r>
          </a:p>
          <a:p>
            <a:pPr lvl="1"/>
            <a:r>
              <a:rPr lang="en-US" altLang="en-US"/>
              <a:t>Bull and bear markets?</a:t>
            </a:r>
          </a:p>
          <a:p>
            <a:pPr lvl="1"/>
            <a:r>
              <a:rPr lang="en-US" altLang="en-US"/>
              <a:t>Recessions and expansions?</a:t>
            </a:r>
          </a:p>
          <a:p>
            <a:pPr lvl="1"/>
            <a:r>
              <a:rPr lang="en-US" altLang="en-US"/>
              <a:t>Extremely volatile periods?</a:t>
            </a:r>
          </a:p>
          <a:p>
            <a:endParaRPr lang="en-US" altLang="en-US"/>
          </a:p>
          <a:p>
            <a:r>
              <a:rPr lang="en-US" altLang="en-US"/>
              <a:t>It remains a puzzle to us.</a:t>
            </a:r>
          </a:p>
        </p:txBody>
      </p:sp>
    </p:spTree>
    <p:extLst>
      <p:ext uri="{BB962C8B-B14F-4D97-AF65-F5344CB8AC3E}">
        <p14:creationId xmlns:p14="http://schemas.microsoft.com/office/powerpoint/2010/main" val="2827259198"/>
      </p:ext>
    </p:extLst>
  </p:cSld>
  <p:clrMapOvr>
    <a:masterClrMapping/>
  </p:clrMapOvr>
  <mc:AlternateContent xmlns:mc="http://schemas.openxmlformats.org/markup-compatibility/2006" xmlns:p14="http://schemas.microsoft.com/office/powerpoint/2010/main">
    <mc:Choice Requires="p14">
      <p:transition spd="slow" p14:dur="2000" advTm="19312"/>
    </mc:Choice>
    <mc:Fallback xmlns="">
      <p:transition spd="slow" advTm="19312"/>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a:ln/>
        </p:spPr>
        <p:txBody>
          <a:bodyPr/>
          <a:lstStyle/>
          <a:p>
            <a:r>
              <a:rPr lang="en-US" altLang="en-US"/>
              <a:t>Conclusion</a:t>
            </a:r>
          </a:p>
        </p:txBody>
      </p:sp>
      <p:sp>
        <p:nvSpPr>
          <p:cNvPr id="5" name="Content Placeholder 4"/>
          <p:cNvSpPr>
            <a:spLocks noGrp="1"/>
          </p:cNvSpPr>
          <p:nvPr>
            <p:ph idx="1"/>
          </p:nvPr>
        </p:nvSpPr>
        <p:spPr>
          <a:xfrm>
            <a:off x="489408" y="1514475"/>
            <a:ext cx="8229600" cy="4530725"/>
          </a:xfrm>
        </p:spPr>
        <p:txBody>
          <a:bodyPr/>
          <a:lstStyle/>
          <a:p>
            <a:pPr>
              <a:buSzPct val="100000"/>
              <a:buFont typeface="Wingdings" panose="05000000000000000000" pitchFamily="2" charset="2"/>
              <a:buChar char="§"/>
            </a:pPr>
            <a:r>
              <a:rPr lang="en-US" altLang="en-US" dirty="0"/>
              <a:t>Aggregate volatility and expected returns</a:t>
            </a:r>
          </a:p>
          <a:p>
            <a:pPr lvl="1"/>
            <a:r>
              <a:rPr lang="en-US" altLang="en-US" dirty="0"/>
              <a:t>Theoretically, stochastic market volatility is a risk factor and should affect the cross-section of expected returns.</a:t>
            </a:r>
          </a:p>
          <a:p>
            <a:pPr lvl="1"/>
            <a:r>
              <a:rPr lang="en-US" altLang="en-US" dirty="0"/>
              <a:t>The portfolio with high sensitivity to aggregate volatility underperforms the low sensitivity portfolio by 1.04% per month.</a:t>
            </a:r>
          </a:p>
          <a:p>
            <a:pPr lvl="1"/>
            <a:r>
              <a:rPr lang="en-US" altLang="en-US" dirty="0"/>
              <a:t>The price of volatility risk is significantly negative.</a:t>
            </a:r>
          </a:p>
          <a:p>
            <a:pPr>
              <a:buSzPct val="100000"/>
              <a:buFont typeface="Wingdings" panose="05000000000000000000" pitchFamily="2" charset="2"/>
              <a:buChar char="§"/>
            </a:pPr>
            <a:r>
              <a:rPr lang="en-US" altLang="en-US" dirty="0"/>
              <a:t>Idiosyncratic volatility and expected returns</a:t>
            </a:r>
          </a:p>
          <a:p>
            <a:pPr lvl="1"/>
            <a:r>
              <a:rPr lang="en-US" altLang="en-US" dirty="0"/>
              <a:t>The highest idiosyncratic volatility portfolio underperforms the lowest idiosyncratic volatility portfolio by 1.06% per month.</a:t>
            </a:r>
          </a:p>
          <a:p>
            <a:pPr lvl="1"/>
            <a:r>
              <a:rPr lang="en-US" altLang="en-US" dirty="0"/>
              <a:t>Exposure to aggregate volatility risk is not the explanation.</a:t>
            </a:r>
            <a:endParaRPr lang="en-US" altLang="en-US" sz="1800" dirty="0"/>
          </a:p>
          <a:p>
            <a:pPr lvl="1"/>
            <a:r>
              <a:rPr lang="en-US" altLang="en-US" dirty="0"/>
              <a:t>Other existing risk and behavioral explanations fail to explain the spread, and it remains a puzzle to us.</a:t>
            </a:r>
          </a:p>
        </p:txBody>
      </p:sp>
    </p:spTree>
    <p:extLst>
      <p:ext uri="{BB962C8B-B14F-4D97-AF65-F5344CB8AC3E}">
        <p14:creationId xmlns:p14="http://schemas.microsoft.com/office/powerpoint/2010/main" val="16541724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Does Institutional Ownership Matter for International Stock Return Comovement?&amp;#x0D;&amp;#x0A;&amp;#x0D;&amp;#x0A;Faias, Ferreira, Matos and Santa-Cl&quot;/&gt;&lt;property id=&quot;20307&quot; value=&quot;256&quot;/&gt;&lt;/object&gt;&lt;object type=&quot;3&quot; unique_id=&quot;10005&quot;&gt;&lt;property id=&quot;20148&quot; value=&quot;5&quot;/&gt;&lt;property id=&quot;20300&quot; value=&quot;Slide 2 - &amp;quot;What’s the paper about?&amp;quot;&quot;/&gt;&lt;property id=&quot;20307&quot; value=&quot;510&quot;/&gt;&lt;/object&gt;&lt;object type=&quot;3&quot; unique_id=&quot;10006&quot;&gt;&lt;property id=&quot;20148&quot; value=&quot;5&quot;/&gt;&lt;property id=&quot;20300&quot; value=&quot;Slide 3 - &amp;quot;Empirical Design with Details&amp;quot;&quot;/&gt;&lt;property id=&quot;20307&quot; value=&quot;525&quot;/&gt;&lt;/object&gt;&lt;object type=&quot;3&quot; unique_id=&quot;10898&quot;&gt;&lt;property id=&quot;20148&quot; value=&quot;5&quot;/&gt;&lt;property id=&quot;20300&quot; value=&quot;Slide 6 - &amp;quot;Comments on Variance Decomposition&amp;quot;&quot;/&gt;&lt;property id=&quot;20307&quot; value=&quot;586&quot;/&gt;&lt;/object&gt;&lt;object type=&quot;3&quot; unique_id=&quot;10899&quot;&gt;&lt;property id=&quot;20148&quot; value=&quot;5&quot;/&gt;&lt;property id=&quot;20300&quot; value=&quot;Slide 7 - &amp;quot;Comments on Country vs. Industry&amp;quot;&quot;/&gt;&lt;property id=&quot;20307&quot; value=&quot;587&quot;/&gt;&lt;/object&gt;&lt;object type=&quot;3&quot; unique_id=&quot;10918&quot;&gt;&lt;property id=&quot;20148&quot; value=&quot;5&quot;/&gt;&lt;property id=&quot;20300&quot; value=&quot;Slide 4 - &amp;quot;Comments on The Return Process&amp;quot;&quot;/&gt;&lt;property id=&quot;20307&quot; value=&quot;588&quot;/&gt;&lt;/object&gt;&lt;object type=&quot;3&quot; unique_id=&quot;10919&quot;&gt;&lt;property id=&quot;20148&quot; value=&quot;5&quot;/&gt;&lt;property id=&quot;20300&quot; value=&quot;Slide 5 - &amp;quot;Comments on The Return Process&amp;quot;&quot;/&gt;&lt;property id=&quot;20307&quot; value=&quot;589&quot;/&gt;&lt;/object&gt;&lt;/object&gt;&lt;/object&gt;&lt;/database&gt;"/>
  <p:tag name="SECTOMILLISECCONVERTED" val="1"/>
</p:tagLst>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12700" cap="sq"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16268</TotalTime>
  <Words>3738</Words>
  <Application>Microsoft Office PowerPoint</Application>
  <PresentationFormat>全屏显示(4:3)</PresentationFormat>
  <Paragraphs>529</Paragraphs>
  <Slides>36</Slides>
  <Notes>26</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36</vt:i4>
      </vt:variant>
    </vt:vector>
  </HeadingPairs>
  <TitlesOfParts>
    <vt:vector size="48" baseType="lpstr">
      <vt:lpstr>TimesNewRomanPSMT</vt:lpstr>
      <vt:lpstr>等线</vt:lpstr>
      <vt:lpstr>等线 Light</vt:lpstr>
      <vt:lpstr>楷体</vt:lpstr>
      <vt:lpstr>Arial</vt:lpstr>
      <vt:lpstr>Garamond</vt:lpstr>
      <vt:lpstr>Palatino Linotype</vt:lpstr>
      <vt:lpstr>Times New Roman</vt:lpstr>
      <vt:lpstr>Wingdings</vt:lpstr>
      <vt:lpstr>Edge</vt:lpstr>
      <vt:lpstr>Office 主题​​</vt:lpstr>
      <vt:lpstr>Equation</vt:lpstr>
      <vt:lpstr>实证资产定价:Volatility</vt:lpstr>
      <vt:lpstr>The Cross-Section of Volatility and  Expected Returns  JF2006</vt:lpstr>
      <vt:lpstr>作者</vt:lpstr>
      <vt:lpstr>作者：Andrew Ang</vt:lpstr>
      <vt:lpstr>作者： Andrew Ang</vt:lpstr>
      <vt:lpstr>作者：Robert Hodrick</vt:lpstr>
      <vt:lpstr>作者： Robert Hodrick</vt:lpstr>
      <vt:lpstr>作者：Yuhang Xing</vt:lpstr>
      <vt:lpstr>作者： Yuhang Xing</vt:lpstr>
      <vt:lpstr>作者：Xiaoyan Zhang</vt:lpstr>
      <vt:lpstr>作者：Xiaoyan Zhang</vt:lpstr>
      <vt:lpstr>出版细节</vt:lpstr>
      <vt:lpstr>Motivation</vt:lpstr>
      <vt:lpstr>AggVol: Theoretical Predictions</vt:lpstr>
      <vt:lpstr>Pricing Implications</vt:lpstr>
      <vt:lpstr>Pricing Implications</vt:lpstr>
      <vt:lpstr>Aggregate Volatility: VIX</vt:lpstr>
      <vt:lpstr>Empirical Framework</vt:lpstr>
      <vt:lpstr>Cross-Section Implications</vt:lpstr>
      <vt:lpstr>Portfolios sorted on </vt:lpstr>
      <vt:lpstr>Tracking Portfolios</vt:lpstr>
      <vt:lpstr>PowerPoint 演示文稿</vt:lpstr>
      <vt:lpstr>Loadings</vt:lpstr>
      <vt:lpstr>PowerPoint 演示文稿</vt:lpstr>
      <vt:lpstr>Tradable Volatility Portfolio</vt:lpstr>
      <vt:lpstr>Volatility Risk Price: Fama-MacBeth Estimation</vt:lpstr>
      <vt:lpstr>Fama-MacBeth Factor Premiums</vt:lpstr>
      <vt:lpstr>Idiosyncratic Volatility</vt:lpstr>
      <vt:lpstr>Estimate Idiosyncratic Volatility</vt:lpstr>
      <vt:lpstr>Idiosyncratic Volatility Sorted Portfolios</vt:lpstr>
      <vt:lpstr>Possible Explanations</vt:lpstr>
      <vt:lpstr>Robustness</vt:lpstr>
      <vt:lpstr>Can We Explain It?</vt:lpstr>
      <vt:lpstr>Fama-French alphas for alternative strategies</vt:lpstr>
      <vt:lpstr>Can We Explain It?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shorts are informed?</dc:title>
  <dc:creator>Charles Jones</dc:creator>
  <cp:lastModifiedBy>Xinran Zhang</cp:lastModifiedBy>
  <cp:revision>687</cp:revision>
  <cp:lastPrinted>2021-02-24T04:19:35Z</cp:lastPrinted>
  <dcterms:created xsi:type="dcterms:W3CDTF">2004-04-12T07:19:58Z</dcterms:created>
  <dcterms:modified xsi:type="dcterms:W3CDTF">2023-11-15T14:58:34Z</dcterms:modified>
</cp:coreProperties>
</file>